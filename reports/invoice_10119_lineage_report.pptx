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481328"/>
            <a:ext cx="9144000" cy="274320"/>
          </a:xfrm>
          <a:prstGeom prst="rect">
            <a:avLst/>
          </a:prstGeom>
          <a:noFill/>
        </p:spPr>
        <p:txBody>
          <a:bodyPr wrap="square" lIns="0" rIns="0" tIns="0" bIns="0" anchor="t">
            <a:spAutoFit/>
          </a:bodyPr>
          <a:lstStyle/>
          <a:p>
            <a:pPr algn="l">
              <a:lnSpc>
                <a:spcPct val="100000"/>
              </a:lnSpc>
            </a:pPr>
            <a:r>
              <a:rPr sz="1200" b="1" i="0">
                <a:solidFill>
                  <a:srgbClr val="F08A63"/>
                </a:solidFill>
                <a:latin typeface="Segoe UI"/>
              </a:rPr>
              <a:t>DOCUMENT LINEAGE REPORT</a:t>
            </a:r>
          </a:p>
        </p:txBody>
      </p:sp>
      <p:sp>
        <p:nvSpPr>
          <p:cNvPr id="5" name="TextBox 4"/>
          <p:cNvSpPr txBox="1"/>
          <p:nvPr/>
        </p:nvSpPr>
        <p:spPr>
          <a:xfrm>
            <a:off x="960120" y="1847088"/>
            <a:ext cx="10058400" cy="868680"/>
          </a:xfrm>
          <a:prstGeom prst="rect">
            <a:avLst/>
          </a:prstGeom>
          <a:noFill/>
        </p:spPr>
        <p:txBody>
          <a:bodyPr wrap="square" lIns="0" rIns="0" tIns="0" bIns="0" anchor="t">
            <a:spAutoFit/>
          </a:bodyPr>
          <a:lstStyle/>
          <a:p>
            <a:pPr algn="l">
              <a:lnSpc>
                <a:spcPct val="100000"/>
              </a:lnSpc>
            </a:pPr>
            <a:r>
              <a:rPr sz="4600" b="1" i="0">
                <a:solidFill>
                  <a:srgbClr val="FFFFFF"/>
                </a:solidFill>
                <a:latin typeface="Segoe UI"/>
              </a:rPr>
              <a:t>invoice_10119.pdf</a:t>
            </a:r>
          </a:p>
        </p:txBody>
      </p:sp>
      <p:sp>
        <p:nvSpPr>
          <p:cNvPr id="6" name="TextBox 5"/>
          <p:cNvSpPr txBox="1"/>
          <p:nvPr/>
        </p:nvSpPr>
        <p:spPr>
          <a:xfrm>
            <a:off x="960120" y="2880360"/>
            <a:ext cx="8778240" cy="822960"/>
          </a:xfrm>
          <a:prstGeom prst="rect">
            <a:avLst/>
          </a:prstGeom>
          <a:noFill/>
        </p:spPr>
        <p:txBody>
          <a:bodyPr wrap="square" lIns="0" rIns="0" tIns="0" bIns="0" anchor="t">
            <a:spAutoFit/>
          </a:bodyPr>
          <a:lstStyle/>
          <a:p>
            <a:pPr algn="l">
              <a:lnSpc>
                <a:spcPct val="125000"/>
              </a:lnSpc>
            </a:pPr>
            <a:r>
              <a:rPr sz="1550" b="0" i="0">
                <a:solidFill>
                  <a:srgbClr val="B6C4D6"/>
                </a:solidFill>
                <a:latin typeface="Segoe UI"/>
              </a:rPr>
              <a:t>End-to-end trace of one PDF through every table in the</a:t>
            </a:r>
          </a:p>
          <a:p>
            <a:pPr algn="l">
              <a:lnSpc>
                <a:spcPct val="125000"/>
              </a:lnSpc>
            </a:pPr>
            <a:r>
              <a:rPr sz="1550" b="0" i="0">
                <a:solidFill>
                  <a:srgbClr val="B6C4D6"/>
                </a:solidFill>
                <a:latin typeface="Segoe UI"/>
              </a:rPr>
              <a:t>idp_test_dev Intelligent Document Processing pipeline</a:t>
            </a:r>
          </a:p>
        </p:txBody>
      </p:sp>
      <p:sp>
        <p:nvSpPr>
          <p:cNvPr id="7" name="Rectangle 6"/>
          <p:cNvSpPr/>
          <p:nvPr/>
        </p:nvSpPr>
        <p:spPr>
          <a:xfrm>
            <a:off x="960120" y="3913632"/>
            <a:ext cx="2834640" cy="27432"/>
          </a:xfrm>
          <a:prstGeom prst="rect">
            <a:avLst/>
          </a:prstGeom>
          <a:solidFill>
            <a:srgbClr val="3A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160520"/>
            <a:ext cx="2651760" cy="219456"/>
          </a:xfrm>
          <a:prstGeom prst="rect">
            <a:avLst/>
          </a:prstGeom>
          <a:noFill/>
        </p:spPr>
        <p:txBody>
          <a:bodyPr wrap="square" lIns="0" rIns="0" tIns="0" bIns="0" anchor="t">
            <a:spAutoFit/>
          </a:bodyPr>
          <a:lstStyle/>
          <a:p>
            <a:pPr algn="l">
              <a:lnSpc>
                <a:spcPct val="100000"/>
              </a:lnSpc>
            </a:pPr>
            <a:r>
              <a:rPr sz="1050" b="0" i="0">
                <a:solidFill>
                  <a:srgbClr val="8B9CB2"/>
                </a:solidFill>
                <a:latin typeface="Segoe UI"/>
              </a:rPr>
              <a:t>Catalog / schema</a:t>
            </a:r>
          </a:p>
        </p:txBody>
      </p:sp>
      <p:sp>
        <p:nvSpPr>
          <p:cNvPr id="9" name="TextBox 8"/>
          <p:cNvSpPr txBox="1"/>
          <p:nvPr/>
        </p:nvSpPr>
        <p:spPr>
          <a:xfrm>
            <a:off x="3703320" y="4160520"/>
            <a:ext cx="6858000" cy="219456"/>
          </a:xfrm>
          <a:prstGeom prst="rect">
            <a:avLst/>
          </a:prstGeom>
          <a:noFill/>
        </p:spPr>
        <p:txBody>
          <a:bodyPr wrap="square" lIns="0" rIns="0" tIns="0" bIns="0" anchor="t">
            <a:spAutoFit/>
          </a:bodyPr>
          <a:lstStyle/>
          <a:p>
            <a:pPr algn="l">
              <a:lnSpc>
                <a:spcPct val="100000"/>
              </a:lnSpc>
            </a:pPr>
            <a:r>
              <a:rPr sz="1050" b="1" i="0">
                <a:solidFill>
                  <a:srgbClr val="FFFFFF"/>
                </a:solidFill>
                <a:latin typeface="Segoe UI"/>
              </a:rPr>
              <a:t>idp_test_dev.idp_test_project</a:t>
            </a:r>
          </a:p>
        </p:txBody>
      </p:sp>
      <p:sp>
        <p:nvSpPr>
          <p:cNvPr id="10" name="TextBox 9"/>
          <p:cNvSpPr txBox="1"/>
          <p:nvPr/>
        </p:nvSpPr>
        <p:spPr>
          <a:xfrm>
            <a:off x="960120" y="4466844"/>
            <a:ext cx="2651760" cy="219456"/>
          </a:xfrm>
          <a:prstGeom prst="rect">
            <a:avLst/>
          </a:prstGeom>
          <a:noFill/>
        </p:spPr>
        <p:txBody>
          <a:bodyPr wrap="square" lIns="0" rIns="0" tIns="0" bIns="0" anchor="t">
            <a:spAutoFit/>
          </a:bodyPr>
          <a:lstStyle/>
          <a:p>
            <a:pPr algn="l">
              <a:lnSpc>
                <a:spcPct val="100000"/>
              </a:lnSpc>
            </a:pPr>
            <a:r>
              <a:rPr sz="1050" b="0" i="0">
                <a:solidFill>
                  <a:srgbClr val="8B9CB2"/>
                </a:solidFill>
                <a:latin typeface="Segoe UI"/>
              </a:rPr>
              <a:t>Volume</a:t>
            </a:r>
          </a:p>
        </p:txBody>
      </p:sp>
      <p:sp>
        <p:nvSpPr>
          <p:cNvPr id="11" name="TextBox 10"/>
          <p:cNvSpPr txBox="1"/>
          <p:nvPr/>
        </p:nvSpPr>
        <p:spPr>
          <a:xfrm>
            <a:off x="3703320" y="4466844"/>
            <a:ext cx="6858000" cy="219456"/>
          </a:xfrm>
          <a:prstGeom prst="rect">
            <a:avLst/>
          </a:prstGeom>
          <a:noFill/>
        </p:spPr>
        <p:txBody>
          <a:bodyPr wrap="square" lIns="0" rIns="0" tIns="0" bIns="0" anchor="t">
            <a:spAutoFit/>
          </a:bodyPr>
          <a:lstStyle/>
          <a:p>
            <a:pPr algn="l">
              <a:lnSpc>
                <a:spcPct val="100000"/>
              </a:lnSpc>
            </a:pPr>
            <a:r>
              <a:rPr sz="1050" b="1" i="0">
                <a:solidFill>
                  <a:srgbClr val="FFFFFF"/>
                </a:solidFill>
                <a:latin typeface="Segoe UI"/>
              </a:rPr>
              <a:t>raw_documents/incoming</a:t>
            </a:r>
          </a:p>
        </p:txBody>
      </p:sp>
      <p:sp>
        <p:nvSpPr>
          <p:cNvPr id="12" name="TextBox 11"/>
          <p:cNvSpPr txBox="1"/>
          <p:nvPr/>
        </p:nvSpPr>
        <p:spPr>
          <a:xfrm>
            <a:off x="960120" y="4773168"/>
            <a:ext cx="2651760" cy="219456"/>
          </a:xfrm>
          <a:prstGeom prst="rect">
            <a:avLst/>
          </a:prstGeom>
          <a:noFill/>
        </p:spPr>
        <p:txBody>
          <a:bodyPr wrap="square" lIns="0" rIns="0" tIns="0" bIns="0" anchor="t">
            <a:spAutoFit/>
          </a:bodyPr>
          <a:lstStyle/>
          <a:p>
            <a:pPr algn="l">
              <a:lnSpc>
                <a:spcPct val="100000"/>
              </a:lnSpc>
            </a:pPr>
            <a:r>
              <a:rPr sz="1050" b="0" i="0">
                <a:solidFill>
                  <a:srgbClr val="8B9CB2"/>
                </a:solidFill>
                <a:latin typeface="Segoe UI"/>
              </a:rPr>
              <a:t>Document ID (SHA-256)</a:t>
            </a:r>
          </a:p>
        </p:txBody>
      </p:sp>
      <p:sp>
        <p:nvSpPr>
          <p:cNvPr id="13" name="TextBox 12"/>
          <p:cNvSpPr txBox="1"/>
          <p:nvPr/>
        </p:nvSpPr>
        <p:spPr>
          <a:xfrm>
            <a:off x="3703320" y="4773168"/>
            <a:ext cx="6858000" cy="219456"/>
          </a:xfrm>
          <a:prstGeom prst="rect">
            <a:avLst/>
          </a:prstGeom>
          <a:noFill/>
        </p:spPr>
        <p:txBody>
          <a:bodyPr wrap="square" lIns="0" rIns="0" tIns="0" bIns="0" anchor="t">
            <a:spAutoFit/>
          </a:bodyPr>
          <a:lstStyle/>
          <a:p>
            <a:pPr algn="l">
              <a:lnSpc>
                <a:spcPct val="100000"/>
              </a:lnSpc>
            </a:pPr>
            <a:r>
              <a:rPr sz="1050" b="1" i="0">
                <a:solidFill>
                  <a:srgbClr val="FFFFFF"/>
                </a:solidFill>
                <a:latin typeface="Consolas"/>
              </a:rPr>
              <a:t>82cab592043beee3a078eb35e3e7be0f…</a:t>
            </a:r>
          </a:p>
        </p:txBody>
      </p:sp>
      <p:sp>
        <p:nvSpPr>
          <p:cNvPr id="14" name="TextBox 13"/>
          <p:cNvSpPr txBox="1"/>
          <p:nvPr/>
        </p:nvSpPr>
        <p:spPr>
          <a:xfrm>
            <a:off x="960120" y="5079492"/>
            <a:ext cx="2651760" cy="219456"/>
          </a:xfrm>
          <a:prstGeom prst="rect">
            <a:avLst/>
          </a:prstGeom>
          <a:noFill/>
        </p:spPr>
        <p:txBody>
          <a:bodyPr wrap="square" lIns="0" rIns="0" tIns="0" bIns="0" anchor="t">
            <a:spAutoFit/>
          </a:bodyPr>
          <a:lstStyle/>
          <a:p>
            <a:pPr algn="l">
              <a:lnSpc>
                <a:spcPct val="100000"/>
              </a:lnSpc>
            </a:pPr>
            <a:r>
              <a:rPr sz="1050" b="0" i="0">
                <a:solidFill>
                  <a:srgbClr val="8B9CB2"/>
                </a:solidFill>
                <a:latin typeface="Segoe UI"/>
              </a:rPr>
              <a:t>Tables examined</a:t>
            </a:r>
          </a:p>
        </p:txBody>
      </p:sp>
      <p:sp>
        <p:nvSpPr>
          <p:cNvPr id="15" name="TextBox 14"/>
          <p:cNvSpPr txBox="1"/>
          <p:nvPr/>
        </p:nvSpPr>
        <p:spPr>
          <a:xfrm>
            <a:off x="3703320" y="5079492"/>
            <a:ext cx="6858000" cy="219456"/>
          </a:xfrm>
          <a:prstGeom prst="rect">
            <a:avLst/>
          </a:prstGeom>
          <a:noFill/>
        </p:spPr>
        <p:txBody>
          <a:bodyPr wrap="square" lIns="0" rIns="0" tIns="0" bIns="0" anchor="t">
            <a:spAutoFit/>
          </a:bodyPr>
          <a:lstStyle/>
          <a:p>
            <a:pPr algn="l">
              <a:lnSpc>
                <a:spcPct val="100000"/>
              </a:lnSpc>
            </a:pPr>
            <a:r>
              <a:rPr sz="1050" b="1" i="0">
                <a:solidFill>
                  <a:srgbClr val="FFFFFF"/>
                </a:solidFill>
                <a:latin typeface="Segoe UI"/>
              </a:rPr>
              <a:t>12 of 12 pipeline tables</a:t>
            </a:r>
          </a:p>
        </p:txBody>
      </p:sp>
      <p:sp>
        <p:nvSpPr>
          <p:cNvPr id="16" name="TextBox 15"/>
          <p:cNvSpPr txBox="1"/>
          <p:nvPr/>
        </p:nvSpPr>
        <p:spPr>
          <a:xfrm>
            <a:off x="960120" y="5385816"/>
            <a:ext cx="2651760" cy="219456"/>
          </a:xfrm>
          <a:prstGeom prst="rect">
            <a:avLst/>
          </a:prstGeom>
          <a:noFill/>
        </p:spPr>
        <p:txBody>
          <a:bodyPr wrap="square" lIns="0" rIns="0" tIns="0" bIns="0" anchor="t">
            <a:spAutoFit/>
          </a:bodyPr>
          <a:lstStyle/>
          <a:p>
            <a:pPr algn="l">
              <a:lnSpc>
                <a:spcPct val="100000"/>
              </a:lnSpc>
            </a:pPr>
            <a:r>
              <a:rPr sz="1050" b="0" i="0">
                <a:solidFill>
                  <a:srgbClr val="8B9CB2"/>
                </a:solidFill>
                <a:latin typeface="Segoe UI"/>
              </a:rPr>
              <a:t>Report generated</a:t>
            </a:r>
          </a:p>
        </p:txBody>
      </p:sp>
      <p:sp>
        <p:nvSpPr>
          <p:cNvPr id="17" name="TextBox 16"/>
          <p:cNvSpPr txBox="1"/>
          <p:nvPr/>
        </p:nvSpPr>
        <p:spPr>
          <a:xfrm>
            <a:off x="3703320" y="5385816"/>
            <a:ext cx="6858000" cy="219456"/>
          </a:xfrm>
          <a:prstGeom prst="rect">
            <a:avLst/>
          </a:prstGeom>
          <a:noFill/>
        </p:spPr>
        <p:txBody>
          <a:bodyPr wrap="square" lIns="0" rIns="0" tIns="0" bIns="0" anchor="t">
            <a:spAutoFit/>
          </a:bodyPr>
          <a:lstStyle/>
          <a:p>
            <a:pPr algn="l">
              <a:lnSpc>
                <a:spcPct val="100000"/>
              </a:lnSpc>
            </a:pPr>
            <a:r>
              <a:rPr sz="1050" b="1" i="0">
                <a:solidFill>
                  <a:srgbClr val="FFFFFF"/>
                </a:solidFill>
                <a:latin typeface="Segoe UI"/>
              </a:rPr>
              <a:t>2026-09-09</a:t>
            </a:r>
          </a:p>
        </p:txBody>
      </p:sp>
      <p:sp>
        <p:nvSpPr>
          <p:cNvPr id="18" name="Rounded Rectangle 17"/>
          <p:cNvSpPr/>
          <p:nvPr/>
        </p:nvSpPr>
        <p:spPr>
          <a:xfrm>
            <a:off x="9402775" y="1536192"/>
            <a:ext cx="1051560" cy="384048"/>
          </a:xfrm>
          <a:prstGeom prst="roundRect">
            <a:avLst>
              <a:gd name="adj" fmla="val 16000"/>
            </a:avLst>
          </a:prstGeom>
          <a:solidFill>
            <a:srgbClr val="1B82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rgbClr val="FFFFFF"/>
                </a:solidFill>
                <a:latin typeface="Segoe UI"/>
              </a:rPr>
              <a:t>VALID</a:t>
            </a:r>
          </a:p>
        </p:txBody>
      </p:sp>
      <p:sp>
        <p:nvSpPr>
          <p:cNvPr id="19" name="Rounded Rectangle 18"/>
          <p:cNvSpPr/>
          <p:nvPr/>
        </p:nvSpPr>
        <p:spPr>
          <a:xfrm>
            <a:off x="10573207" y="1536192"/>
            <a:ext cx="1572768" cy="384048"/>
          </a:xfrm>
          <a:prstGeom prst="roundRect">
            <a:avLst>
              <a:gd name="adj" fmla="val 16000"/>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50" b="1">
                <a:solidFill>
                  <a:srgbClr val="FFFFFF"/>
                </a:solidFill>
                <a:latin typeface="Segoe UI"/>
              </a:rPr>
              <a:t>PO_NOT_FOUND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OVERVIEW</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Executive summary</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6903720"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What this document is</a:t>
            </a:r>
          </a:p>
        </p:txBody>
      </p:sp>
      <p:sp>
        <p:nvSpPr>
          <p:cNvPr id="8" name="Rectangle 7"/>
          <p:cNvSpPr/>
          <p:nvPr/>
        </p:nvSpPr>
        <p:spPr>
          <a:xfrm>
            <a:off x="530352" y="1581912"/>
            <a:ext cx="6903720" cy="2450592"/>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00784"/>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Document type</a:t>
            </a:r>
          </a:p>
        </p:txBody>
      </p:sp>
      <p:sp>
        <p:nvSpPr>
          <p:cNvPr id="10" name="TextBox 9"/>
          <p:cNvSpPr txBox="1"/>
          <p:nvPr/>
        </p:nvSpPr>
        <p:spPr>
          <a:xfrm>
            <a:off x="3429914" y="1700784"/>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invoice</a:t>
            </a:r>
          </a:p>
        </p:txBody>
      </p:sp>
      <p:sp>
        <p:nvSpPr>
          <p:cNvPr id="11" name="Rectangle 10"/>
          <p:cNvSpPr/>
          <p:nvPr/>
        </p:nvSpPr>
        <p:spPr>
          <a:xfrm>
            <a:off x="621792" y="1943100"/>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1988819"/>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Invoice number</a:t>
            </a:r>
          </a:p>
        </p:txBody>
      </p:sp>
      <p:sp>
        <p:nvSpPr>
          <p:cNvPr id="13" name="TextBox 12"/>
          <p:cNvSpPr txBox="1"/>
          <p:nvPr/>
        </p:nvSpPr>
        <p:spPr>
          <a:xfrm>
            <a:off x="3429914" y="1988819"/>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INV-20250010</a:t>
            </a:r>
          </a:p>
        </p:txBody>
      </p:sp>
      <p:sp>
        <p:nvSpPr>
          <p:cNvPr id="14" name="Rectangle 13"/>
          <p:cNvSpPr/>
          <p:nvPr/>
        </p:nvSpPr>
        <p:spPr>
          <a:xfrm>
            <a:off x="621792" y="2231136"/>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276856"/>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Purchase order ref</a:t>
            </a:r>
          </a:p>
        </p:txBody>
      </p:sp>
      <p:sp>
        <p:nvSpPr>
          <p:cNvPr id="16" name="TextBox 15"/>
          <p:cNvSpPr txBox="1"/>
          <p:nvPr/>
        </p:nvSpPr>
        <p:spPr>
          <a:xfrm>
            <a:off x="3429914" y="2276856"/>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PO-13352</a:t>
            </a:r>
          </a:p>
        </p:txBody>
      </p:sp>
      <p:sp>
        <p:nvSpPr>
          <p:cNvPr id="17" name="Rectangle 16"/>
          <p:cNvSpPr/>
          <p:nvPr/>
        </p:nvSpPr>
        <p:spPr>
          <a:xfrm>
            <a:off x="621792" y="2519172"/>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564891"/>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Invoice date / due date</a:t>
            </a:r>
          </a:p>
        </p:txBody>
      </p:sp>
      <p:sp>
        <p:nvSpPr>
          <p:cNvPr id="19" name="TextBox 18"/>
          <p:cNvSpPr txBox="1"/>
          <p:nvPr/>
        </p:nvSpPr>
        <p:spPr>
          <a:xfrm>
            <a:off x="3429914" y="2564891"/>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2025-01-17  /  2025-01-17</a:t>
            </a:r>
          </a:p>
        </p:txBody>
      </p:sp>
      <p:sp>
        <p:nvSpPr>
          <p:cNvPr id="20" name="Rectangle 19"/>
          <p:cNvSpPr/>
          <p:nvPr/>
        </p:nvSpPr>
        <p:spPr>
          <a:xfrm>
            <a:off x="621792" y="2807208"/>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852927"/>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Seller (vendor)</a:t>
            </a:r>
          </a:p>
        </p:txBody>
      </p:sp>
      <p:sp>
        <p:nvSpPr>
          <p:cNvPr id="22" name="TextBox 21"/>
          <p:cNvSpPr txBox="1"/>
          <p:nvPr/>
        </p:nvSpPr>
        <p:spPr>
          <a:xfrm>
            <a:off x="3429914" y="2852927"/>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Riverbend Marketing Studio</a:t>
            </a:r>
          </a:p>
        </p:txBody>
      </p:sp>
      <p:sp>
        <p:nvSpPr>
          <p:cNvPr id="23" name="Rectangle 22"/>
          <p:cNvSpPr/>
          <p:nvPr/>
        </p:nvSpPr>
        <p:spPr>
          <a:xfrm>
            <a:off x="621792" y="3095244"/>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140963"/>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Buyer (customer)</a:t>
            </a:r>
          </a:p>
        </p:txBody>
      </p:sp>
      <p:sp>
        <p:nvSpPr>
          <p:cNvPr id="25" name="TextBox 24"/>
          <p:cNvSpPr txBox="1"/>
          <p:nvPr/>
        </p:nvSpPr>
        <p:spPr>
          <a:xfrm>
            <a:off x="3429914" y="3140963"/>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Keystone Logistics Partners</a:t>
            </a:r>
          </a:p>
        </p:txBody>
      </p:sp>
      <p:sp>
        <p:nvSpPr>
          <p:cNvPr id="26" name="Rectangle 25"/>
          <p:cNvSpPr/>
          <p:nvPr/>
        </p:nvSpPr>
        <p:spPr>
          <a:xfrm>
            <a:off x="621792" y="3383279"/>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428999"/>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Currency</a:t>
            </a:r>
          </a:p>
        </p:txBody>
      </p:sp>
      <p:sp>
        <p:nvSpPr>
          <p:cNvPr id="28" name="TextBox 27"/>
          <p:cNvSpPr txBox="1"/>
          <p:nvPr/>
        </p:nvSpPr>
        <p:spPr>
          <a:xfrm>
            <a:off x="3429914" y="3428999"/>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USD</a:t>
            </a:r>
          </a:p>
        </p:txBody>
      </p:sp>
      <p:sp>
        <p:nvSpPr>
          <p:cNvPr id="29" name="Rectangle 28"/>
          <p:cNvSpPr/>
          <p:nvPr/>
        </p:nvSpPr>
        <p:spPr>
          <a:xfrm>
            <a:off x="621792" y="3671315"/>
            <a:ext cx="672084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3717035"/>
            <a:ext cx="2716682" cy="233172"/>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Total amount</a:t>
            </a:r>
          </a:p>
        </p:txBody>
      </p:sp>
      <p:sp>
        <p:nvSpPr>
          <p:cNvPr id="31" name="TextBox 30"/>
          <p:cNvSpPr txBox="1"/>
          <p:nvPr/>
        </p:nvSpPr>
        <p:spPr>
          <a:xfrm>
            <a:off x="3429914" y="3717035"/>
            <a:ext cx="3857853" cy="233172"/>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$4,560.79</a:t>
            </a:r>
          </a:p>
        </p:txBody>
      </p:sp>
      <p:sp>
        <p:nvSpPr>
          <p:cNvPr id="32" name="TextBox 31"/>
          <p:cNvSpPr txBox="1"/>
          <p:nvPr/>
        </p:nvSpPr>
        <p:spPr>
          <a:xfrm>
            <a:off x="530352" y="4087368"/>
            <a:ext cx="6903720"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The five line items</a:t>
            </a:r>
          </a:p>
        </p:txBody>
      </p:sp>
      <p:graphicFrame>
        <p:nvGraphicFramePr>
          <p:cNvPr id="33" name="Table 32"/>
          <p:cNvGraphicFramePr>
            <a:graphicFrameLocks noGrp="1"/>
          </p:cNvGraphicFramePr>
          <p:nvPr/>
        </p:nvGraphicFramePr>
        <p:xfrm>
          <a:off x="530352" y="4379976"/>
          <a:ext cx="6903718" cy="1880005"/>
        </p:xfrm>
        <a:graphic>
          <a:graphicData uri="http://schemas.openxmlformats.org/drawingml/2006/table">
            <a:tbl>
              <a:tblPr firstRow="1">
                <a:tableStyleId>{5C22544A-7EE6-4342-B048-85BDC9FD1C3A}</a:tableStyleId>
              </a:tblPr>
              <a:tblGrid>
                <a:gridCol w="421601"/>
                <a:gridCol w="3478210"/>
                <a:gridCol w="632401"/>
                <a:gridCol w="1159403"/>
                <a:gridCol w="1212103"/>
              </a:tblGrid>
              <a:tr h="299923">
                <a:tc>
                  <a:txBody>
                    <a:bodyPr wrap="square"/>
                    <a:lstStyle/>
                    <a:p>
                      <a:pPr algn="l"/>
                      <a:r>
                        <a:rPr sz="950" b="1">
                          <a:solidFill>
                            <a:srgbClr val="FFFFFF"/>
                          </a:solidFill>
                          <a:latin typeface="Segoe UI"/>
                        </a:rPr>
                        <a:t>#</a:t>
                      </a:r>
                    </a:p>
                  </a:txBody>
                  <a:tcPr marL="64008" marR="64008" marT="18288" marB="18288" anchor="ctr">
                    <a:solidFill>
                      <a:srgbClr val="0E1B2E"/>
                    </a:solidFill>
                  </a:tcPr>
                </a:tc>
                <a:tc>
                  <a:txBody>
                    <a:bodyPr wrap="square"/>
                    <a:lstStyle/>
                    <a:p>
                      <a:pPr algn="l"/>
                      <a:r>
                        <a:rPr sz="950" b="1">
                          <a:solidFill>
                            <a:srgbClr val="FFFFFF"/>
                          </a:solidFill>
                          <a:latin typeface="Segoe UI"/>
                        </a:rPr>
                        <a:t>Description</a:t>
                      </a:r>
                    </a:p>
                  </a:txBody>
                  <a:tcPr marL="64008" marR="64008" marT="18288" marB="18288" anchor="ctr">
                    <a:solidFill>
                      <a:srgbClr val="0E1B2E"/>
                    </a:solidFill>
                  </a:tcPr>
                </a:tc>
                <a:tc>
                  <a:txBody>
                    <a:bodyPr wrap="square"/>
                    <a:lstStyle/>
                    <a:p>
                      <a:pPr algn="l"/>
                      <a:r>
                        <a:rPr sz="950" b="1">
                          <a:solidFill>
                            <a:srgbClr val="FFFFFF"/>
                          </a:solidFill>
                          <a:latin typeface="Segoe UI"/>
                        </a:rPr>
                        <a:t>Qty</a:t>
                      </a:r>
                    </a:p>
                  </a:txBody>
                  <a:tcPr marL="64008" marR="64008" marT="18288" marB="18288" anchor="ctr">
                    <a:solidFill>
                      <a:srgbClr val="0E1B2E"/>
                    </a:solidFill>
                  </a:tcPr>
                </a:tc>
                <a:tc>
                  <a:txBody>
                    <a:bodyPr wrap="square"/>
                    <a:lstStyle/>
                    <a:p>
                      <a:pPr algn="l"/>
                      <a:r>
                        <a:rPr sz="950" b="1">
                          <a:solidFill>
                            <a:srgbClr val="FFFFFF"/>
                          </a:solidFill>
                          <a:latin typeface="Segoe UI"/>
                        </a:rPr>
                        <a:t>Unit price</a:t>
                      </a:r>
                    </a:p>
                  </a:txBody>
                  <a:tcPr marL="64008" marR="64008" marT="18288" marB="18288" anchor="ctr">
                    <a:solidFill>
                      <a:srgbClr val="0E1B2E"/>
                    </a:solidFill>
                  </a:tcPr>
                </a:tc>
                <a:tc>
                  <a:txBody>
                    <a:bodyPr wrap="square"/>
                    <a:lstStyle/>
                    <a:p>
                      <a:pPr algn="l"/>
                      <a:r>
                        <a:rPr sz="950" b="1">
                          <a:solidFill>
                            <a:srgbClr val="FFFFFF"/>
                          </a:solidFill>
                          <a:latin typeface="Segoe UI"/>
                        </a:rPr>
                        <a:t>Amount</a:t>
                      </a:r>
                    </a:p>
                  </a:txBody>
                  <a:tcPr marL="64008" marR="64008" marT="18288" marB="18288" anchor="ctr">
                    <a:solidFill>
                      <a:srgbClr val="0E1B2E"/>
                    </a:solidFill>
                  </a:tcPr>
                </a:tc>
              </a:tr>
              <a:tr h="263347">
                <a:tc>
                  <a:txBody>
                    <a:bodyPr wrap="square"/>
                    <a:lstStyle/>
                    <a:p>
                      <a:pPr algn="ctr"/>
                      <a:r>
                        <a:rPr sz="950" b="0">
                          <a:solidFill>
                            <a:srgbClr val="333F4F"/>
                          </a:solidFill>
                          <a:latin typeface="Segoe UI"/>
                        </a:rPr>
                        <a:t>1</a:t>
                      </a:r>
                    </a:p>
                  </a:txBody>
                  <a:tcPr marL="64008" marR="64008" marT="18288" marB="18288" anchor="ctr">
                    <a:solidFill>
                      <a:srgbClr val="FFFFFF"/>
                    </a:solidFill>
                  </a:tcPr>
                </a:tc>
                <a:tc>
                  <a:txBody>
                    <a:bodyPr wrap="square"/>
                    <a:lstStyle/>
                    <a:p>
                      <a:pPr algn="l"/>
                      <a:r>
                        <a:rPr sz="950" b="0">
                          <a:solidFill>
                            <a:srgbClr val="333F4F"/>
                          </a:solidFill>
                          <a:latin typeface="Segoe UI"/>
                        </a:rPr>
                        <a:t>Creative design (hours)</a:t>
                      </a:r>
                    </a:p>
                  </a:txBody>
                  <a:tcPr marL="64008" marR="64008" marT="18288" marB="18288" anchor="ctr">
                    <a:solidFill>
                      <a:srgbClr val="FFFFFF"/>
                    </a:solidFill>
                  </a:tcPr>
                </a:tc>
                <a:tc>
                  <a:txBody>
                    <a:bodyPr wrap="square"/>
                    <a:lstStyle/>
                    <a:p>
                      <a:pPr algn="r"/>
                      <a:r>
                        <a:rPr sz="950" b="0">
                          <a:solidFill>
                            <a:srgbClr val="333F4F"/>
                          </a:solidFill>
                          <a:latin typeface="Segoe UI"/>
                        </a:rPr>
                        <a:t>8</a:t>
                      </a:r>
                    </a:p>
                  </a:txBody>
                  <a:tcPr marL="64008" marR="64008" marT="18288" marB="18288" anchor="ctr">
                    <a:solidFill>
                      <a:srgbClr val="FFFFFF"/>
                    </a:solidFill>
                  </a:tcPr>
                </a:tc>
                <a:tc>
                  <a:txBody>
                    <a:bodyPr wrap="square"/>
                    <a:lstStyle/>
                    <a:p>
                      <a:pPr algn="r"/>
                      <a:r>
                        <a:rPr sz="950" b="0">
                          <a:solidFill>
                            <a:srgbClr val="333F4F"/>
                          </a:solidFill>
                          <a:latin typeface="Segoe UI"/>
                        </a:rPr>
                        <a:t>$93.48</a:t>
                      </a:r>
                    </a:p>
                  </a:txBody>
                  <a:tcPr marL="64008" marR="64008" marT="18288" marB="18288" anchor="ctr">
                    <a:solidFill>
                      <a:srgbClr val="FFFFFF"/>
                    </a:solidFill>
                  </a:tcPr>
                </a:tc>
                <a:tc>
                  <a:txBody>
                    <a:bodyPr wrap="square"/>
                    <a:lstStyle/>
                    <a:p>
                      <a:pPr algn="r"/>
                      <a:r>
                        <a:rPr sz="950" b="0">
                          <a:solidFill>
                            <a:srgbClr val="333F4F"/>
                          </a:solidFill>
                          <a:latin typeface="Segoe UI"/>
                        </a:rPr>
                        <a:t>$747.84</a:t>
                      </a:r>
                    </a:p>
                  </a:txBody>
                  <a:tcPr marL="64008" marR="64008" marT="18288" marB="18288" anchor="ctr">
                    <a:solidFill>
                      <a:srgbClr val="FFFFFF"/>
                    </a:solidFill>
                  </a:tcPr>
                </a:tc>
              </a:tr>
              <a:tr h="263347">
                <a:tc>
                  <a:txBody>
                    <a:bodyPr wrap="square"/>
                    <a:lstStyle/>
                    <a:p>
                      <a:pPr algn="ctr"/>
                      <a:r>
                        <a:rPr sz="950" b="0">
                          <a:solidFill>
                            <a:srgbClr val="333F4F"/>
                          </a:solidFill>
                          <a:latin typeface="Segoe UI"/>
                        </a:rPr>
                        <a:t>2</a:t>
                      </a:r>
                    </a:p>
                  </a:txBody>
                  <a:tcPr marL="64008" marR="64008" marT="18288" marB="18288" anchor="ctr">
                    <a:solidFill>
                      <a:srgbClr val="F4F7FA"/>
                    </a:solidFill>
                  </a:tcPr>
                </a:tc>
                <a:tc>
                  <a:txBody>
                    <a:bodyPr wrap="square"/>
                    <a:lstStyle/>
                    <a:p>
                      <a:pPr algn="l"/>
                      <a:r>
                        <a:rPr sz="950" b="0">
                          <a:solidFill>
                            <a:srgbClr val="333F4F"/>
                          </a:solidFill>
                          <a:latin typeface="Segoe UI"/>
                        </a:rPr>
                        <a:t>Ad spend management (hours)</a:t>
                      </a:r>
                    </a:p>
                  </a:txBody>
                  <a:tcPr marL="64008" marR="64008" marT="18288" marB="18288" anchor="ctr">
                    <a:solidFill>
                      <a:srgbClr val="F4F7FA"/>
                    </a:solidFill>
                  </a:tcPr>
                </a:tc>
                <a:tc>
                  <a:txBody>
                    <a:bodyPr wrap="square"/>
                    <a:lstStyle/>
                    <a:p>
                      <a:pPr algn="r"/>
                      <a:r>
                        <a:rPr sz="950" b="0">
                          <a:solidFill>
                            <a:srgbClr val="333F4F"/>
                          </a:solidFill>
                          <a:latin typeface="Segoe UI"/>
                        </a:rPr>
                        <a:t>12</a:t>
                      </a:r>
                    </a:p>
                  </a:txBody>
                  <a:tcPr marL="64008" marR="64008" marT="18288" marB="18288" anchor="ctr">
                    <a:solidFill>
                      <a:srgbClr val="F4F7FA"/>
                    </a:solidFill>
                  </a:tcPr>
                </a:tc>
                <a:tc>
                  <a:txBody>
                    <a:bodyPr wrap="square"/>
                    <a:lstStyle/>
                    <a:p>
                      <a:pPr algn="r"/>
                      <a:r>
                        <a:rPr sz="950" b="0">
                          <a:solidFill>
                            <a:srgbClr val="333F4F"/>
                          </a:solidFill>
                          <a:latin typeface="Segoe UI"/>
                        </a:rPr>
                        <a:t>$78.47</a:t>
                      </a:r>
                    </a:p>
                  </a:txBody>
                  <a:tcPr marL="64008" marR="64008" marT="18288" marB="18288" anchor="ctr">
                    <a:solidFill>
                      <a:srgbClr val="F4F7FA"/>
                    </a:solidFill>
                  </a:tcPr>
                </a:tc>
                <a:tc>
                  <a:txBody>
                    <a:bodyPr wrap="square"/>
                    <a:lstStyle/>
                    <a:p>
                      <a:pPr algn="r"/>
                      <a:r>
                        <a:rPr sz="950" b="0">
                          <a:solidFill>
                            <a:srgbClr val="333F4F"/>
                          </a:solidFill>
                          <a:latin typeface="Segoe UI"/>
                        </a:rPr>
                        <a:t>$941.64</a:t>
                      </a:r>
                    </a:p>
                  </a:txBody>
                  <a:tcPr marL="64008" marR="64008" marT="18288" marB="18288" anchor="ctr">
                    <a:solidFill>
                      <a:srgbClr val="F4F7FA"/>
                    </a:solidFill>
                  </a:tcPr>
                </a:tc>
              </a:tr>
              <a:tr h="263347">
                <a:tc>
                  <a:txBody>
                    <a:bodyPr wrap="square"/>
                    <a:lstStyle/>
                    <a:p>
                      <a:pPr algn="ctr"/>
                      <a:r>
                        <a:rPr sz="950" b="0">
                          <a:solidFill>
                            <a:srgbClr val="333F4F"/>
                          </a:solidFill>
                          <a:latin typeface="Segoe UI"/>
                        </a:rPr>
                        <a:t>3</a:t>
                      </a:r>
                    </a:p>
                  </a:txBody>
                  <a:tcPr marL="64008" marR="64008" marT="18288" marB="18288" anchor="ctr">
                    <a:solidFill>
                      <a:srgbClr val="FFFFFF"/>
                    </a:solidFill>
                  </a:tcPr>
                </a:tc>
                <a:tc>
                  <a:txBody>
                    <a:bodyPr wrap="square"/>
                    <a:lstStyle/>
                    <a:p>
                      <a:pPr algn="l"/>
                      <a:r>
                        <a:rPr sz="950" b="0">
                          <a:solidFill>
                            <a:srgbClr val="333F4F"/>
                          </a:solidFill>
                          <a:latin typeface="Segoe UI"/>
                        </a:rPr>
                        <a:t>Landing page build</a:t>
                      </a:r>
                    </a:p>
                  </a:txBody>
                  <a:tcPr marL="64008" marR="64008" marT="18288" marB="18288" anchor="ctr">
                    <a:solidFill>
                      <a:srgbClr val="FFFFFF"/>
                    </a:solidFill>
                  </a:tcPr>
                </a:tc>
                <a:tc>
                  <a:txBody>
                    <a:bodyPr wrap="square"/>
                    <a:lstStyle/>
                    <a:p>
                      <a:pPr algn="r"/>
                      <a:r>
                        <a:rPr sz="950" b="0">
                          <a:solidFill>
                            <a:srgbClr val="333F4F"/>
                          </a:solidFill>
                          <a:latin typeface="Segoe UI"/>
                        </a:rPr>
                        <a:t>1</a:t>
                      </a:r>
                    </a:p>
                  </a:txBody>
                  <a:tcPr marL="64008" marR="64008" marT="18288" marB="18288" anchor="ctr">
                    <a:solidFill>
                      <a:srgbClr val="FFFFFF"/>
                    </a:solidFill>
                  </a:tcPr>
                </a:tc>
                <a:tc>
                  <a:txBody>
                    <a:bodyPr wrap="square"/>
                    <a:lstStyle/>
                    <a:p>
                      <a:pPr algn="r"/>
                      <a:r>
                        <a:rPr sz="950" b="0">
                          <a:solidFill>
                            <a:srgbClr val="333F4F"/>
                          </a:solidFill>
                          <a:latin typeface="Segoe UI"/>
                        </a:rPr>
                        <a:t>$1,159.52</a:t>
                      </a:r>
                    </a:p>
                  </a:txBody>
                  <a:tcPr marL="64008" marR="64008" marT="18288" marB="18288" anchor="ctr">
                    <a:solidFill>
                      <a:srgbClr val="FFFFFF"/>
                    </a:solidFill>
                  </a:tcPr>
                </a:tc>
                <a:tc>
                  <a:txBody>
                    <a:bodyPr wrap="square"/>
                    <a:lstStyle/>
                    <a:p>
                      <a:pPr algn="r"/>
                      <a:r>
                        <a:rPr sz="950" b="0">
                          <a:solidFill>
                            <a:srgbClr val="333F4F"/>
                          </a:solidFill>
                          <a:latin typeface="Segoe UI"/>
                        </a:rPr>
                        <a:t>$1,159.52</a:t>
                      </a:r>
                    </a:p>
                  </a:txBody>
                  <a:tcPr marL="64008" marR="64008" marT="18288" marB="18288" anchor="ctr">
                    <a:solidFill>
                      <a:srgbClr val="FFFFFF"/>
                    </a:solidFill>
                  </a:tcPr>
                </a:tc>
              </a:tr>
              <a:tr h="263347">
                <a:tc>
                  <a:txBody>
                    <a:bodyPr wrap="square"/>
                    <a:lstStyle/>
                    <a:p>
                      <a:pPr algn="ctr"/>
                      <a:r>
                        <a:rPr sz="950" b="0">
                          <a:solidFill>
                            <a:srgbClr val="333F4F"/>
                          </a:solidFill>
                          <a:latin typeface="Segoe UI"/>
                        </a:rPr>
                        <a:t>4</a:t>
                      </a:r>
                    </a:p>
                  </a:txBody>
                  <a:tcPr marL="64008" marR="64008" marT="18288" marB="18288" anchor="ctr">
                    <a:solidFill>
                      <a:srgbClr val="F4F7FA"/>
                    </a:solidFill>
                  </a:tcPr>
                </a:tc>
                <a:tc>
                  <a:txBody>
                    <a:bodyPr wrap="square"/>
                    <a:lstStyle/>
                    <a:p>
                      <a:pPr algn="l"/>
                      <a:r>
                        <a:rPr sz="950" b="0">
                          <a:solidFill>
                            <a:srgbClr val="333F4F"/>
                          </a:solidFill>
                          <a:latin typeface="Segoe UI"/>
                        </a:rPr>
                        <a:t>Performance report</a:t>
                      </a:r>
                    </a:p>
                  </a:txBody>
                  <a:tcPr marL="64008" marR="64008" marT="18288" marB="18288" anchor="ctr">
                    <a:solidFill>
                      <a:srgbClr val="F4F7FA"/>
                    </a:solidFill>
                  </a:tcPr>
                </a:tc>
                <a:tc>
                  <a:txBody>
                    <a:bodyPr wrap="square"/>
                    <a:lstStyle/>
                    <a:p>
                      <a:pPr algn="r"/>
                      <a:r>
                        <a:rPr sz="950" b="0">
                          <a:solidFill>
                            <a:srgbClr val="333F4F"/>
                          </a:solidFill>
                          <a:latin typeface="Segoe UI"/>
                        </a:rPr>
                        <a:t>1</a:t>
                      </a:r>
                    </a:p>
                  </a:txBody>
                  <a:tcPr marL="64008" marR="64008" marT="18288" marB="18288" anchor="ctr">
                    <a:solidFill>
                      <a:srgbClr val="F4F7FA"/>
                    </a:solidFill>
                  </a:tcPr>
                </a:tc>
                <a:tc>
                  <a:txBody>
                    <a:bodyPr wrap="square"/>
                    <a:lstStyle/>
                    <a:p>
                      <a:pPr algn="r"/>
                      <a:r>
                        <a:rPr sz="950" b="0">
                          <a:solidFill>
                            <a:srgbClr val="333F4F"/>
                          </a:solidFill>
                          <a:latin typeface="Segoe UI"/>
                        </a:rPr>
                        <a:t>$385.23</a:t>
                      </a:r>
                    </a:p>
                  </a:txBody>
                  <a:tcPr marL="64008" marR="64008" marT="18288" marB="18288" anchor="ctr">
                    <a:solidFill>
                      <a:srgbClr val="F4F7FA"/>
                    </a:solidFill>
                  </a:tcPr>
                </a:tc>
                <a:tc>
                  <a:txBody>
                    <a:bodyPr wrap="square"/>
                    <a:lstStyle/>
                    <a:p>
                      <a:pPr algn="r"/>
                      <a:r>
                        <a:rPr sz="950" b="0">
                          <a:solidFill>
                            <a:srgbClr val="333F4F"/>
                          </a:solidFill>
                          <a:latin typeface="Segoe UI"/>
                        </a:rPr>
                        <a:t>$385.23</a:t>
                      </a:r>
                    </a:p>
                  </a:txBody>
                  <a:tcPr marL="64008" marR="64008" marT="18288" marB="18288" anchor="ctr">
                    <a:solidFill>
                      <a:srgbClr val="F4F7FA"/>
                    </a:solidFill>
                  </a:tcPr>
                </a:tc>
              </a:tr>
              <a:tr h="263347">
                <a:tc>
                  <a:txBody>
                    <a:bodyPr wrap="square"/>
                    <a:lstStyle/>
                    <a:p>
                      <a:pPr algn="ctr"/>
                      <a:r>
                        <a:rPr sz="950" b="0">
                          <a:solidFill>
                            <a:srgbClr val="333F4F"/>
                          </a:solidFill>
                          <a:latin typeface="Segoe UI"/>
                        </a:rPr>
                        <a:t>5</a:t>
                      </a:r>
                    </a:p>
                  </a:txBody>
                  <a:tcPr marL="64008" marR="64008" marT="18288" marB="18288" anchor="ctr">
                    <a:solidFill>
                      <a:srgbClr val="FFFFFF"/>
                    </a:solidFill>
                  </a:tcPr>
                </a:tc>
                <a:tc>
                  <a:txBody>
                    <a:bodyPr wrap="square"/>
                    <a:lstStyle/>
                    <a:p>
                      <a:pPr algn="l"/>
                      <a:r>
                        <a:rPr sz="950" b="0">
                          <a:solidFill>
                            <a:srgbClr val="333F4F"/>
                          </a:solidFill>
                          <a:latin typeface="Segoe UI"/>
                        </a:rPr>
                        <a:t>Campaign setup</a:t>
                      </a:r>
                    </a:p>
                  </a:txBody>
                  <a:tcPr marL="64008" marR="64008" marT="18288" marB="18288" anchor="ctr">
                    <a:solidFill>
                      <a:srgbClr val="FFFFFF"/>
                    </a:solidFill>
                  </a:tcPr>
                </a:tc>
                <a:tc>
                  <a:txBody>
                    <a:bodyPr wrap="square"/>
                    <a:lstStyle/>
                    <a:p>
                      <a:pPr algn="r"/>
                      <a:r>
                        <a:rPr sz="950" b="0">
                          <a:solidFill>
                            <a:srgbClr val="333F4F"/>
                          </a:solidFill>
                          <a:latin typeface="Segoe UI"/>
                        </a:rPr>
                        <a:t>1</a:t>
                      </a:r>
                    </a:p>
                  </a:txBody>
                  <a:tcPr marL="64008" marR="64008" marT="18288" marB="18288" anchor="ctr">
                    <a:solidFill>
                      <a:srgbClr val="FFFFFF"/>
                    </a:solidFill>
                  </a:tcPr>
                </a:tc>
                <a:tc>
                  <a:txBody>
                    <a:bodyPr wrap="square"/>
                    <a:lstStyle/>
                    <a:p>
                      <a:pPr algn="r"/>
                      <a:r>
                        <a:rPr sz="950" b="0">
                          <a:solidFill>
                            <a:srgbClr val="333F4F"/>
                          </a:solidFill>
                          <a:latin typeface="Segoe UI"/>
                        </a:rPr>
                        <a:t>$1,326.56</a:t>
                      </a:r>
                    </a:p>
                  </a:txBody>
                  <a:tcPr marL="64008" marR="64008" marT="18288" marB="18288" anchor="ctr">
                    <a:solidFill>
                      <a:srgbClr val="FFFFFF"/>
                    </a:solidFill>
                  </a:tcPr>
                </a:tc>
                <a:tc>
                  <a:txBody>
                    <a:bodyPr wrap="square"/>
                    <a:lstStyle/>
                    <a:p>
                      <a:pPr algn="r"/>
                      <a:r>
                        <a:rPr sz="950" b="0">
                          <a:solidFill>
                            <a:srgbClr val="333F4F"/>
                          </a:solidFill>
                          <a:latin typeface="Segoe UI"/>
                        </a:rPr>
                        <a:t>$1,326.56</a:t>
                      </a:r>
                    </a:p>
                  </a:txBody>
                  <a:tcPr marL="64008" marR="64008" marT="18288" marB="18288" anchor="ctr">
                    <a:solidFill>
                      <a:srgbClr val="FFFFFF"/>
                    </a:solidFill>
                  </a:tcPr>
                </a:tc>
              </a:tr>
              <a:tr h="263347">
                <a:tc>
                  <a:txBody>
                    <a:bodyPr wrap="square"/>
                    <a:lstStyle/>
                    <a:p>
                      <a:pPr algn="ctr"/>
                      <a:r>
                        <a:rPr sz="950" b="0">
                          <a:solidFill>
                            <a:srgbClr val="333F4F"/>
                          </a:solidFill>
                          <a:latin typeface="Segoe UI"/>
                        </a:rPr>
                        <a:t/>
                      </a:r>
                    </a:p>
                  </a:txBody>
                  <a:tcPr marL="64008" marR="64008" marT="18288" marB="18288" anchor="ctr">
                    <a:solidFill>
                      <a:srgbClr val="F4F7FA"/>
                    </a:solidFill>
                  </a:tcPr>
                </a:tc>
                <a:tc>
                  <a:txBody>
                    <a:bodyPr wrap="square"/>
                    <a:lstStyle/>
                    <a:p>
                      <a:pPr algn="l"/>
                      <a:r>
                        <a:rPr sz="950" b="0">
                          <a:solidFill>
                            <a:srgbClr val="333F4F"/>
                          </a:solidFill>
                          <a:latin typeface="Segoe UI"/>
                        </a:rPr>
                        <a:t>Subtotal</a:t>
                      </a:r>
                    </a:p>
                  </a:txBody>
                  <a:tcPr marL="64008" marR="64008" marT="18288" marB="18288" anchor="ctr">
                    <a:solidFill>
                      <a:srgbClr val="F4F7FA"/>
                    </a:solidFill>
                  </a:tcPr>
                </a:tc>
                <a:tc>
                  <a:txBody>
                    <a:bodyPr wrap="square"/>
                    <a:lstStyle/>
                    <a:p>
                      <a:pPr algn="r"/>
                      <a:r>
                        <a:rPr sz="950" b="0">
                          <a:solidFill>
                            <a:srgbClr val="333F4F"/>
                          </a:solidFill>
                          <a:latin typeface="Segoe UI"/>
                        </a:rPr>
                        <a:t/>
                      </a:r>
                    </a:p>
                  </a:txBody>
                  <a:tcPr marL="64008" marR="64008" marT="18288" marB="18288" anchor="ctr">
                    <a:solidFill>
                      <a:srgbClr val="F4F7FA"/>
                    </a:solidFill>
                  </a:tcPr>
                </a:tc>
                <a:tc>
                  <a:txBody>
                    <a:bodyPr wrap="square"/>
                    <a:lstStyle/>
                    <a:p>
                      <a:pPr algn="r"/>
                      <a:r>
                        <a:rPr sz="950" b="0">
                          <a:solidFill>
                            <a:srgbClr val="333F4F"/>
                          </a:solidFill>
                          <a:latin typeface="Segoe UI"/>
                        </a:rPr>
                        <a:t/>
                      </a:r>
                    </a:p>
                  </a:txBody>
                  <a:tcPr marL="64008" marR="64008" marT="18288" marB="18288" anchor="ctr">
                    <a:solidFill>
                      <a:srgbClr val="F4F7FA"/>
                    </a:solidFill>
                  </a:tcPr>
                </a:tc>
                <a:tc>
                  <a:txBody>
                    <a:bodyPr wrap="square"/>
                    <a:lstStyle/>
                    <a:p>
                      <a:pPr algn="r"/>
                      <a:r>
                        <a:rPr sz="950" b="0">
                          <a:solidFill>
                            <a:srgbClr val="333F4F"/>
                          </a:solidFill>
                          <a:latin typeface="Segoe UI"/>
                        </a:rPr>
                        <a:t>$4,560.79</a:t>
                      </a:r>
                    </a:p>
                  </a:txBody>
                  <a:tcPr marL="64008" marR="64008" marT="18288" marB="18288" anchor="ctr">
                    <a:solidFill>
                      <a:srgbClr val="F4F7FA"/>
                    </a:solidFill>
                  </a:tcPr>
                </a:tc>
              </a:tr>
            </a:tbl>
          </a:graphicData>
        </a:graphic>
      </p:graphicFrame>
      <p:sp>
        <p:nvSpPr>
          <p:cNvPr id="34" name="TextBox 33"/>
          <p:cNvSpPr txBox="1"/>
          <p:nvPr/>
        </p:nvSpPr>
        <p:spPr>
          <a:xfrm>
            <a:off x="7754111" y="1289304"/>
            <a:ext cx="3907231"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Pipeline outcome</a:t>
            </a:r>
          </a:p>
        </p:txBody>
      </p:sp>
      <p:sp>
        <p:nvSpPr>
          <p:cNvPr id="35" name="Rectangle 34"/>
          <p:cNvSpPr/>
          <p:nvPr/>
        </p:nvSpPr>
        <p:spPr>
          <a:xfrm>
            <a:off x="7754111" y="1581912"/>
            <a:ext cx="3907231" cy="1207008"/>
          </a:xfrm>
          <a:prstGeom prst="rect">
            <a:avLst/>
          </a:prstGeom>
          <a:solidFill>
            <a:srgbClr val="ECF7F1"/>
          </a:solidFill>
          <a:ln w="9525">
            <a:solidFill>
              <a:srgbClr val="BCE2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79" y="1746504"/>
            <a:ext cx="3504895" cy="201168"/>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validation_status</a:t>
            </a:r>
          </a:p>
        </p:txBody>
      </p:sp>
      <p:sp>
        <p:nvSpPr>
          <p:cNvPr id="37" name="TextBox 36"/>
          <p:cNvSpPr txBox="1"/>
          <p:nvPr/>
        </p:nvSpPr>
        <p:spPr>
          <a:xfrm>
            <a:off x="7955279" y="1947672"/>
            <a:ext cx="3504895" cy="384048"/>
          </a:xfrm>
          <a:prstGeom prst="rect">
            <a:avLst/>
          </a:prstGeom>
          <a:noFill/>
        </p:spPr>
        <p:txBody>
          <a:bodyPr wrap="square" lIns="0" rIns="0" tIns="0" bIns="0" anchor="t">
            <a:spAutoFit/>
          </a:bodyPr>
          <a:lstStyle/>
          <a:p>
            <a:pPr algn="l">
              <a:lnSpc>
                <a:spcPct val="100000"/>
              </a:lnSpc>
            </a:pPr>
            <a:r>
              <a:rPr sz="2700" b="1" i="0">
                <a:solidFill>
                  <a:srgbClr val="1B8253"/>
                </a:solidFill>
                <a:latin typeface="Segoe UI"/>
              </a:rPr>
              <a:t>VALID</a:t>
            </a:r>
          </a:p>
        </p:txBody>
      </p:sp>
      <p:sp>
        <p:nvSpPr>
          <p:cNvPr id="38" name="TextBox 37"/>
          <p:cNvSpPr txBox="1"/>
          <p:nvPr/>
        </p:nvSpPr>
        <p:spPr>
          <a:xfrm>
            <a:off x="7955279" y="2377439"/>
            <a:ext cx="3504895" cy="365760"/>
          </a:xfrm>
          <a:prstGeom prst="rect">
            <a:avLst/>
          </a:prstGeom>
          <a:noFill/>
        </p:spPr>
        <p:txBody>
          <a:bodyPr wrap="square" lIns="0" rIns="0" tIns="0" bIns="0" anchor="t">
            <a:spAutoFit/>
          </a:bodyPr>
          <a:lstStyle/>
          <a:p>
            <a:pPr algn="l">
              <a:lnSpc>
                <a:spcPct val="120000"/>
              </a:lnSpc>
            </a:pPr>
            <a:r>
              <a:rPr sz="950" b="0" i="0">
                <a:solidFill>
                  <a:srgbClr val="333F4F"/>
                </a:solidFill>
                <a:latin typeface="Segoe UI"/>
              </a:rPr>
              <a:t>Reached every gold table it qualifies for.</a:t>
            </a:r>
          </a:p>
          <a:p>
            <a:pPr algn="l">
              <a:lnSpc>
                <a:spcPct val="120000"/>
              </a:lnSpc>
            </a:pPr>
            <a:r>
              <a:rPr sz="950" b="0" i="0">
                <a:solidFill>
                  <a:srgbClr val="333F4F"/>
                </a:solidFill>
                <a:latin typeface="Segoe UI"/>
              </a:rPr>
              <a:t>Totals reconcile exactly (variance $0.00).</a:t>
            </a:r>
          </a:p>
        </p:txBody>
      </p:sp>
      <p:sp>
        <p:nvSpPr>
          <p:cNvPr id="39" name="TextBox 38"/>
          <p:cNvSpPr txBox="1"/>
          <p:nvPr/>
        </p:nvSpPr>
        <p:spPr>
          <a:xfrm>
            <a:off x="7754111" y="2990088"/>
            <a:ext cx="3907231"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Three findings</a:t>
            </a:r>
          </a:p>
        </p:txBody>
      </p:sp>
      <p:sp>
        <p:nvSpPr>
          <p:cNvPr id="40" name="Rectangle 39"/>
          <p:cNvSpPr/>
          <p:nvPr/>
        </p:nvSpPr>
        <p:spPr>
          <a:xfrm>
            <a:off x="7754111" y="3282696"/>
            <a:ext cx="41148" cy="658368"/>
          </a:xfrm>
          <a:prstGeom prst="rect">
            <a:avLst/>
          </a:prstGeom>
          <a:solidFill>
            <a:srgbClr val="B83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36991" y="3300984"/>
            <a:ext cx="3651199" cy="201168"/>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Address fields mis-split</a:t>
            </a:r>
          </a:p>
        </p:txBody>
      </p:sp>
      <p:sp>
        <p:nvSpPr>
          <p:cNvPr id="42" name="TextBox 41"/>
          <p:cNvSpPr txBox="1"/>
          <p:nvPr/>
        </p:nvSpPr>
        <p:spPr>
          <a:xfrm>
            <a:off x="7936991" y="3520439"/>
            <a:ext cx="3651199" cy="402336"/>
          </a:xfrm>
          <a:prstGeom prst="rect">
            <a:avLst/>
          </a:prstGeom>
          <a:noFill/>
        </p:spPr>
        <p:txBody>
          <a:bodyPr wrap="square" lIns="0" rIns="0" tIns="0" bIns="0" anchor="t">
            <a:spAutoFit/>
          </a:bodyPr>
          <a:lstStyle/>
          <a:p>
            <a:pPr algn="l">
              <a:lnSpc>
                <a:spcPct val="115000"/>
              </a:lnSpc>
            </a:pPr>
            <a:r>
              <a:rPr sz="900" b="0" i="0">
                <a:solidFill>
                  <a:srgbClr val="748293"/>
                </a:solidFill>
                <a:latin typeface="Segoe UI"/>
              </a:rPr>
              <a:t>ai_parse_document put part of the Bill To</a:t>
            </a:r>
          </a:p>
          <a:p>
            <a:pPr algn="l">
              <a:lnSpc>
                <a:spcPct val="115000"/>
              </a:lnSpc>
            </a:pPr>
            <a:r>
              <a:rPr sz="900" b="0" i="0">
                <a:solidFill>
                  <a:srgbClr val="748293"/>
                </a:solidFill>
                <a:latin typeface="Segoe UI"/>
              </a:rPr>
              <a:t>address into the Ship To column.</a:t>
            </a:r>
          </a:p>
        </p:txBody>
      </p:sp>
      <p:sp>
        <p:nvSpPr>
          <p:cNvPr id="43" name="Rectangle 42"/>
          <p:cNvSpPr/>
          <p:nvPr/>
        </p:nvSpPr>
        <p:spPr>
          <a:xfrm>
            <a:off x="7754111" y="4059935"/>
            <a:ext cx="41148" cy="658368"/>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36991" y="4078223"/>
            <a:ext cx="3651199" cy="201168"/>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Invoice has no matching PO</a:t>
            </a:r>
          </a:p>
        </p:txBody>
      </p:sp>
      <p:sp>
        <p:nvSpPr>
          <p:cNvPr id="45" name="TextBox 44"/>
          <p:cNvSpPr txBox="1"/>
          <p:nvPr/>
        </p:nvSpPr>
        <p:spPr>
          <a:xfrm>
            <a:off x="7936991" y="4297679"/>
            <a:ext cx="3651199" cy="402336"/>
          </a:xfrm>
          <a:prstGeom prst="rect">
            <a:avLst/>
          </a:prstGeom>
          <a:noFill/>
        </p:spPr>
        <p:txBody>
          <a:bodyPr wrap="square" lIns="0" rIns="0" tIns="0" bIns="0" anchor="t">
            <a:spAutoFit/>
          </a:bodyPr>
          <a:lstStyle/>
          <a:p>
            <a:pPr algn="l">
              <a:lnSpc>
                <a:spcPct val="115000"/>
              </a:lnSpc>
            </a:pPr>
            <a:r>
              <a:rPr sz="900" b="0" i="0">
                <a:solidFill>
                  <a:srgbClr val="748293"/>
                </a:solidFill>
                <a:latin typeface="Segoe UI"/>
              </a:rPr>
              <a:t>Reconciliation returns PO_NOT_FOUND —</a:t>
            </a:r>
          </a:p>
          <a:p>
            <a:pPr algn="l">
              <a:lnSpc>
                <a:spcPct val="115000"/>
              </a:lnSpc>
            </a:pPr>
            <a:r>
              <a:rPr sz="900" b="0" i="0">
                <a:solidFill>
                  <a:srgbClr val="748293"/>
                </a:solidFill>
                <a:latin typeface="Segoe UI"/>
              </a:rPr>
              <a:t>PO-13352 is absent from gold layer.</a:t>
            </a:r>
          </a:p>
        </p:txBody>
      </p:sp>
      <p:sp>
        <p:nvSpPr>
          <p:cNvPr id="46" name="Rectangle 45"/>
          <p:cNvSpPr/>
          <p:nvPr/>
        </p:nvSpPr>
        <p:spPr>
          <a:xfrm>
            <a:off x="7754111" y="4837175"/>
            <a:ext cx="41148" cy="658368"/>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36991" y="4855463"/>
            <a:ext cx="3651199" cy="201168"/>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Local copy ≠ volume copy</a:t>
            </a:r>
          </a:p>
        </p:txBody>
      </p:sp>
      <p:sp>
        <p:nvSpPr>
          <p:cNvPr id="48" name="TextBox 47"/>
          <p:cNvSpPr txBox="1"/>
          <p:nvPr/>
        </p:nvSpPr>
        <p:spPr>
          <a:xfrm>
            <a:off x="7936991" y="5074919"/>
            <a:ext cx="3651199" cy="402336"/>
          </a:xfrm>
          <a:prstGeom prst="rect">
            <a:avLst/>
          </a:prstGeom>
          <a:noFill/>
        </p:spPr>
        <p:txBody>
          <a:bodyPr wrap="square" lIns="0" rIns="0" tIns="0" bIns="0" anchor="t">
            <a:spAutoFit/>
          </a:bodyPr>
          <a:lstStyle/>
          <a:p>
            <a:pPr algn="l">
              <a:lnSpc>
                <a:spcPct val="115000"/>
              </a:lnSpc>
            </a:pPr>
            <a:r>
              <a:rPr sz="900" b="0" i="0">
                <a:solidFill>
                  <a:srgbClr val="748293"/>
                </a:solidFill>
                <a:latin typeface="Segoe UI"/>
              </a:rPr>
              <a:t>sample_data/invoice_10119.pdf differs in</a:t>
            </a:r>
          </a:p>
          <a:p>
            <a:pPr algn="l">
              <a:lnSpc>
                <a:spcPct val="115000"/>
              </a:lnSpc>
            </a:pPr>
            <a:r>
              <a:rPr sz="900" b="0" i="0">
                <a:solidFill>
                  <a:srgbClr val="748293"/>
                </a:solidFill>
                <a:latin typeface="Segoe UI"/>
              </a:rPr>
              <a:t>bytes from the ingested 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A96A2E"/>
                </a:solidFill>
                <a:latin typeface="Segoe UI"/>
              </a:rPr>
              <a:t>STAGE 0  ·  UNITY CATALOG VOLUME</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The source document</a:t>
            </a:r>
          </a:p>
        </p:txBody>
      </p:sp>
      <p:sp>
        <p:nvSpPr>
          <p:cNvPr id="4" name="Rectangle 3"/>
          <p:cNvSpPr/>
          <p:nvPr/>
        </p:nvSpPr>
        <p:spPr>
          <a:xfrm>
            <a:off x="530352" y="1088136"/>
            <a:ext cx="1051560" cy="32004"/>
          </a:xfrm>
          <a:prstGeom prst="rect">
            <a:avLst/>
          </a:prstGeom>
          <a:solidFill>
            <a:srgbClr val="A9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2</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Rectangle 6"/>
          <p:cNvSpPr/>
          <p:nvPr/>
        </p:nvSpPr>
        <p:spPr>
          <a:xfrm>
            <a:off x="502919" y="1545336"/>
            <a:ext cx="5084064" cy="4017984"/>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nvoice_crop.png"/>
          <p:cNvPicPr>
            <a:picLocks noChangeAspect="1"/>
          </p:cNvPicPr>
          <p:nvPr/>
        </p:nvPicPr>
        <p:blipFill>
          <a:blip r:embed="rId2"/>
          <a:stretch>
            <a:fillRect/>
          </a:stretch>
        </p:blipFill>
        <p:spPr>
          <a:xfrm>
            <a:off x="530352" y="1572768"/>
            <a:ext cx="5029200" cy="3964680"/>
          </a:xfrm>
          <a:prstGeom prst="rect">
            <a:avLst/>
          </a:prstGeom>
        </p:spPr>
      </p:pic>
      <p:sp>
        <p:nvSpPr>
          <p:cNvPr id="9" name="TextBox 8"/>
          <p:cNvSpPr txBox="1"/>
          <p:nvPr/>
        </p:nvSpPr>
        <p:spPr>
          <a:xfrm>
            <a:off x="530352" y="5673048"/>
            <a:ext cx="5029200" cy="219456"/>
          </a:xfrm>
          <a:prstGeom prst="rect">
            <a:avLst/>
          </a:prstGeom>
          <a:noFill/>
        </p:spPr>
        <p:txBody>
          <a:bodyPr wrap="square" lIns="0" rIns="0" tIns="0" bIns="0" anchor="t">
            <a:spAutoFit/>
          </a:bodyPr>
          <a:lstStyle/>
          <a:p>
            <a:pPr algn="l">
              <a:lnSpc>
                <a:spcPct val="100000"/>
              </a:lnSpc>
            </a:pPr>
            <a:r>
              <a:rPr sz="900" b="0" i="1">
                <a:solidFill>
                  <a:srgbClr val="748293"/>
                </a:solidFill>
                <a:latin typeface="Segoe UI"/>
              </a:rPr>
              <a:t>Page 1 of 1, rendered from the file stored in the volume</a:t>
            </a:r>
          </a:p>
        </p:txBody>
      </p:sp>
      <p:sp>
        <p:nvSpPr>
          <p:cNvPr id="10" name="TextBox 9"/>
          <p:cNvSpPr txBox="1"/>
          <p:nvPr/>
        </p:nvSpPr>
        <p:spPr>
          <a:xfrm>
            <a:off x="6016752" y="1289304"/>
            <a:ext cx="5644591"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Volume file metadata</a:t>
            </a:r>
          </a:p>
        </p:txBody>
      </p:sp>
      <p:sp>
        <p:nvSpPr>
          <p:cNvPr id="11" name="Rectangle 10"/>
          <p:cNvSpPr/>
          <p:nvPr/>
        </p:nvSpPr>
        <p:spPr>
          <a:xfrm>
            <a:off x="6016752" y="1581912"/>
            <a:ext cx="5644591" cy="2066544"/>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44768" y="1700784"/>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Path</a:t>
            </a:r>
          </a:p>
        </p:txBody>
      </p:sp>
      <p:sp>
        <p:nvSpPr>
          <p:cNvPr id="13" name="TextBox 12"/>
          <p:cNvSpPr txBox="1"/>
          <p:nvPr/>
        </p:nvSpPr>
        <p:spPr>
          <a:xfrm>
            <a:off x="8387480" y="1700784"/>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…/raw_documents/incoming/</a:t>
            </a:r>
          </a:p>
        </p:txBody>
      </p:sp>
      <p:sp>
        <p:nvSpPr>
          <p:cNvPr id="14" name="Rectangle 13"/>
          <p:cNvSpPr/>
          <p:nvPr/>
        </p:nvSpPr>
        <p:spPr>
          <a:xfrm>
            <a:off x="6108192" y="1929384"/>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44768" y="197510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File name</a:t>
            </a:r>
          </a:p>
        </p:txBody>
      </p:sp>
      <p:sp>
        <p:nvSpPr>
          <p:cNvPr id="16" name="TextBox 15"/>
          <p:cNvSpPr txBox="1"/>
          <p:nvPr/>
        </p:nvSpPr>
        <p:spPr>
          <a:xfrm>
            <a:off x="8387480" y="197510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invoice_10119.pdf</a:t>
            </a:r>
          </a:p>
        </p:txBody>
      </p:sp>
      <p:sp>
        <p:nvSpPr>
          <p:cNvPr id="17" name="Rectangle 16"/>
          <p:cNvSpPr/>
          <p:nvPr/>
        </p:nvSpPr>
        <p:spPr>
          <a:xfrm>
            <a:off x="6108192" y="2203703"/>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4768" y="224942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Extension</a:t>
            </a:r>
          </a:p>
        </p:txBody>
      </p:sp>
      <p:sp>
        <p:nvSpPr>
          <p:cNvPr id="19" name="TextBox 18"/>
          <p:cNvSpPr txBox="1"/>
          <p:nvPr/>
        </p:nvSpPr>
        <p:spPr>
          <a:xfrm>
            <a:off x="8387480" y="224942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pdf</a:t>
            </a:r>
          </a:p>
        </p:txBody>
      </p:sp>
      <p:sp>
        <p:nvSpPr>
          <p:cNvPr id="20" name="Rectangle 19"/>
          <p:cNvSpPr/>
          <p:nvPr/>
        </p:nvSpPr>
        <p:spPr>
          <a:xfrm>
            <a:off x="6108192" y="2478023"/>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44768" y="252374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Size on volume</a:t>
            </a:r>
          </a:p>
        </p:txBody>
      </p:sp>
      <p:sp>
        <p:nvSpPr>
          <p:cNvPr id="22" name="TextBox 21"/>
          <p:cNvSpPr txBox="1"/>
          <p:nvPr/>
        </p:nvSpPr>
        <p:spPr>
          <a:xfrm>
            <a:off x="8387480" y="252374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3,141 bytes</a:t>
            </a:r>
          </a:p>
        </p:txBody>
      </p:sp>
      <p:sp>
        <p:nvSpPr>
          <p:cNvPr id="23" name="Rectangle 22"/>
          <p:cNvSpPr/>
          <p:nvPr/>
        </p:nvSpPr>
        <p:spPr>
          <a:xfrm>
            <a:off x="6108192" y="2752343"/>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4768" y="279806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Last modified</a:t>
            </a:r>
          </a:p>
        </p:txBody>
      </p:sp>
      <p:sp>
        <p:nvSpPr>
          <p:cNvPr id="25" name="TextBox 24"/>
          <p:cNvSpPr txBox="1"/>
          <p:nvPr/>
        </p:nvSpPr>
        <p:spPr>
          <a:xfrm>
            <a:off x="8387480" y="279806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12:35:09</a:t>
            </a:r>
          </a:p>
        </p:txBody>
      </p:sp>
      <p:sp>
        <p:nvSpPr>
          <p:cNvPr id="26" name="Rectangle 25"/>
          <p:cNvSpPr/>
          <p:nvPr/>
        </p:nvSpPr>
        <p:spPr>
          <a:xfrm>
            <a:off x="6108192" y="3026663"/>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4768" y="307238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Pages</a:t>
            </a:r>
          </a:p>
        </p:txBody>
      </p:sp>
      <p:sp>
        <p:nvSpPr>
          <p:cNvPr id="28" name="TextBox 27"/>
          <p:cNvSpPr txBox="1"/>
          <p:nvPr/>
        </p:nvSpPr>
        <p:spPr>
          <a:xfrm>
            <a:off x="8387480" y="307238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1</a:t>
            </a:r>
          </a:p>
        </p:txBody>
      </p:sp>
      <p:sp>
        <p:nvSpPr>
          <p:cNvPr id="29" name="Rectangle 28"/>
          <p:cNvSpPr/>
          <p:nvPr/>
        </p:nvSpPr>
        <p:spPr>
          <a:xfrm>
            <a:off x="6108192" y="3300983"/>
            <a:ext cx="5461711"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4768" y="3346703"/>
            <a:ext cx="2187848" cy="219456"/>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Page size</a:t>
            </a:r>
          </a:p>
        </p:txBody>
      </p:sp>
      <p:sp>
        <p:nvSpPr>
          <p:cNvPr id="31" name="TextBox 30"/>
          <p:cNvSpPr txBox="1"/>
          <p:nvPr/>
        </p:nvSpPr>
        <p:spPr>
          <a:xfrm>
            <a:off x="8387480" y="3346703"/>
            <a:ext cx="3127558"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612 × 792 pt (US Letter)</a:t>
            </a:r>
          </a:p>
        </p:txBody>
      </p:sp>
      <p:sp>
        <p:nvSpPr>
          <p:cNvPr id="32" name="TextBox 31"/>
          <p:cNvSpPr txBox="1"/>
          <p:nvPr/>
        </p:nvSpPr>
        <p:spPr>
          <a:xfrm>
            <a:off x="6016752" y="3721608"/>
            <a:ext cx="5644591" cy="228600"/>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Identity is content-derived</a:t>
            </a:r>
          </a:p>
        </p:txBody>
      </p:sp>
      <p:sp>
        <p:nvSpPr>
          <p:cNvPr id="33" name="Rectangle 32"/>
          <p:cNvSpPr/>
          <p:nvPr/>
        </p:nvSpPr>
        <p:spPr>
          <a:xfrm>
            <a:off x="6016752" y="4014215"/>
            <a:ext cx="5644591" cy="1133856"/>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9632" y="4160520"/>
            <a:ext cx="5278831" cy="201168"/>
          </a:xfrm>
          <a:prstGeom prst="rect">
            <a:avLst/>
          </a:prstGeom>
          <a:noFill/>
        </p:spPr>
        <p:txBody>
          <a:bodyPr wrap="square" lIns="0" rIns="0" tIns="0" bIns="0" anchor="t">
            <a:spAutoFit/>
          </a:bodyPr>
          <a:lstStyle/>
          <a:p>
            <a:pPr algn="l">
              <a:lnSpc>
                <a:spcPct val="100000"/>
              </a:lnSpc>
            </a:pPr>
            <a:r>
              <a:rPr sz="950" b="0" i="0">
                <a:solidFill>
                  <a:srgbClr val="333F4F"/>
                </a:solidFill>
                <a:latin typeface="Consolas"/>
              </a:rPr>
              <a:t>document_id = sha2(document_content, 256)</a:t>
            </a:r>
          </a:p>
        </p:txBody>
      </p:sp>
      <p:sp>
        <p:nvSpPr>
          <p:cNvPr id="35" name="TextBox 34"/>
          <p:cNvSpPr txBox="1"/>
          <p:nvPr/>
        </p:nvSpPr>
        <p:spPr>
          <a:xfrm>
            <a:off x="6199632" y="4434840"/>
            <a:ext cx="5278831" cy="457200"/>
          </a:xfrm>
          <a:prstGeom prst="rect">
            <a:avLst/>
          </a:prstGeom>
          <a:noFill/>
        </p:spPr>
        <p:txBody>
          <a:bodyPr wrap="square" lIns="0" rIns="0" tIns="0" bIns="0" anchor="t">
            <a:spAutoFit/>
          </a:bodyPr>
          <a:lstStyle/>
          <a:p>
            <a:pPr algn="l">
              <a:lnSpc>
                <a:spcPct val="118000"/>
              </a:lnSpc>
            </a:pPr>
            <a:r>
              <a:rPr sz="950" b="1" i="0">
                <a:solidFill>
                  <a:srgbClr val="0E1B2E"/>
                </a:solidFill>
                <a:latin typeface="Consolas"/>
              </a:rPr>
              <a:t>82cab592043beee3a078eb35e3e7be0f</a:t>
            </a:r>
          </a:p>
          <a:p>
            <a:pPr algn="l">
              <a:lnSpc>
                <a:spcPct val="118000"/>
              </a:lnSpc>
            </a:pPr>
            <a:r>
              <a:rPr sz="950" b="1" i="0">
                <a:solidFill>
                  <a:srgbClr val="0E1B2E"/>
                </a:solidFill>
                <a:latin typeface="Consolas"/>
              </a:rPr>
              <a:t>2eb97e1654169567486bcf17b5da06df</a:t>
            </a:r>
          </a:p>
        </p:txBody>
      </p:sp>
      <p:sp>
        <p:nvSpPr>
          <p:cNvPr id="36" name="TextBox 35"/>
          <p:cNvSpPr txBox="1"/>
          <p:nvPr/>
        </p:nvSpPr>
        <p:spPr>
          <a:xfrm>
            <a:off x="6199632" y="4892040"/>
            <a:ext cx="5278831" cy="201168"/>
          </a:xfrm>
          <a:prstGeom prst="rect">
            <a:avLst/>
          </a:prstGeom>
          <a:noFill/>
        </p:spPr>
        <p:txBody>
          <a:bodyPr wrap="square" lIns="0" rIns="0" tIns="0" bIns="0" anchor="t">
            <a:spAutoFit/>
          </a:bodyPr>
          <a:lstStyle/>
          <a:p>
            <a:pPr algn="l">
              <a:lnSpc>
                <a:spcPct val="100000"/>
              </a:lnSpc>
            </a:pPr>
            <a:r>
              <a:rPr sz="900" b="0" i="1">
                <a:solidFill>
                  <a:srgbClr val="1B8253"/>
                </a:solidFill>
                <a:latin typeface="Segoe UI"/>
              </a:rPr>
              <a:t>Verified — matches the downloaded volume file exactly.</a:t>
            </a:r>
          </a:p>
        </p:txBody>
      </p:sp>
      <p:sp>
        <p:nvSpPr>
          <p:cNvPr id="37" name="Rectangle 36"/>
          <p:cNvSpPr/>
          <p:nvPr/>
        </p:nvSpPr>
        <p:spPr>
          <a:xfrm>
            <a:off x="6016752" y="5202936"/>
            <a:ext cx="5644591" cy="969264"/>
          </a:xfrm>
          <a:prstGeom prst="rect">
            <a:avLst/>
          </a:prstGeom>
          <a:solidFill>
            <a:srgbClr val="FEF6E8"/>
          </a:solidFill>
          <a:ln w="9525">
            <a:solidFill>
              <a:srgbClr val="F0DA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16752" y="5202936"/>
            <a:ext cx="45720" cy="969264"/>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36208" y="5349240"/>
            <a:ext cx="5205679" cy="201168"/>
          </a:xfrm>
          <a:prstGeom prst="rect">
            <a:avLst/>
          </a:prstGeom>
          <a:noFill/>
        </p:spPr>
        <p:txBody>
          <a:bodyPr wrap="square" lIns="0" rIns="0" tIns="0" bIns="0" anchor="t">
            <a:spAutoFit/>
          </a:bodyPr>
          <a:lstStyle/>
          <a:p>
            <a:pPr algn="l">
              <a:lnSpc>
                <a:spcPct val="100000"/>
              </a:lnSpc>
            </a:pPr>
            <a:r>
              <a:rPr sz="1000" b="1" i="0">
                <a:solidFill>
                  <a:srgbClr val="C67C08"/>
                </a:solidFill>
                <a:latin typeface="Segoe UI"/>
              </a:rPr>
              <a:t>The repo copy is a different file</a:t>
            </a:r>
          </a:p>
        </p:txBody>
      </p:sp>
      <p:sp>
        <p:nvSpPr>
          <p:cNvPr id="40" name="TextBox 39"/>
          <p:cNvSpPr txBox="1"/>
          <p:nvPr/>
        </p:nvSpPr>
        <p:spPr>
          <a:xfrm>
            <a:off x="6236208" y="5586983"/>
            <a:ext cx="5205679" cy="548640"/>
          </a:xfrm>
          <a:prstGeom prst="rect">
            <a:avLst/>
          </a:prstGeom>
          <a:noFill/>
        </p:spPr>
        <p:txBody>
          <a:bodyPr wrap="square" lIns="0" rIns="0" tIns="0" bIns="0" anchor="t">
            <a:spAutoFit/>
          </a:bodyPr>
          <a:lstStyle/>
          <a:p>
            <a:pPr algn="l">
              <a:lnSpc>
                <a:spcPct val="124000"/>
              </a:lnSpc>
            </a:pPr>
            <a:r>
              <a:rPr sz="900" b="0" i="0">
                <a:solidFill>
                  <a:srgbClr val="333F4F"/>
                </a:solidFill>
                <a:latin typeface="Segoe UI"/>
              </a:rPr>
              <a:t>sample_data/invoice_10119.pdf is 3,215 bytes with SHA-256</a:t>
            </a:r>
          </a:p>
          <a:p>
            <a:pPr algn="l">
              <a:lnSpc>
                <a:spcPct val="124000"/>
              </a:lnSpc>
            </a:pPr>
            <a:r>
              <a:rPr sz="900" b="0" i="0">
                <a:solidFill>
                  <a:srgbClr val="333F4F"/>
                </a:solidFill>
                <a:latin typeface="Segoe UI"/>
              </a:rPr>
              <a:t>7fae6805… — the same invoice, but different bytes, so it would</a:t>
            </a:r>
          </a:p>
          <a:p>
            <a:pPr algn="l">
              <a:lnSpc>
                <a:spcPct val="124000"/>
              </a:lnSpc>
            </a:pPr>
            <a:r>
              <a:rPr sz="900" b="0" i="0">
                <a:solidFill>
                  <a:srgbClr val="333F4F"/>
                </a:solidFill>
                <a:latin typeface="Segoe UI"/>
              </a:rPr>
              <a:t>hash to a new document_id rather than match this row.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COVERAGE  ·  ALL 12 PIPELINE TABLES</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Where this document appears</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3</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74320"/>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Every table in idp_test_dev.idp_test_project was queried for this document_id. Zero-row results are by design, not gaps.</a:t>
            </a:r>
          </a:p>
        </p:txBody>
      </p:sp>
      <p:graphicFrame>
        <p:nvGraphicFramePr>
          <p:cNvPr id="8" name="Table 7"/>
          <p:cNvGraphicFramePr>
            <a:graphicFrameLocks noGrp="1"/>
          </p:cNvGraphicFramePr>
          <p:nvPr/>
        </p:nvGraphicFramePr>
        <p:xfrm>
          <a:off x="530352" y="1709928"/>
          <a:ext cx="11130987" cy="4458604"/>
        </p:xfrm>
        <a:graphic>
          <a:graphicData uri="http://schemas.openxmlformats.org/drawingml/2006/table">
            <a:tbl>
              <a:tblPr firstRow="1">
                <a:tableStyleId>{5C22544A-7EE6-4342-B048-85BDC9FD1C3A}</a:tableStyleId>
              </a:tblPr>
              <a:tblGrid>
                <a:gridCol w="403296"/>
                <a:gridCol w="3387692"/>
                <a:gridCol w="1693846"/>
                <a:gridCol w="887252"/>
                <a:gridCol w="1532527"/>
                <a:gridCol w="3226374"/>
              </a:tblGrid>
              <a:tr h="376732">
                <a:tc>
                  <a:txBody>
                    <a:bodyPr wrap="square"/>
                    <a:lstStyle/>
                    <a:p>
                      <a:pPr algn="l"/>
                      <a:r>
                        <a:rPr sz="950" b="1">
                          <a:solidFill>
                            <a:srgbClr val="FFFFFF"/>
                          </a:solidFill>
                          <a:latin typeface="Segoe UI"/>
                        </a:rPr>
                        <a:t>#</a:t>
                      </a:r>
                    </a:p>
                  </a:txBody>
                  <a:tcPr marL="64008" marR="64008" marT="18288" marB="18288" anchor="ctr">
                    <a:solidFill>
                      <a:srgbClr val="0E1B2E"/>
                    </a:solidFill>
                  </a:tcPr>
                </a:tc>
                <a:tc>
                  <a:txBody>
                    <a:bodyPr wrap="square"/>
                    <a:lstStyle/>
                    <a:p>
                      <a:pPr algn="l"/>
                      <a:r>
                        <a:rPr sz="950" b="1">
                          <a:solidFill>
                            <a:srgbClr val="FFFFFF"/>
                          </a:solidFill>
                          <a:latin typeface="Segoe UI"/>
                        </a:rPr>
                        <a:t>Table</a:t>
                      </a:r>
                    </a:p>
                  </a:txBody>
                  <a:tcPr marL="64008" marR="64008" marT="18288" marB="18288" anchor="ctr">
                    <a:solidFill>
                      <a:srgbClr val="0E1B2E"/>
                    </a:solidFill>
                  </a:tcPr>
                </a:tc>
                <a:tc>
                  <a:txBody>
                    <a:bodyPr wrap="square"/>
                    <a:lstStyle/>
                    <a:p>
                      <a:pPr algn="l"/>
                      <a:r>
                        <a:rPr sz="950" b="1">
                          <a:solidFill>
                            <a:srgbClr val="FFFFFF"/>
                          </a:solidFill>
                          <a:latin typeface="Segoe UI"/>
                        </a:rPr>
                        <a:t>Type</a:t>
                      </a:r>
                    </a:p>
                  </a:txBody>
                  <a:tcPr marL="64008" marR="64008" marT="18288" marB="18288" anchor="ctr">
                    <a:solidFill>
                      <a:srgbClr val="0E1B2E"/>
                    </a:solidFill>
                  </a:tcPr>
                </a:tc>
                <a:tc>
                  <a:txBody>
                    <a:bodyPr wrap="square"/>
                    <a:lstStyle/>
                    <a:p>
                      <a:pPr algn="l"/>
                      <a:r>
                        <a:rPr sz="950" b="1">
                          <a:solidFill>
                            <a:srgbClr val="FFFFFF"/>
                          </a:solidFill>
                          <a:latin typeface="Segoe UI"/>
                        </a:rPr>
                        <a:t>Layer</a:t>
                      </a:r>
                    </a:p>
                  </a:txBody>
                  <a:tcPr marL="64008" marR="64008" marT="18288" marB="18288" anchor="ctr">
                    <a:solidFill>
                      <a:srgbClr val="0E1B2E"/>
                    </a:solidFill>
                  </a:tcPr>
                </a:tc>
                <a:tc>
                  <a:txBody>
                    <a:bodyPr wrap="square"/>
                    <a:lstStyle/>
                    <a:p>
                      <a:pPr algn="l"/>
                      <a:r>
                        <a:rPr sz="950" b="1">
                          <a:solidFill>
                            <a:srgbClr val="FFFFFF"/>
                          </a:solidFill>
                          <a:latin typeface="Segoe UI"/>
                        </a:rPr>
                        <a:t>Rows for this doc</a:t>
                      </a:r>
                    </a:p>
                  </a:txBody>
                  <a:tcPr marL="64008" marR="64008" marT="18288" marB="18288" anchor="ctr">
                    <a:solidFill>
                      <a:srgbClr val="0E1B2E"/>
                    </a:solidFill>
                  </a:tcPr>
                </a:tc>
                <a:tc>
                  <a:txBody>
                    <a:bodyPr wrap="square"/>
                    <a:lstStyle/>
                    <a:p>
                      <a:pPr algn="l"/>
                      <a:r>
                        <a:rPr sz="950" b="1">
                          <a:solidFill>
                            <a:srgbClr val="FFFFFF"/>
                          </a:solidFill>
                          <a:latin typeface="Segoe UI"/>
                        </a:rPr>
                        <a:t>Meaning</a:t>
                      </a:r>
                    </a:p>
                  </a:txBody>
                  <a:tcPr marL="64008" marR="64008" marT="18288" marB="18288" anchor="ctr">
                    <a:solidFill>
                      <a:srgbClr val="0E1B2E"/>
                    </a:solidFill>
                  </a:tcPr>
                </a:tc>
              </a:tr>
              <a:tr h="340156">
                <a:tc>
                  <a:txBody>
                    <a:bodyPr wrap="square"/>
                    <a:lstStyle/>
                    <a:p>
                      <a:pPr algn="ctr"/>
                      <a:r>
                        <a:rPr sz="1000" b="0">
                          <a:solidFill>
                            <a:srgbClr val="333F4F"/>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bronze_documents</a:t>
                      </a:r>
                    </a:p>
                  </a:txBody>
                  <a:tcPr marL="64008" marR="64008" marT="18288" marB="18288" anchor="ctr">
                    <a:solidFill>
                      <a:srgbClr val="FFFFFF"/>
                    </a:solidFill>
                  </a:tcPr>
                </a:tc>
                <a:tc>
                  <a:txBody>
                    <a:bodyPr wrap="square"/>
                    <a:lstStyle/>
                    <a:p>
                      <a:pPr algn="l"/>
                      <a:r>
                        <a:rPr sz="1000" b="0">
                          <a:solidFill>
                            <a:srgbClr val="333F4F"/>
                          </a:solidFill>
                          <a:latin typeface="Segoe UI"/>
                        </a:rPr>
                        <a:t>Streaming table</a:t>
                      </a:r>
                    </a:p>
                  </a:txBody>
                  <a:tcPr marL="64008" marR="64008" marT="18288" marB="18288" anchor="ctr">
                    <a:solidFill>
                      <a:srgbClr val="FFFFFF"/>
                    </a:solidFill>
                  </a:tcPr>
                </a:tc>
                <a:tc>
                  <a:txBody>
                    <a:bodyPr wrap="square"/>
                    <a:lstStyle/>
                    <a:p>
                      <a:pPr algn="l"/>
                      <a:r>
                        <a:rPr sz="1000" b="1">
                          <a:solidFill>
                            <a:srgbClr val="A96A2E"/>
                          </a:solidFill>
                          <a:latin typeface="Segoe UI"/>
                        </a:rPr>
                        <a:t>Bronze</a:t>
                      </a:r>
                    </a:p>
                  </a:txBody>
                  <a:tcPr marL="64008" marR="64008" marT="18288" marB="18288" anchor="ctr">
                    <a:solidFill>
                      <a:srgbClr val="FFFFFF"/>
                    </a:solidFill>
                  </a:tcPr>
                </a:tc>
                <a:tc>
                  <a:txBody>
                    <a:bodyPr wrap="square"/>
                    <a:lstStyle/>
                    <a:p>
                      <a:pPr algn="ctr"/>
                      <a:r>
                        <a:rPr sz="1000" b="1">
                          <a:solidFill>
                            <a:srgbClr val="1B8253"/>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Raw binary + file metadata</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2</a:t>
                      </a:r>
                    </a:p>
                  </a:txBody>
                  <a:tcPr marL="64008" marR="64008" marT="18288" marB="18288" anchor="ctr">
                    <a:solidFill>
                      <a:srgbClr val="F4F7FA"/>
                    </a:solidFill>
                  </a:tcPr>
                </a:tc>
                <a:tc>
                  <a:txBody>
                    <a:bodyPr wrap="square"/>
                    <a:lstStyle/>
                    <a:p>
                      <a:pPr algn="l"/>
                      <a:r>
                        <a:rPr sz="1000" b="0">
                          <a:solidFill>
                            <a:srgbClr val="333F4F"/>
                          </a:solidFill>
                          <a:latin typeface="Segoe UI"/>
                        </a:rPr>
                        <a:t>silver_parsed_documents</a:t>
                      </a:r>
                    </a:p>
                  </a:txBody>
                  <a:tcPr marL="64008" marR="64008" marT="18288" marB="18288" anchor="ctr">
                    <a:solidFill>
                      <a:srgbClr val="F4F7FA"/>
                    </a:solidFill>
                  </a:tcPr>
                </a:tc>
                <a:tc>
                  <a:txBody>
                    <a:bodyPr wrap="square"/>
                    <a:lstStyle/>
                    <a:p>
                      <a:pPr algn="l"/>
                      <a:r>
                        <a:rPr sz="1000" b="0">
                          <a:solidFill>
                            <a:srgbClr val="333F4F"/>
                          </a:solidFill>
                          <a:latin typeface="Segoe UI"/>
                        </a:rPr>
                        <a:t>Streaming table</a:t>
                      </a:r>
                    </a:p>
                  </a:txBody>
                  <a:tcPr marL="64008" marR="64008" marT="18288" marB="18288" anchor="ctr">
                    <a:solidFill>
                      <a:srgbClr val="F4F7FA"/>
                    </a:solidFill>
                  </a:tcPr>
                </a:tc>
                <a:tc>
                  <a:txBody>
                    <a:bodyPr wrap="square"/>
                    <a:lstStyle/>
                    <a:p>
                      <a:pPr algn="l"/>
                      <a:r>
                        <a:rPr sz="1000" b="1">
                          <a:solidFill>
                            <a:srgbClr val="6E8296"/>
                          </a:solidFill>
                          <a:latin typeface="Segoe UI"/>
                        </a:rPr>
                        <a:t>Silver</a:t>
                      </a:r>
                    </a:p>
                  </a:txBody>
                  <a:tcPr marL="64008" marR="64008" marT="18288" marB="18288" anchor="ctr">
                    <a:solidFill>
                      <a:srgbClr val="F4F7FA"/>
                    </a:solidFill>
                  </a:tcPr>
                </a:tc>
                <a:tc>
                  <a:txBody>
                    <a:bodyPr wrap="square"/>
                    <a:lstStyle/>
                    <a:p>
                      <a:pPr algn="ctr"/>
                      <a:r>
                        <a:rPr sz="1000" b="1">
                          <a:solidFill>
                            <a:srgbClr val="1B8253"/>
                          </a:solidFill>
                          <a:latin typeface="Segoe UI"/>
                        </a:rPr>
                        <a:t>1</a:t>
                      </a:r>
                    </a:p>
                  </a:txBody>
                  <a:tcPr marL="64008" marR="64008" marT="18288" marB="18288" anchor="ctr">
                    <a:solidFill>
                      <a:srgbClr val="F4F7FA"/>
                    </a:solidFill>
                  </a:tcPr>
                </a:tc>
                <a:tc>
                  <a:txBody>
                    <a:bodyPr wrap="square"/>
                    <a:lstStyle/>
                    <a:p>
                      <a:pPr algn="l"/>
                      <a:r>
                        <a:rPr sz="1000" b="0">
                          <a:solidFill>
                            <a:srgbClr val="333F4F"/>
                          </a:solidFill>
                          <a:latin typeface="Segoe UI"/>
                        </a:rPr>
                        <a:t>ai_parse_document output</a:t>
                      </a:r>
                    </a:p>
                  </a:txBody>
                  <a:tcPr marL="64008" marR="64008" marT="18288" marB="18288" anchor="ctr">
                    <a:solidFill>
                      <a:srgbClr val="F4F7FA"/>
                    </a:solidFill>
                  </a:tcPr>
                </a:tc>
              </a:tr>
              <a:tr h="340156">
                <a:tc>
                  <a:txBody>
                    <a:bodyPr wrap="square"/>
                    <a:lstStyle/>
                    <a:p>
                      <a:pPr algn="ctr"/>
                      <a:r>
                        <a:rPr sz="1000" b="0">
                          <a:solidFill>
                            <a:srgbClr val="333F4F"/>
                          </a:solidFill>
                          <a:latin typeface="Segoe UI"/>
                        </a:rPr>
                        <a:t>3</a:t>
                      </a:r>
                    </a:p>
                  </a:txBody>
                  <a:tcPr marL="64008" marR="64008" marT="18288" marB="18288" anchor="ctr">
                    <a:solidFill>
                      <a:srgbClr val="FFFFFF"/>
                    </a:solidFill>
                  </a:tcPr>
                </a:tc>
                <a:tc>
                  <a:txBody>
                    <a:bodyPr wrap="square"/>
                    <a:lstStyle/>
                    <a:p>
                      <a:pPr algn="l"/>
                      <a:r>
                        <a:rPr sz="1000" b="0">
                          <a:solidFill>
                            <a:srgbClr val="333F4F"/>
                          </a:solidFill>
                          <a:latin typeface="Segoe UI"/>
                        </a:rPr>
                        <a:t>silver_extracted_documents</a:t>
                      </a:r>
                    </a:p>
                  </a:txBody>
                  <a:tcPr marL="64008" marR="64008" marT="18288" marB="18288" anchor="ctr">
                    <a:solidFill>
                      <a:srgbClr val="FFFFFF"/>
                    </a:solidFill>
                  </a:tcPr>
                </a:tc>
                <a:tc>
                  <a:txBody>
                    <a:bodyPr wrap="square"/>
                    <a:lstStyle/>
                    <a:p>
                      <a:pPr algn="l"/>
                      <a:r>
                        <a:rPr sz="1000" b="0">
                          <a:solidFill>
                            <a:srgbClr val="333F4F"/>
                          </a:solidFill>
                          <a:latin typeface="Segoe UI"/>
                        </a:rPr>
                        <a:t>Streaming table</a:t>
                      </a:r>
                    </a:p>
                  </a:txBody>
                  <a:tcPr marL="64008" marR="64008" marT="18288" marB="18288" anchor="ctr">
                    <a:solidFill>
                      <a:srgbClr val="FFFFFF"/>
                    </a:solidFill>
                  </a:tcPr>
                </a:tc>
                <a:tc>
                  <a:txBody>
                    <a:bodyPr wrap="square"/>
                    <a:lstStyle/>
                    <a:p>
                      <a:pPr algn="l"/>
                      <a:r>
                        <a:rPr sz="1000" b="1">
                          <a:solidFill>
                            <a:srgbClr val="6E8296"/>
                          </a:solidFill>
                          <a:latin typeface="Segoe UI"/>
                        </a:rPr>
                        <a:t>Silver</a:t>
                      </a:r>
                    </a:p>
                  </a:txBody>
                  <a:tcPr marL="64008" marR="64008" marT="18288" marB="18288" anchor="ctr">
                    <a:solidFill>
                      <a:srgbClr val="FFFFFF"/>
                    </a:solidFill>
                  </a:tcPr>
                </a:tc>
                <a:tc>
                  <a:txBody>
                    <a:bodyPr wrap="square"/>
                    <a:lstStyle/>
                    <a:p>
                      <a:pPr algn="ctr"/>
                      <a:r>
                        <a:rPr sz="1000" b="1">
                          <a:solidFill>
                            <a:srgbClr val="1B8253"/>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ai_extract output</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4</a:t>
                      </a:r>
                    </a:p>
                  </a:txBody>
                  <a:tcPr marL="64008" marR="64008" marT="18288" marB="18288" anchor="ctr">
                    <a:solidFill>
                      <a:srgbClr val="F4F7FA"/>
                    </a:solidFill>
                  </a:tcPr>
                </a:tc>
                <a:tc>
                  <a:txBody>
                    <a:bodyPr wrap="square"/>
                    <a:lstStyle/>
                    <a:p>
                      <a:pPr algn="l"/>
                      <a:r>
                        <a:rPr sz="1000" b="0">
                          <a:solidFill>
                            <a:srgbClr val="333F4F"/>
                          </a:solidFill>
                          <a:latin typeface="Segoe UI"/>
                        </a:rPr>
                        <a:t>silver_documents</a:t>
                      </a:r>
                    </a:p>
                  </a:txBody>
                  <a:tcPr marL="64008" marR="64008" marT="18288" marB="18288" anchor="ctr">
                    <a:solidFill>
                      <a:srgbClr val="F4F7FA"/>
                    </a:solidFill>
                  </a:tcPr>
                </a:tc>
                <a:tc>
                  <a:txBody>
                    <a:bodyPr wrap="square"/>
                    <a:lstStyle/>
                    <a:p>
                      <a:pPr algn="l"/>
                      <a:r>
                        <a:rPr sz="1000" b="0">
                          <a:solidFill>
                            <a:srgbClr val="333F4F"/>
                          </a:solidFill>
                          <a:latin typeface="Segoe UI"/>
                        </a:rPr>
                        <a:t>Streaming table</a:t>
                      </a:r>
                    </a:p>
                  </a:txBody>
                  <a:tcPr marL="64008" marR="64008" marT="18288" marB="18288" anchor="ctr">
                    <a:solidFill>
                      <a:srgbClr val="F4F7FA"/>
                    </a:solidFill>
                  </a:tcPr>
                </a:tc>
                <a:tc>
                  <a:txBody>
                    <a:bodyPr wrap="square"/>
                    <a:lstStyle/>
                    <a:p>
                      <a:pPr algn="l"/>
                      <a:r>
                        <a:rPr sz="1000" b="1">
                          <a:solidFill>
                            <a:srgbClr val="6E8296"/>
                          </a:solidFill>
                          <a:latin typeface="Segoe UI"/>
                        </a:rPr>
                        <a:t>Silver</a:t>
                      </a:r>
                    </a:p>
                  </a:txBody>
                  <a:tcPr marL="64008" marR="64008" marT="18288" marB="18288" anchor="ctr">
                    <a:solidFill>
                      <a:srgbClr val="F4F7FA"/>
                    </a:solidFill>
                  </a:tcPr>
                </a:tc>
                <a:tc>
                  <a:txBody>
                    <a:bodyPr wrap="square"/>
                    <a:lstStyle/>
                    <a:p>
                      <a:pPr algn="ctr"/>
                      <a:r>
                        <a:rPr sz="1000" b="1">
                          <a:solidFill>
                            <a:srgbClr val="1B8253"/>
                          </a:solidFill>
                          <a:latin typeface="Segoe UI"/>
                        </a:rPr>
                        <a:t>1</a:t>
                      </a:r>
                    </a:p>
                  </a:txBody>
                  <a:tcPr marL="64008" marR="64008" marT="18288" marB="18288" anchor="ctr">
                    <a:solidFill>
                      <a:srgbClr val="F4F7FA"/>
                    </a:solidFill>
                  </a:tcPr>
                </a:tc>
                <a:tc>
                  <a:txBody>
                    <a:bodyPr wrap="square"/>
                    <a:lstStyle/>
                    <a:p>
                      <a:pPr algn="l"/>
                      <a:r>
                        <a:rPr sz="1000" b="0">
                          <a:solidFill>
                            <a:srgbClr val="333F4F"/>
                          </a:solidFill>
                          <a:latin typeface="Segoe UI"/>
                        </a:rPr>
                        <a:t>Normalised + validated header</a:t>
                      </a:r>
                    </a:p>
                  </a:txBody>
                  <a:tcPr marL="64008" marR="64008" marT="18288" marB="18288" anchor="ctr">
                    <a:solidFill>
                      <a:srgbClr val="F4F7FA"/>
                    </a:solidFill>
                  </a:tcPr>
                </a:tc>
              </a:tr>
              <a:tr h="340156">
                <a:tc>
                  <a:txBody>
                    <a:bodyPr wrap="square"/>
                    <a:lstStyle/>
                    <a:p>
                      <a:pPr algn="ctr"/>
                      <a:r>
                        <a:rPr sz="1000" b="0">
                          <a:solidFill>
                            <a:srgbClr val="333F4F"/>
                          </a:solidFill>
                          <a:latin typeface="Segoe UI"/>
                        </a:rPr>
                        <a:t>5</a:t>
                      </a:r>
                    </a:p>
                  </a:txBody>
                  <a:tcPr marL="64008" marR="64008" marT="18288" marB="18288" anchor="ctr">
                    <a:solidFill>
                      <a:srgbClr val="FFFFFF"/>
                    </a:solidFill>
                  </a:tcPr>
                </a:tc>
                <a:tc>
                  <a:txBody>
                    <a:bodyPr wrap="square"/>
                    <a:lstStyle/>
                    <a:p>
                      <a:pPr algn="l"/>
                      <a:r>
                        <a:rPr sz="1000" b="0">
                          <a:solidFill>
                            <a:srgbClr val="333F4F"/>
                          </a:solidFill>
                          <a:latin typeface="Segoe UI"/>
                        </a:rPr>
                        <a:t>silver_document_lines</a:t>
                      </a:r>
                    </a:p>
                  </a:txBody>
                  <a:tcPr marL="64008" marR="64008" marT="18288" marB="18288" anchor="ctr">
                    <a:solidFill>
                      <a:srgbClr val="FFFFFF"/>
                    </a:solidFill>
                  </a:tcPr>
                </a:tc>
                <a:tc>
                  <a:txBody>
                    <a:bodyPr wrap="square"/>
                    <a:lstStyle/>
                    <a:p>
                      <a:pPr algn="l"/>
                      <a:r>
                        <a:rPr sz="1000" b="0">
                          <a:solidFill>
                            <a:srgbClr val="333F4F"/>
                          </a:solidFill>
                          <a:latin typeface="Segoe UI"/>
                        </a:rPr>
                        <a:t>Streaming table</a:t>
                      </a:r>
                    </a:p>
                  </a:txBody>
                  <a:tcPr marL="64008" marR="64008" marT="18288" marB="18288" anchor="ctr">
                    <a:solidFill>
                      <a:srgbClr val="FFFFFF"/>
                    </a:solidFill>
                  </a:tcPr>
                </a:tc>
                <a:tc>
                  <a:txBody>
                    <a:bodyPr wrap="square"/>
                    <a:lstStyle/>
                    <a:p>
                      <a:pPr algn="l"/>
                      <a:r>
                        <a:rPr sz="1000" b="1">
                          <a:solidFill>
                            <a:srgbClr val="6E8296"/>
                          </a:solidFill>
                          <a:latin typeface="Segoe UI"/>
                        </a:rPr>
                        <a:t>Silver</a:t>
                      </a:r>
                    </a:p>
                  </a:txBody>
                  <a:tcPr marL="64008" marR="64008" marT="18288" marB="18288" anchor="ctr">
                    <a:solidFill>
                      <a:srgbClr val="FFFFFF"/>
                    </a:solidFill>
                  </a:tcPr>
                </a:tc>
                <a:tc>
                  <a:txBody>
                    <a:bodyPr wrap="square"/>
                    <a:lstStyle/>
                    <a:p>
                      <a:pPr algn="ctr"/>
                      <a:r>
                        <a:rPr sz="1000" b="1">
                          <a:solidFill>
                            <a:srgbClr val="1B8253"/>
                          </a:solidFill>
                          <a:latin typeface="Segoe UI"/>
                        </a:rPr>
                        <a:t>5</a:t>
                      </a:r>
                    </a:p>
                  </a:txBody>
                  <a:tcPr marL="64008" marR="64008" marT="18288" marB="18288" anchor="ctr">
                    <a:solidFill>
                      <a:srgbClr val="FFFFFF"/>
                    </a:solidFill>
                  </a:tcPr>
                </a:tc>
                <a:tc>
                  <a:txBody>
                    <a:bodyPr wrap="square"/>
                    <a:lstStyle/>
                    <a:p>
                      <a:pPr algn="l"/>
                      <a:r>
                        <a:rPr sz="1000" b="0">
                          <a:solidFill>
                            <a:srgbClr val="333F4F"/>
                          </a:solidFill>
                          <a:latin typeface="Segoe UI"/>
                        </a:rPr>
                        <a:t>One row per line item</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6</a:t>
                      </a:r>
                    </a:p>
                  </a:txBody>
                  <a:tcPr marL="64008" marR="64008" marT="18288" marB="18288" anchor="ctr">
                    <a:solidFill>
                      <a:srgbClr val="F4F7FA"/>
                    </a:solidFill>
                  </a:tcPr>
                </a:tc>
                <a:tc>
                  <a:txBody>
                    <a:bodyPr wrap="square"/>
                    <a:lstStyle/>
                    <a:p>
                      <a:pPr algn="l"/>
                      <a:r>
                        <a:rPr sz="1000" b="0">
                          <a:solidFill>
                            <a:srgbClr val="333F4F"/>
                          </a:solidFill>
                          <a:latin typeface="Segoe UI"/>
                        </a:rPr>
                        <a:t>gold_documents</a:t>
                      </a:r>
                    </a:p>
                  </a:txBody>
                  <a:tcPr marL="64008" marR="64008" marT="18288" marB="18288" anchor="ctr">
                    <a:solidFill>
                      <a:srgbClr val="F4F7FA"/>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4F7FA"/>
                    </a:solidFill>
                  </a:tcPr>
                </a:tc>
                <a:tc>
                  <a:txBody>
                    <a:bodyPr wrap="square"/>
                    <a:lstStyle/>
                    <a:p>
                      <a:pPr algn="l"/>
                      <a:r>
                        <a:rPr sz="1000" b="1">
                          <a:solidFill>
                            <a:srgbClr val="B88E1A"/>
                          </a:solidFill>
                          <a:latin typeface="Segoe UI"/>
                        </a:rPr>
                        <a:t>Gold</a:t>
                      </a:r>
                    </a:p>
                  </a:txBody>
                  <a:tcPr marL="64008" marR="64008" marT="18288" marB="18288" anchor="ctr">
                    <a:solidFill>
                      <a:srgbClr val="F4F7FA"/>
                    </a:solidFill>
                  </a:tcPr>
                </a:tc>
                <a:tc>
                  <a:txBody>
                    <a:bodyPr wrap="square"/>
                    <a:lstStyle/>
                    <a:p>
                      <a:pPr algn="ctr"/>
                      <a:r>
                        <a:rPr sz="1000" b="1">
                          <a:solidFill>
                            <a:srgbClr val="1B8253"/>
                          </a:solidFill>
                          <a:latin typeface="Segoe UI"/>
                        </a:rPr>
                        <a:t>1</a:t>
                      </a:r>
                    </a:p>
                  </a:txBody>
                  <a:tcPr marL="64008" marR="64008" marT="18288" marB="18288" anchor="ctr">
                    <a:solidFill>
                      <a:srgbClr val="F4F7FA"/>
                    </a:solidFill>
                  </a:tcPr>
                </a:tc>
                <a:tc>
                  <a:txBody>
                    <a:bodyPr wrap="square"/>
                    <a:lstStyle/>
                    <a:p>
                      <a:pPr algn="l"/>
                      <a:r>
                        <a:rPr sz="1000" b="0">
                          <a:solidFill>
                            <a:srgbClr val="333F4F"/>
                          </a:solidFill>
                          <a:latin typeface="Segoe UI"/>
                        </a:rPr>
                        <a:t>Passed validation</a:t>
                      </a:r>
                    </a:p>
                  </a:txBody>
                  <a:tcPr marL="64008" marR="64008" marT="18288" marB="18288" anchor="ctr">
                    <a:solidFill>
                      <a:srgbClr val="F4F7FA"/>
                    </a:solidFill>
                  </a:tcPr>
                </a:tc>
              </a:tr>
              <a:tr h="340156">
                <a:tc>
                  <a:txBody>
                    <a:bodyPr wrap="square"/>
                    <a:lstStyle/>
                    <a:p>
                      <a:pPr algn="ctr"/>
                      <a:r>
                        <a:rPr sz="1000" b="0">
                          <a:solidFill>
                            <a:srgbClr val="333F4F"/>
                          </a:solidFill>
                          <a:latin typeface="Segoe UI"/>
                        </a:rPr>
                        <a:t>7</a:t>
                      </a:r>
                    </a:p>
                  </a:txBody>
                  <a:tcPr marL="64008" marR="64008" marT="18288" marB="18288" anchor="ctr">
                    <a:solidFill>
                      <a:srgbClr val="FFFFFF"/>
                    </a:solidFill>
                  </a:tcPr>
                </a:tc>
                <a:tc>
                  <a:txBody>
                    <a:bodyPr wrap="square"/>
                    <a:lstStyle/>
                    <a:p>
                      <a:pPr algn="l"/>
                      <a:r>
                        <a:rPr sz="1000" b="0">
                          <a:solidFill>
                            <a:srgbClr val="333F4F"/>
                          </a:solidFill>
                          <a:latin typeface="Segoe UI"/>
                        </a:rPr>
                        <a:t>gold_document_lines</a:t>
                      </a:r>
                    </a:p>
                  </a:txBody>
                  <a:tcPr marL="64008" marR="64008" marT="18288" marB="18288" anchor="ctr">
                    <a:solidFill>
                      <a:srgbClr val="FFFFFF"/>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FFFFF"/>
                    </a:solidFill>
                  </a:tcPr>
                </a:tc>
                <a:tc>
                  <a:txBody>
                    <a:bodyPr wrap="square"/>
                    <a:lstStyle/>
                    <a:p>
                      <a:pPr algn="l"/>
                      <a:r>
                        <a:rPr sz="1000" b="1">
                          <a:solidFill>
                            <a:srgbClr val="B88E1A"/>
                          </a:solidFill>
                          <a:latin typeface="Segoe UI"/>
                        </a:rPr>
                        <a:t>Gold</a:t>
                      </a:r>
                    </a:p>
                  </a:txBody>
                  <a:tcPr marL="64008" marR="64008" marT="18288" marB="18288" anchor="ctr">
                    <a:solidFill>
                      <a:srgbClr val="FFFFFF"/>
                    </a:solidFill>
                  </a:tcPr>
                </a:tc>
                <a:tc>
                  <a:txBody>
                    <a:bodyPr wrap="square"/>
                    <a:lstStyle/>
                    <a:p>
                      <a:pPr algn="ctr"/>
                      <a:r>
                        <a:rPr sz="1000" b="1">
                          <a:solidFill>
                            <a:srgbClr val="1B8253"/>
                          </a:solidFill>
                          <a:latin typeface="Segoe UI"/>
                        </a:rPr>
                        <a:t>5</a:t>
                      </a:r>
                    </a:p>
                  </a:txBody>
                  <a:tcPr marL="64008" marR="64008" marT="18288" marB="18288" anchor="ctr">
                    <a:solidFill>
                      <a:srgbClr val="FFFFFF"/>
                    </a:solidFill>
                  </a:tcPr>
                </a:tc>
                <a:tc>
                  <a:txBody>
                    <a:bodyPr wrap="square"/>
                    <a:lstStyle/>
                    <a:p>
                      <a:pPr algn="l"/>
                      <a:r>
                        <a:rPr sz="1000" b="0">
                          <a:solidFill>
                            <a:srgbClr val="333F4F"/>
                          </a:solidFill>
                          <a:latin typeface="Segoe UI"/>
                        </a:rPr>
                        <a:t>Lines of valid documents</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8</a:t>
                      </a:r>
                    </a:p>
                  </a:txBody>
                  <a:tcPr marL="64008" marR="64008" marT="18288" marB="18288" anchor="ctr">
                    <a:solidFill>
                      <a:srgbClr val="F4F7FA"/>
                    </a:solidFill>
                  </a:tcPr>
                </a:tc>
                <a:tc>
                  <a:txBody>
                    <a:bodyPr wrap="square"/>
                    <a:lstStyle/>
                    <a:p>
                      <a:pPr algn="l"/>
                      <a:r>
                        <a:rPr sz="1000" b="0">
                          <a:solidFill>
                            <a:srgbClr val="333F4F"/>
                          </a:solidFill>
                          <a:latin typeface="Segoe UI"/>
                        </a:rPr>
                        <a:t>gold_invoices</a:t>
                      </a:r>
                    </a:p>
                  </a:txBody>
                  <a:tcPr marL="64008" marR="64008" marT="18288" marB="18288" anchor="ctr">
                    <a:solidFill>
                      <a:srgbClr val="F4F7FA"/>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4F7FA"/>
                    </a:solidFill>
                  </a:tcPr>
                </a:tc>
                <a:tc>
                  <a:txBody>
                    <a:bodyPr wrap="square"/>
                    <a:lstStyle/>
                    <a:p>
                      <a:pPr algn="l"/>
                      <a:r>
                        <a:rPr sz="1000" b="1">
                          <a:solidFill>
                            <a:srgbClr val="B88E1A"/>
                          </a:solidFill>
                          <a:latin typeface="Segoe UI"/>
                        </a:rPr>
                        <a:t>Gold</a:t>
                      </a:r>
                    </a:p>
                  </a:txBody>
                  <a:tcPr marL="64008" marR="64008" marT="18288" marB="18288" anchor="ctr">
                    <a:solidFill>
                      <a:srgbClr val="F4F7FA"/>
                    </a:solidFill>
                  </a:tcPr>
                </a:tc>
                <a:tc>
                  <a:txBody>
                    <a:bodyPr wrap="square"/>
                    <a:lstStyle/>
                    <a:p>
                      <a:pPr algn="ctr"/>
                      <a:r>
                        <a:rPr sz="1000" b="1">
                          <a:solidFill>
                            <a:srgbClr val="1B8253"/>
                          </a:solidFill>
                          <a:latin typeface="Segoe UI"/>
                        </a:rPr>
                        <a:t>1</a:t>
                      </a:r>
                    </a:p>
                  </a:txBody>
                  <a:tcPr marL="64008" marR="64008" marT="18288" marB="18288" anchor="ctr">
                    <a:solidFill>
                      <a:srgbClr val="F4F7FA"/>
                    </a:solidFill>
                  </a:tcPr>
                </a:tc>
                <a:tc>
                  <a:txBody>
                    <a:bodyPr wrap="square"/>
                    <a:lstStyle/>
                    <a:p>
                      <a:pPr algn="l"/>
                      <a:r>
                        <a:rPr sz="1000" b="0">
                          <a:solidFill>
                            <a:srgbClr val="333F4F"/>
                          </a:solidFill>
                          <a:latin typeface="Segoe UI"/>
                        </a:rPr>
                        <a:t>Invoice-shaped projection</a:t>
                      </a:r>
                    </a:p>
                  </a:txBody>
                  <a:tcPr marL="64008" marR="64008" marT="18288" marB="18288" anchor="ctr">
                    <a:solidFill>
                      <a:srgbClr val="F4F7FA"/>
                    </a:solidFill>
                  </a:tcPr>
                </a:tc>
              </a:tr>
              <a:tr h="340156">
                <a:tc>
                  <a:txBody>
                    <a:bodyPr wrap="square"/>
                    <a:lstStyle/>
                    <a:p>
                      <a:pPr algn="ctr"/>
                      <a:r>
                        <a:rPr sz="1000" b="0">
                          <a:solidFill>
                            <a:srgbClr val="333F4F"/>
                          </a:solidFill>
                          <a:latin typeface="Segoe UI"/>
                        </a:rPr>
                        <a:t>9</a:t>
                      </a:r>
                    </a:p>
                  </a:txBody>
                  <a:tcPr marL="64008" marR="64008" marT="18288" marB="18288" anchor="ctr">
                    <a:solidFill>
                      <a:srgbClr val="FFFFFF"/>
                    </a:solidFill>
                  </a:tcPr>
                </a:tc>
                <a:tc>
                  <a:txBody>
                    <a:bodyPr wrap="square"/>
                    <a:lstStyle/>
                    <a:p>
                      <a:pPr algn="l"/>
                      <a:r>
                        <a:rPr sz="1000" b="0">
                          <a:solidFill>
                            <a:srgbClr val="333F4F"/>
                          </a:solidFill>
                          <a:latin typeface="Segoe UI"/>
                        </a:rPr>
                        <a:t>gold_purchase_orders</a:t>
                      </a:r>
                    </a:p>
                  </a:txBody>
                  <a:tcPr marL="64008" marR="64008" marT="18288" marB="18288" anchor="ctr">
                    <a:solidFill>
                      <a:srgbClr val="FFFFFF"/>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FFFFF"/>
                    </a:solidFill>
                  </a:tcPr>
                </a:tc>
                <a:tc>
                  <a:txBody>
                    <a:bodyPr wrap="square"/>
                    <a:lstStyle/>
                    <a:p>
                      <a:pPr algn="l"/>
                      <a:r>
                        <a:rPr sz="1000" b="1">
                          <a:solidFill>
                            <a:srgbClr val="B88E1A"/>
                          </a:solidFill>
                          <a:latin typeface="Segoe UI"/>
                        </a:rPr>
                        <a:t>Gold</a:t>
                      </a:r>
                    </a:p>
                  </a:txBody>
                  <a:tcPr marL="64008" marR="64008" marT="18288" marB="18288" anchor="ctr">
                    <a:solidFill>
                      <a:srgbClr val="FFFFFF"/>
                    </a:solidFill>
                  </a:tcPr>
                </a:tc>
                <a:tc>
                  <a:txBody>
                    <a:bodyPr wrap="square"/>
                    <a:lstStyle/>
                    <a:p>
                      <a:pPr algn="ctr"/>
                      <a:r>
                        <a:rPr sz="1000" b="1">
                          <a:solidFill>
                            <a:srgbClr val="748293"/>
                          </a:solidFill>
                          <a:latin typeface="Segoe UI"/>
                        </a:rPr>
                        <a:t>0</a:t>
                      </a:r>
                    </a:p>
                  </a:txBody>
                  <a:tcPr marL="64008" marR="64008" marT="18288" marB="18288" anchor="ctr">
                    <a:solidFill>
                      <a:srgbClr val="FFFFFF"/>
                    </a:solidFill>
                  </a:tcPr>
                </a:tc>
                <a:tc>
                  <a:txBody>
                    <a:bodyPr wrap="square"/>
                    <a:lstStyle/>
                    <a:p>
                      <a:pPr algn="l"/>
                      <a:r>
                        <a:rPr sz="1000" b="0">
                          <a:solidFill>
                            <a:srgbClr val="333F4F"/>
                          </a:solidFill>
                          <a:latin typeface="Segoe UI"/>
                        </a:rPr>
                        <a:t>Correct — not a PO</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10</a:t>
                      </a:r>
                    </a:p>
                  </a:txBody>
                  <a:tcPr marL="64008" marR="64008" marT="18288" marB="18288" anchor="ctr">
                    <a:solidFill>
                      <a:srgbClr val="F4F7FA"/>
                    </a:solidFill>
                  </a:tcPr>
                </a:tc>
                <a:tc>
                  <a:txBody>
                    <a:bodyPr wrap="square"/>
                    <a:lstStyle/>
                    <a:p>
                      <a:pPr algn="l"/>
                      <a:r>
                        <a:rPr sz="1000" b="0">
                          <a:solidFill>
                            <a:srgbClr val="333F4F"/>
                          </a:solidFill>
                          <a:latin typeface="Segoe UI"/>
                        </a:rPr>
                        <a:t>gold_receipts</a:t>
                      </a:r>
                    </a:p>
                  </a:txBody>
                  <a:tcPr marL="64008" marR="64008" marT="18288" marB="18288" anchor="ctr">
                    <a:solidFill>
                      <a:srgbClr val="F4F7FA"/>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4F7FA"/>
                    </a:solidFill>
                  </a:tcPr>
                </a:tc>
                <a:tc>
                  <a:txBody>
                    <a:bodyPr wrap="square"/>
                    <a:lstStyle/>
                    <a:p>
                      <a:pPr algn="l"/>
                      <a:r>
                        <a:rPr sz="1000" b="1">
                          <a:solidFill>
                            <a:srgbClr val="B88E1A"/>
                          </a:solidFill>
                          <a:latin typeface="Segoe UI"/>
                        </a:rPr>
                        <a:t>Gold</a:t>
                      </a:r>
                    </a:p>
                  </a:txBody>
                  <a:tcPr marL="64008" marR="64008" marT="18288" marB="18288" anchor="ctr">
                    <a:solidFill>
                      <a:srgbClr val="F4F7FA"/>
                    </a:solidFill>
                  </a:tcPr>
                </a:tc>
                <a:tc>
                  <a:txBody>
                    <a:bodyPr wrap="square"/>
                    <a:lstStyle/>
                    <a:p>
                      <a:pPr algn="ctr"/>
                      <a:r>
                        <a:rPr sz="1000" b="1">
                          <a:solidFill>
                            <a:srgbClr val="748293"/>
                          </a:solidFill>
                          <a:latin typeface="Segoe UI"/>
                        </a:rPr>
                        <a:t>0</a:t>
                      </a:r>
                    </a:p>
                  </a:txBody>
                  <a:tcPr marL="64008" marR="64008" marT="18288" marB="18288" anchor="ctr">
                    <a:solidFill>
                      <a:srgbClr val="F4F7FA"/>
                    </a:solidFill>
                  </a:tcPr>
                </a:tc>
                <a:tc>
                  <a:txBody>
                    <a:bodyPr wrap="square"/>
                    <a:lstStyle/>
                    <a:p>
                      <a:pPr algn="l"/>
                      <a:r>
                        <a:rPr sz="1000" b="0">
                          <a:solidFill>
                            <a:srgbClr val="333F4F"/>
                          </a:solidFill>
                          <a:latin typeface="Segoe UI"/>
                        </a:rPr>
                        <a:t>Correct — not a receipt</a:t>
                      </a:r>
                    </a:p>
                  </a:txBody>
                  <a:tcPr marL="64008" marR="64008" marT="18288" marB="18288" anchor="ctr">
                    <a:solidFill>
                      <a:srgbClr val="F4F7FA"/>
                    </a:solidFill>
                  </a:tcPr>
                </a:tc>
              </a:tr>
              <a:tr h="340156">
                <a:tc>
                  <a:txBody>
                    <a:bodyPr wrap="square"/>
                    <a:lstStyle/>
                    <a:p>
                      <a:pPr algn="ctr"/>
                      <a:r>
                        <a:rPr sz="1000" b="0">
                          <a:solidFill>
                            <a:srgbClr val="333F4F"/>
                          </a:solidFill>
                          <a:latin typeface="Segoe UI"/>
                        </a:rPr>
                        <a:t>11</a:t>
                      </a:r>
                    </a:p>
                  </a:txBody>
                  <a:tcPr marL="64008" marR="64008" marT="18288" marB="18288" anchor="ctr">
                    <a:solidFill>
                      <a:srgbClr val="FFFFFF"/>
                    </a:solidFill>
                  </a:tcPr>
                </a:tc>
                <a:tc>
                  <a:txBody>
                    <a:bodyPr wrap="square"/>
                    <a:lstStyle/>
                    <a:p>
                      <a:pPr algn="l"/>
                      <a:r>
                        <a:rPr sz="1000" b="0">
                          <a:solidFill>
                            <a:srgbClr val="333F4F"/>
                          </a:solidFill>
                          <a:latin typeface="Segoe UI"/>
                        </a:rPr>
                        <a:t>gold_invoice_po_reconciliation</a:t>
                      </a:r>
                    </a:p>
                  </a:txBody>
                  <a:tcPr marL="64008" marR="64008" marT="18288" marB="18288" anchor="ctr">
                    <a:solidFill>
                      <a:srgbClr val="FFFFFF"/>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FFFFF"/>
                    </a:solidFill>
                  </a:tcPr>
                </a:tc>
                <a:tc>
                  <a:txBody>
                    <a:bodyPr wrap="square"/>
                    <a:lstStyle/>
                    <a:p>
                      <a:pPr algn="l"/>
                      <a:r>
                        <a:rPr sz="1000" b="1">
                          <a:solidFill>
                            <a:srgbClr val="B88E1A"/>
                          </a:solidFill>
                          <a:latin typeface="Segoe UI"/>
                        </a:rPr>
                        <a:t>Gold</a:t>
                      </a:r>
                    </a:p>
                  </a:txBody>
                  <a:tcPr marL="64008" marR="64008" marT="18288" marB="18288" anchor="ctr">
                    <a:solidFill>
                      <a:srgbClr val="FFFFFF"/>
                    </a:solidFill>
                  </a:tcPr>
                </a:tc>
                <a:tc>
                  <a:txBody>
                    <a:bodyPr wrap="square"/>
                    <a:lstStyle/>
                    <a:p>
                      <a:pPr algn="ctr"/>
                      <a:r>
                        <a:rPr sz="1000" b="1">
                          <a:solidFill>
                            <a:srgbClr val="1B8253"/>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Match attempt vs POs</a:t>
                      </a:r>
                    </a:p>
                  </a:txBody>
                  <a:tcPr marL="64008" marR="64008" marT="18288" marB="18288" anchor="ctr">
                    <a:solidFill>
                      <a:srgbClr val="FFFFFF"/>
                    </a:solidFill>
                  </a:tcPr>
                </a:tc>
              </a:tr>
              <a:tr h="340156">
                <a:tc>
                  <a:txBody>
                    <a:bodyPr wrap="square"/>
                    <a:lstStyle/>
                    <a:p>
                      <a:pPr algn="ctr"/>
                      <a:r>
                        <a:rPr sz="1000" b="0">
                          <a:solidFill>
                            <a:srgbClr val="333F4F"/>
                          </a:solidFill>
                          <a:latin typeface="Segoe UI"/>
                        </a:rPr>
                        <a:t>12</a:t>
                      </a:r>
                    </a:p>
                  </a:txBody>
                  <a:tcPr marL="64008" marR="64008" marT="18288" marB="18288" anchor="ctr">
                    <a:solidFill>
                      <a:srgbClr val="F4F7FA"/>
                    </a:solidFill>
                  </a:tcPr>
                </a:tc>
                <a:tc>
                  <a:txBody>
                    <a:bodyPr wrap="square"/>
                    <a:lstStyle/>
                    <a:p>
                      <a:pPr algn="l"/>
                      <a:r>
                        <a:rPr sz="1000" b="0">
                          <a:solidFill>
                            <a:srgbClr val="333F4F"/>
                          </a:solidFill>
                          <a:latin typeface="Segoe UI"/>
                        </a:rPr>
                        <a:t>gold_vendor_spend</a:t>
                      </a:r>
                    </a:p>
                  </a:txBody>
                  <a:tcPr marL="64008" marR="64008" marT="18288" marB="18288" anchor="ctr">
                    <a:solidFill>
                      <a:srgbClr val="F4F7FA"/>
                    </a:solidFill>
                  </a:tcPr>
                </a:tc>
                <a:tc>
                  <a:txBody>
                    <a:bodyPr wrap="square"/>
                    <a:lstStyle/>
                    <a:p>
                      <a:pPr algn="l"/>
                      <a:r>
                        <a:rPr sz="1000" b="0">
                          <a:solidFill>
                            <a:srgbClr val="333F4F"/>
                          </a:solidFill>
                          <a:latin typeface="Segoe UI"/>
                        </a:rPr>
                        <a:t>Materialized view</a:t>
                      </a:r>
                    </a:p>
                  </a:txBody>
                  <a:tcPr marL="64008" marR="64008" marT="18288" marB="18288" anchor="ctr">
                    <a:solidFill>
                      <a:srgbClr val="F4F7FA"/>
                    </a:solidFill>
                  </a:tcPr>
                </a:tc>
                <a:tc>
                  <a:txBody>
                    <a:bodyPr wrap="square"/>
                    <a:lstStyle/>
                    <a:p>
                      <a:pPr algn="l"/>
                      <a:r>
                        <a:rPr sz="1000" b="1">
                          <a:solidFill>
                            <a:srgbClr val="B88E1A"/>
                          </a:solidFill>
                          <a:latin typeface="Segoe UI"/>
                        </a:rPr>
                        <a:t>Gold</a:t>
                      </a:r>
                    </a:p>
                  </a:txBody>
                  <a:tcPr marL="64008" marR="64008" marT="18288" marB="18288" anchor="ctr">
                    <a:solidFill>
                      <a:srgbClr val="F4F7FA"/>
                    </a:solidFill>
                  </a:tcPr>
                </a:tc>
                <a:tc>
                  <a:txBody>
                    <a:bodyPr wrap="square"/>
                    <a:lstStyle/>
                    <a:p>
                      <a:pPr algn="ctr"/>
                      <a:r>
                        <a:rPr sz="1000" b="1">
                          <a:solidFill>
                            <a:srgbClr val="1B8253"/>
                          </a:solidFill>
                          <a:latin typeface="Segoe UI"/>
                        </a:rPr>
                        <a:t>1</a:t>
                      </a:r>
                    </a:p>
                  </a:txBody>
                  <a:tcPr marL="64008" marR="64008" marT="18288" marB="18288" anchor="ctr">
                    <a:solidFill>
                      <a:srgbClr val="F4F7FA"/>
                    </a:solidFill>
                  </a:tcPr>
                </a:tc>
                <a:tc>
                  <a:txBody>
                    <a:bodyPr wrap="square"/>
                    <a:lstStyle/>
                    <a:p>
                      <a:pPr algn="l"/>
                      <a:r>
                        <a:rPr sz="1000" b="0">
                          <a:solidFill>
                            <a:srgbClr val="333F4F"/>
                          </a:solidFill>
                          <a:latin typeface="Segoe UI"/>
                        </a:rPr>
                        <a:t>Rolls into Jan-2025 vendor row</a:t>
                      </a:r>
                    </a:p>
                  </a:txBody>
                  <a:tcPr marL="64008" marR="64008" marT="18288" marB="18288" anchor="ctr">
                    <a:solidFill>
                      <a:srgbClr val="F4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HOW THE DOCUMENT MOVED THROUGH THE PIPELINE</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Processing timeline</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4</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Rectangle 6"/>
          <p:cNvSpPr/>
          <p:nvPr/>
        </p:nvSpPr>
        <p:spPr>
          <a:xfrm>
            <a:off x="530352" y="1792224"/>
            <a:ext cx="2494711" cy="2395728"/>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792224"/>
            <a:ext cx="2494711" cy="54864"/>
          </a:xfrm>
          <a:prstGeom prst="rect">
            <a:avLst/>
          </a:prstGeom>
          <a:solidFill>
            <a:srgbClr val="A9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2066543"/>
            <a:ext cx="786384" cy="237744"/>
          </a:xfrm>
          <a:prstGeom prst="roundRect">
            <a:avLst>
              <a:gd name="adj" fmla="val 16000"/>
            </a:avLst>
          </a:prstGeom>
          <a:solidFill>
            <a:srgbClr val="A96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1">
                <a:solidFill>
                  <a:srgbClr val="FFFFFF"/>
                </a:solidFill>
                <a:latin typeface="Segoe UI"/>
              </a:rPr>
              <a:t>STEP 1</a:t>
            </a:r>
          </a:p>
        </p:txBody>
      </p:sp>
      <p:sp>
        <p:nvSpPr>
          <p:cNvPr id="10" name="TextBox 9"/>
          <p:cNvSpPr txBox="1"/>
          <p:nvPr/>
        </p:nvSpPr>
        <p:spPr>
          <a:xfrm>
            <a:off x="713232" y="2487168"/>
            <a:ext cx="2128951" cy="292608"/>
          </a:xfrm>
          <a:prstGeom prst="rect">
            <a:avLst/>
          </a:prstGeom>
          <a:noFill/>
        </p:spPr>
        <p:txBody>
          <a:bodyPr wrap="square" lIns="0" rIns="0" tIns="0" bIns="0" anchor="t">
            <a:spAutoFit/>
          </a:bodyPr>
          <a:lstStyle/>
          <a:p>
            <a:pPr algn="l">
              <a:lnSpc>
                <a:spcPct val="100000"/>
              </a:lnSpc>
            </a:pPr>
            <a:r>
              <a:rPr sz="1700" b="1" i="0">
                <a:solidFill>
                  <a:srgbClr val="0E1B2E"/>
                </a:solidFill>
                <a:latin typeface="Segoe UI"/>
              </a:rPr>
              <a:t>Ingested</a:t>
            </a:r>
          </a:p>
        </p:txBody>
      </p:sp>
      <p:sp>
        <p:nvSpPr>
          <p:cNvPr id="11" name="TextBox 10"/>
          <p:cNvSpPr txBox="1"/>
          <p:nvPr/>
        </p:nvSpPr>
        <p:spPr>
          <a:xfrm>
            <a:off x="713232" y="2880360"/>
            <a:ext cx="2128951" cy="219456"/>
          </a:xfrm>
          <a:prstGeom prst="rect">
            <a:avLst/>
          </a:prstGeom>
          <a:noFill/>
        </p:spPr>
        <p:txBody>
          <a:bodyPr wrap="square" lIns="0" rIns="0" tIns="0" bIns="0" anchor="t">
            <a:spAutoFit/>
          </a:bodyPr>
          <a:lstStyle/>
          <a:p>
            <a:pPr algn="l">
              <a:lnSpc>
                <a:spcPct val="100000"/>
              </a:lnSpc>
            </a:pPr>
            <a:r>
              <a:rPr sz="900" b="0" i="0">
                <a:solidFill>
                  <a:srgbClr val="A96A2E"/>
                </a:solidFill>
                <a:latin typeface="Consolas"/>
              </a:rPr>
              <a:t>bronze_documents</a:t>
            </a:r>
          </a:p>
        </p:txBody>
      </p:sp>
      <p:sp>
        <p:nvSpPr>
          <p:cNvPr id="12" name="TextBox 11"/>
          <p:cNvSpPr txBox="1"/>
          <p:nvPr/>
        </p:nvSpPr>
        <p:spPr>
          <a:xfrm>
            <a:off x="713232" y="3227832"/>
            <a:ext cx="2128951"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13:08:42</a:t>
            </a:r>
          </a:p>
        </p:txBody>
      </p:sp>
      <p:sp>
        <p:nvSpPr>
          <p:cNvPr id="13" name="TextBox 12"/>
          <p:cNvSpPr txBox="1"/>
          <p:nvPr/>
        </p:nvSpPr>
        <p:spPr>
          <a:xfrm>
            <a:off x="713232" y="3538728"/>
            <a:ext cx="2128951" cy="457200"/>
          </a:xfrm>
          <a:prstGeom prst="rect">
            <a:avLst/>
          </a:prstGeom>
          <a:noFill/>
        </p:spPr>
        <p:txBody>
          <a:bodyPr wrap="square" lIns="0" rIns="0" tIns="0" bIns="0" anchor="t">
            <a:spAutoFit/>
          </a:bodyPr>
          <a:lstStyle/>
          <a:p>
            <a:pPr algn="l">
              <a:lnSpc>
                <a:spcPct val="118000"/>
              </a:lnSpc>
            </a:pPr>
            <a:r>
              <a:rPr sz="900" b="0" i="0">
                <a:solidFill>
                  <a:srgbClr val="748293"/>
                </a:solidFill>
                <a:latin typeface="Segoe UI"/>
              </a:rPr>
              <a:t>Auto Loader picked up the file</a:t>
            </a:r>
          </a:p>
        </p:txBody>
      </p:sp>
      <p:sp>
        <p:nvSpPr>
          <p:cNvPr id="14" name="Rectangle 13"/>
          <p:cNvSpPr/>
          <p:nvPr/>
        </p:nvSpPr>
        <p:spPr>
          <a:xfrm>
            <a:off x="3409111" y="1792224"/>
            <a:ext cx="2494711" cy="2395728"/>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09111" y="1792224"/>
            <a:ext cx="2494711" cy="5486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91991" y="2066543"/>
            <a:ext cx="786384" cy="237744"/>
          </a:xfrm>
          <a:prstGeom prst="roundRect">
            <a:avLst>
              <a:gd name="adj" fmla="val 16000"/>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1">
                <a:solidFill>
                  <a:srgbClr val="FFFFFF"/>
                </a:solidFill>
                <a:latin typeface="Segoe UI"/>
              </a:rPr>
              <a:t>STEP 2</a:t>
            </a:r>
          </a:p>
        </p:txBody>
      </p:sp>
      <p:sp>
        <p:nvSpPr>
          <p:cNvPr id="17" name="TextBox 16"/>
          <p:cNvSpPr txBox="1"/>
          <p:nvPr/>
        </p:nvSpPr>
        <p:spPr>
          <a:xfrm>
            <a:off x="3591991" y="2487168"/>
            <a:ext cx="2128951" cy="292608"/>
          </a:xfrm>
          <a:prstGeom prst="rect">
            <a:avLst/>
          </a:prstGeom>
          <a:noFill/>
        </p:spPr>
        <p:txBody>
          <a:bodyPr wrap="square" lIns="0" rIns="0" tIns="0" bIns="0" anchor="t">
            <a:spAutoFit/>
          </a:bodyPr>
          <a:lstStyle/>
          <a:p>
            <a:pPr algn="l">
              <a:lnSpc>
                <a:spcPct val="100000"/>
              </a:lnSpc>
            </a:pPr>
            <a:r>
              <a:rPr sz="1700" b="1" i="0">
                <a:solidFill>
                  <a:srgbClr val="0E1B2E"/>
                </a:solidFill>
                <a:latin typeface="Segoe UI"/>
              </a:rPr>
              <a:t>Parsed</a:t>
            </a:r>
          </a:p>
        </p:txBody>
      </p:sp>
      <p:sp>
        <p:nvSpPr>
          <p:cNvPr id="18" name="TextBox 17"/>
          <p:cNvSpPr txBox="1"/>
          <p:nvPr/>
        </p:nvSpPr>
        <p:spPr>
          <a:xfrm>
            <a:off x="3591991" y="2880360"/>
            <a:ext cx="2128951" cy="219456"/>
          </a:xfrm>
          <a:prstGeom prst="rect">
            <a:avLst/>
          </a:prstGeom>
          <a:noFill/>
        </p:spPr>
        <p:txBody>
          <a:bodyPr wrap="square" lIns="0" rIns="0" tIns="0" bIns="0" anchor="t">
            <a:spAutoFit/>
          </a:bodyPr>
          <a:lstStyle/>
          <a:p>
            <a:pPr algn="l">
              <a:lnSpc>
                <a:spcPct val="100000"/>
              </a:lnSpc>
            </a:pPr>
            <a:r>
              <a:rPr sz="900" b="0" i="0">
                <a:solidFill>
                  <a:srgbClr val="6E8296"/>
                </a:solidFill>
                <a:latin typeface="Consolas"/>
              </a:rPr>
              <a:t>silver_parsed_documents</a:t>
            </a:r>
          </a:p>
        </p:txBody>
      </p:sp>
      <p:sp>
        <p:nvSpPr>
          <p:cNvPr id="19" name="TextBox 18"/>
          <p:cNvSpPr txBox="1"/>
          <p:nvPr/>
        </p:nvSpPr>
        <p:spPr>
          <a:xfrm>
            <a:off x="3591991" y="3227832"/>
            <a:ext cx="2128951"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13:08:49</a:t>
            </a:r>
          </a:p>
        </p:txBody>
      </p:sp>
      <p:sp>
        <p:nvSpPr>
          <p:cNvPr id="20" name="TextBox 19"/>
          <p:cNvSpPr txBox="1"/>
          <p:nvPr/>
        </p:nvSpPr>
        <p:spPr>
          <a:xfrm>
            <a:off x="3591991" y="3538728"/>
            <a:ext cx="2128951" cy="457200"/>
          </a:xfrm>
          <a:prstGeom prst="rect">
            <a:avLst/>
          </a:prstGeom>
          <a:noFill/>
        </p:spPr>
        <p:txBody>
          <a:bodyPr wrap="square" lIns="0" rIns="0" tIns="0" bIns="0" anchor="t">
            <a:spAutoFit/>
          </a:bodyPr>
          <a:lstStyle/>
          <a:p>
            <a:pPr algn="l">
              <a:lnSpc>
                <a:spcPct val="118000"/>
              </a:lnSpc>
            </a:pPr>
            <a:r>
              <a:rPr sz="900" b="0" i="0">
                <a:solidFill>
                  <a:srgbClr val="748293"/>
                </a:solidFill>
                <a:latin typeface="Segoe UI"/>
              </a:rPr>
              <a:t>ai_parse_document → 9 elements</a:t>
            </a:r>
          </a:p>
        </p:txBody>
      </p:sp>
      <p:sp>
        <p:nvSpPr>
          <p:cNvPr id="21" name="TextBox 20"/>
          <p:cNvSpPr txBox="1"/>
          <p:nvPr/>
        </p:nvSpPr>
        <p:spPr>
          <a:xfrm>
            <a:off x="3043351" y="2770632"/>
            <a:ext cx="347472" cy="274320"/>
          </a:xfrm>
          <a:prstGeom prst="rect">
            <a:avLst/>
          </a:prstGeom>
          <a:noFill/>
        </p:spPr>
        <p:txBody>
          <a:bodyPr wrap="square" lIns="0" rIns="0" tIns="0" bIns="0" anchor="t">
            <a:spAutoFit/>
          </a:bodyPr>
          <a:lstStyle/>
          <a:p>
            <a:pPr algn="ctr">
              <a:lnSpc>
                <a:spcPct val="100000"/>
              </a:lnSpc>
            </a:pPr>
            <a:r>
              <a:rPr sz="1800" b="0" i="0">
                <a:solidFill>
                  <a:srgbClr val="748293"/>
                </a:solidFill>
                <a:latin typeface="Segoe UI"/>
              </a:rPr>
              <a:t>→</a:t>
            </a:r>
          </a:p>
        </p:txBody>
      </p:sp>
      <p:sp>
        <p:nvSpPr>
          <p:cNvPr id="22" name="TextBox 21"/>
          <p:cNvSpPr txBox="1"/>
          <p:nvPr/>
        </p:nvSpPr>
        <p:spPr>
          <a:xfrm>
            <a:off x="2842183" y="3118104"/>
            <a:ext cx="749808" cy="201168"/>
          </a:xfrm>
          <a:prstGeom prst="rect">
            <a:avLst/>
          </a:prstGeom>
          <a:noFill/>
        </p:spPr>
        <p:txBody>
          <a:bodyPr wrap="square" lIns="0" rIns="0" tIns="0" bIns="0" anchor="t">
            <a:spAutoFit/>
          </a:bodyPr>
          <a:lstStyle/>
          <a:p>
            <a:pPr algn="ctr">
              <a:lnSpc>
                <a:spcPct val="100000"/>
              </a:lnSpc>
            </a:pPr>
            <a:r>
              <a:rPr sz="950" b="1" i="0">
                <a:solidFill>
                  <a:srgbClr val="E0522B"/>
                </a:solidFill>
                <a:latin typeface="Segoe UI"/>
              </a:rPr>
              <a:t>+7.0s</a:t>
            </a:r>
          </a:p>
        </p:txBody>
      </p:sp>
      <p:sp>
        <p:nvSpPr>
          <p:cNvPr id="23" name="Rectangle 22"/>
          <p:cNvSpPr/>
          <p:nvPr/>
        </p:nvSpPr>
        <p:spPr>
          <a:xfrm>
            <a:off x="6287871" y="1792224"/>
            <a:ext cx="2494711" cy="2395728"/>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87871" y="1792224"/>
            <a:ext cx="2494711" cy="5486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70751" y="2066543"/>
            <a:ext cx="786384" cy="237744"/>
          </a:xfrm>
          <a:prstGeom prst="roundRect">
            <a:avLst>
              <a:gd name="adj" fmla="val 16000"/>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1">
                <a:solidFill>
                  <a:srgbClr val="FFFFFF"/>
                </a:solidFill>
                <a:latin typeface="Segoe UI"/>
              </a:rPr>
              <a:t>STEP 3</a:t>
            </a:r>
          </a:p>
        </p:txBody>
      </p:sp>
      <p:sp>
        <p:nvSpPr>
          <p:cNvPr id="26" name="TextBox 25"/>
          <p:cNvSpPr txBox="1"/>
          <p:nvPr/>
        </p:nvSpPr>
        <p:spPr>
          <a:xfrm>
            <a:off x="6470751" y="2487168"/>
            <a:ext cx="2128951" cy="292608"/>
          </a:xfrm>
          <a:prstGeom prst="rect">
            <a:avLst/>
          </a:prstGeom>
          <a:noFill/>
        </p:spPr>
        <p:txBody>
          <a:bodyPr wrap="square" lIns="0" rIns="0" tIns="0" bIns="0" anchor="t">
            <a:spAutoFit/>
          </a:bodyPr>
          <a:lstStyle/>
          <a:p>
            <a:pPr algn="l">
              <a:lnSpc>
                <a:spcPct val="100000"/>
              </a:lnSpc>
            </a:pPr>
            <a:r>
              <a:rPr sz="1700" b="1" i="0">
                <a:solidFill>
                  <a:srgbClr val="0E1B2E"/>
                </a:solidFill>
                <a:latin typeface="Segoe UI"/>
              </a:rPr>
              <a:t>Extracted</a:t>
            </a:r>
          </a:p>
        </p:txBody>
      </p:sp>
      <p:sp>
        <p:nvSpPr>
          <p:cNvPr id="27" name="TextBox 26"/>
          <p:cNvSpPr txBox="1"/>
          <p:nvPr/>
        </p:nvSpPr>
        <p:spPr>
          <a:xfrm>
            <a:off x="6470751" y="2880360"/>
            <a:ext cx="2128951" cy="219456"/>
          </a:xfrm>
          <a:prstGeom prst="rect">
            <a:avLst/>
          </a:prstGeom>
          <a:noFill/>
        </p:spPr>
        <p:txBody>
          <a:bodyPr wrap="square" lIns="0" rIns="0" tIns="0" bIns="0" anchor="t">
            <a:spAutoFit/>
          </a:bodyPr>
          <a:lstStyle/>
          <a:p>
            <a:pPr algn="l">
              <a:lnSpc>
                <a:spcPct val="100000"/>
              </a:lnSpc>
            </a:pPr>
            <a:r>
              <a:rPr sz="900" b="0" i="0">
                <a:solidFill>
                  <a:srgbClr val="6E8296"/>
                </a:solidFill>
                <a:latin typeface="Consolas"/>
              </a:rPr>
              <a:t>silver_extracted_documents</a:t>
            </a:r>
          </a:p>
        </p:txBody>
      </p:sp>
      <p:sp>
        <p:nvSpPr>
          <p:cNvPr id="28" name="TextBox 27"/>
          <p:cNvSpPr txBox="1"/>
          <p:nvPr/>
        </p:nvSpPr>
        <p:spPr>
          <a:xfrm>
            <a:off x="6470751" y="3227832"/>
            <a:ext cx="2128951"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13:09:04</a:t>
            </a:r>
          </a:p>
        </p:txBody>
      </p:sp>
      <p:sp>
        <p:nvSpPr>
          <p:cNvPr id="29" name="TextBox 28"/>
          <p:cNvSpPr txBox="1"/>
          <p:nvPr/>
        </p:nvSpPr>
        <p:spPr>
          <a:xfrm>
            <a:off x="6470751" y="3538728"/>
            <a:ext cx="2128951" cy="457200"/>
          </a:xfrm>
          <a:prstGeom prst="rect">
            <a:avLst/>
          </a:prstGeom>
          <a:noFill/>
        </p:spPr>
        <p:txBody>
          <a:bodyPr wrap="square" lIns="0" rIns="0" tIns="0" bIns="0" anchor="t">
            <a:spAutoFit/>
          </a:bodyPr>
          <a:lstStyle/>
          <a:p>
            <a:pPr algn="l">
              <a:lnSpc>
                <a:spcPct val="118000"/>
              </a:lnSpc>
            </a:pPr>
            <a:r>
              <a:rPr sz="900" b="0" i="0">
                <a:solidFill>
                  <a:srgbClr val="748293"/>
                </a:solidFill>
                <a:latin typeface="Segoe UI"/>
              </a:rPr>
              <a:t>ai_extract → 22 fields</a:t>
            </a:r>
          </a:p>
        </p:txBody>
      </p:sp>
      <p:sp>
        <p:nvSpPr>
          <p:cNvPr id="30" name="TextBox 29"/>
          <p:cNvSpPr txBox="1"/>
          <p:nvPr/>
        </p:nvSpPr>
        <p:spPr>
          <a:xfrm>
            <a:off x="5922111" y="2770632"/>
            <a:ext cx="347472" cy="274320"/>
          </a:xfrm>
          <a:prstGeom prst="rect">
            <a:avLst/>
          </a:prstGeom>
          <a:noFill/>
        </p:spPr>
        <p:txBody>
          <a:bodyPr wrap="square" lIns="0" rIns="0" tIns="0" bIns="0" anchor="t">
            <a:spAutoFit/>
          </a:bodyPr>
          <a:lstStyle/>
          <a:p>
            <a:pPr algn="ctr">
              <a:lnSpc>
                <a:spcPct val="100000"/>
              </a:lnSpc>
            </a:pPr>
            <a:r>
              <a:rPr sz="1800" b="0" i="0">
                <a:solidFill>
                  <a:srgbClr val="748293"/>
                </a:solidFill>
                <a:latin typeface="Segoe UI"/>
              </a:rPr>
              <a:t>→</a:t>
            </a:r>
          </a:p>
        </p:txBody>
      </p:sp>
      <p:sp>
        <p:nvSpPr>
          <p:cNvPr id="31" name="TextBox 30"/>
          <p:cNvSpPr txBox="1"/>
          <p:nvPr/>
        </p:nvSpPr>
        <p:spPr>
          <a:xfrm>
            <a:off x="5720943" y="3118104"/>
            <a:ext cx="749808" cy="201168"/>
          </a:xfrm>
          <a:prstGeom prst="rect">
            <a:avLst/>
          </a:prstGeom>
          <a:noFill/>
        </p:spPr>
        <p:txBody>
          <a:bodyPr wrap="square" lIns="0" rIns="0" tIns="0" bIns="0" anchor="t">
            <a:spAutoFit/>
          </a:bodyPr>
          <a:lstStyle/>
          <a:p>
            <a:pPr algn="ctr">
              <a:lnSpc>
                <a:spcPct val="100000"/>
              </a:lnSpc>
            </a:pPr>
            <a:r>
              <a:rPr sz="950" b="1" i="0">
                <a:solidFill>
                  <a:srgbClr val="E0522B"/>
                </a:solidFill>
                <a:latin typeface="Segoe UI"/>
              </a:rPr>
              <a:t>+14.3s</a:t>
            </a:r>
          </a:p>
        </p:txBody>
      </p:sp>
      <p:sp>
        <p:nvSpPr>
          <p:cNvPr id="32" name="Rectangle 31"/>
          <p:cNvSpPr/>
          <p:nvPr/>
        </p:nvSpPr>
        <p:spPr>
          <a:xfrm>
            <a:off x="9166631" y="1792224"/>
            <a:ext cx="2494711" cy="2395728"/>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66631" y="1792224"/>
            <a:ext cx="2494711" cy="54864"/>
          </a:xfrm>
          <a:prstGeom prst="rect">
            <a:avLst/>
          </a:prstGeom>
          <a:solidFill>
            <a:srgbClr val="B88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349511" y="2066543"/>
            <a:ext cx="786384" cy="237744"/>
          </a:xfrm>
          <a:prstGeom prst="roundRect">
            <a:avLst>
              <a:gd name="adj" fmla="val 16000"/>
            </a:avLst>
          </a:prstGeom>
          <a:solidFill>
            <a:srgbClr val="B88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1">
                <a:solidFill>
                  <a:srgbClr val="FFFFFF"/>
                </a:solidFill>
                <a:latin typeface="Segoe UI"/>
              </a:rPr>
              <a:t>STEP 4</a:t>
            </a:r>
          </a:p>
        </p:txBody>
      </p:sp>
      <p:sp>
        <p:nvSpPr>
          <p:cNvPr id="35" name="TextBox 34"/>
          <p:cNvSpPr txBox="1"/>
          <p:nvPr/>
        </p:nvSpPr>
        <p:spPr>
          <a:xfrm>
            <a:off x="9349511" y="2487168"/>
            <a:ext cx="2128951" cy="292608"/>
          </a:xfrm>
          <a:prstGeom prst="rect">
            <a:avLst/>
          </a:prstGeom>
          <a:noFill/>
        </p:spPr>
        <p:txBody>
          <a:bodyPr wrap="square" lIns="0" rIns="0" tIns="0" bIns="0" anchor="t">
            <a:spAutoFit/>
          </a:bodyPr>
          <a:lstStyle/>
          <a:p>
            <a:pPr algn="l">
              <a:lnSpc>
                <a:spcPct val="100000"/>
              </a:lnSpc>
            </a:pPr>
            <a:r>
              <a:rPr sz="1700" b="1" i="0">
                <a:solidFill>
                  <a:srgbClr val="0E1B2E"/>
                </a:solidFill>
                <a:latin typeface="Segoe UI"/>
              </a:rPr>
              <a:t>Processed</a:t>
            </a:r>
          </a:p>
        </p:txBody>
      </p:sp>
      <p:sp>
        <p:nvSpPr>
          <p:cNvPr id="36" name="TextBox 35"/>
          <p:cNvSpPr txBox="1"/>
          <p:nvPr/>
        </p:nvSpPr>
        <p:spPr>
          <a:xfrm>
            <a:off x="9349511" y="2880360"/>
            <a:ext cx="2128951" cy="219456"/>
          </a:xfrm>
          <a:prstGeom prst="rect">
            <a:avLst/>
          </a:prstGeom>
          <a:noFill/>
        </p:spPr>
        <p:txBody>
          <a:bodyPr wrap="square" lIns="0" rIns="0" tIns="0" bIns="0" anchor="t">
            <a:spAutoFit/>
          </a:bodyPr>
          <a:lstStyle/>
          <a:p>
            <a:pPr algn="l">
              <a:lnSpc>
                <a:spcPct val="100000"/>
              </a:lnSpc>
            </a:pPr>
            <a:r>
              <a:rPr sz="900" b="0" i="0">
                <a:solidFill>
                  <a:srgbClr val="B88E1A"/>
                </a:solidFill>
                <a:latin typeface="Consolas"/>
              </a:rPr>
              <a:t>silver_documents</a:t>
            </a:r>
          </a:p>
        </p:txBody>
      </p:sp>
      <p:sp>
        <p:nvSpPr>
          <p:cNvPr id="37" name="TextBox 36"/>
          <p:cNvSpPr txBox="1"/>
          <p:nvPr/>
        </p:nvSpPr>
        <p:spPr>
          <a:xfrm>
            <a:off x="9349511" y="3227832"/>
            <a:ext cx="2128951" cy="219456"/>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13:37:29</a:t>
            </a:r>
          </a:p>
        </p:txBody>
      </p:sp>
      <p:sp>
        <p:nvSpPr>
          <p:cNvPr id="38" name="TextBox 37"/>
          <p:cNvSpPr txBox="1"/>
          <p:nvPr/>
        </p:nvSpPr>
        <p:spPr>
          <a:xfrm>
            <a:off x="9349511" y="3538728"/>
            <a:ext cx="2128951" cy="457200"/>
          </a:xfrm>
          <a:prstGeom prst="rect">
            <a:avLst/>
          </a:prstGeom>
          <a:noFill/>
        </p:spPr>
        <p:txBody>
          <a:bodyPr wrap="square" lIns="0" rIns="0" tIns="0" bIns="0" anchor="t">
            <a:spAutoFit/>
          </a:bodyPr>
          <a:lstStyle/>
          <a:p>
            <a:pPr algn="l">
              <a:lnSpc>
                <a:spcPct val="118000"/>
              </a:lnSpc>
            </a:pPr>
            <a:r>
              <a:rPr sz="900" b="0" i="0">
                <a:solidFill>
                  <a:srgbClr val="748293"/>
                </a:solidFill>
                <a:latin typeface="Segoe UI"/>
              </a:rPr>
              <a:t>Normalised, typed, validated</a:t>
            </a:r>
          </a:p>
        </p:txBody>
      </p:sp>
      <p:sp>
        <p:nvSpPr>
          <p:cNvPr id="39" name="TextBox 38"/>
          <p:cNvSpPr txBox="1"/>
          <p:nvPr/>
        </p:nvSpPr>
        <p:spPr>
          <a:xfrm>
            <a:off x="8800871" y="2770632"/>
            <a:ext cx="347472" cy="274320"/>
          </a:xfrm>
          <a:prstGeom prst="rect">
            <a:avLst/>
          </a:prstGeom>
          <a:noFill/>
        </p:spPr>
        <p:txBody>
          <a:bodyPr wrap="square" lIns="0" rIns="0" tIns="0" bIns="0" anchor="t">
            <a:spAutoFit/>
          </a:bodyPr>
          <a:lstStyle/>
          <a:p>
            <a:pPr algn="ctr">
              <a:lnSpc>
                <a:spcPct val="100000"/>
              </a:lnSpc>
            </a:pPr>
            <a:r>
              <a:rPr sz="1800" b="0" i="0">
                <a:solidFill>
                  <a:srgbClr val="748293"/>
                </a:solidFill>
                <a:latin typeface="Segoe UI"/>
              </a:rPr>
              <a:t>→</a:t>
            </a:r>
          </a:p>
        </p:txBody>
      </p:sp>
      <p:sp>
        <p:nvSpPr>
          <p:cNvPr id="40" name="TextBox 39"/>
          <p:cNvSpPr txBox="1"/>
          <p:nvPr/>
        </p:nvSpPr>
        <p:spPr>
          <a:xfrm>
            <a:off x="8599703" y="3118104"/>
            <a:ext cx="749808" cy="201168"/>
          </a:xfrm>
          <a:prstGeom prst="rect">
            <a:avLst/>
          </a:prstGeom>
          <a:noFill/>
        </p:spPr>
        <p:txBody>
          <a:bodyPr wrap="square" lIns="0" rIns="0" tIns="0" bIns="0" anchor="t">
            <a:spAutoFit/>
          </a:bodyPr>
          <a:lstStyle/>
          <a:p>
            <a:pPr algn="ctr">
              <a:lnSpc>
                <a:spcPct val="100000"/>
              </a:lnSpc>
            </a:pPr>
            <a:r>
              <a:rPr sz="950" b="1" i="0">
                <a:solidFill>
                  <a:srgbClr val="E0522B"/>
                </a:solidFill>
                <a:latin typeface="Segoe UI"/>
              </a:rPr>
              <a:t>+28m 25s</a:t>
            </a:r>
          </a:p>
        </p:txBody>
      </p:sp>
      <p:sp>
        <p:nvSpPr>
          <p:cNvPr id="41" name="Rectangle 40"/>
          <p:cNvSpPr/>
          <p:nvPr/>
        </p:nvSpPr>
        <p:spPr>
          <a:xfrm>
            <a:off x="530352" y="4983480"/>
            <a:ext cx="11130991" cy="1188720"/>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166360"/>
            <a:ext cx="27432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Reading the gaps</a:t>
            </a:r>
          </a:p>
        </p:txBody>
      </p:sp>
      <p:sp>
        <p:nvSpPr>
          <p:cNvPr id="43" name="TextBox 42"/>
          <p:cNvSpPr txBox="1"/>
          <p:nvPr/>
        </p:nvSpPr>
        <p:spPr>
          <a:xfrm>
            <a:off x="3593592" y="5166360"/>
            <a:ext cx="7839151" cy="868680"/>
          </a:xfrm>
          <a:prstGeom prst="rect">
            <a:avLst/>
          </a:prstGeom>
          <a:noFill/>
        </p:spPr>
        <p:txBody>
          <a:bodyPr wrap="square" lIns="0" rIns="0" tIns="0" bIns="0" anchor="t">
            <a:spAutoFit/>
          </a:bodyPr>
          <a:lstStyle/>
          <a:p>
            <a:pPr algn="l">
              <a:lnSpc>
                <a:spcPct val="132000"/>
              </a:lnSpc>
            </a:pPr>
            <a:r>
              <a:rPr sz="1000" b="0" i="0">
                <a:solidFill>
                  <a:srgbClr val="333F4F"/>
                </a:solidFill>
                <a:latin typeface="Segoe UI"/>
              </a:rPr>
              <a:t>Parse took +7.0s and extraction a further +14.3s — these are the two AI-function calls and they dominate cost.</a:t>
            </a:r>
          </a:p>
          <a:p>
            <a:pPr algn="l">
              <a:lnSpc>
                <a:spcPct val="132000"/>
              </a:lnSpc>
            </a:pPr>
            <a:r>
              <a:rPr sz="1000" b="0" i="0">
                <a:solidFill>
                  <a:srgbClr val="333F4F"/>
                </a:solidFill>
                <a:latin typeface="Segoe UI"/>
              </a:rPr>
              <a:t>The +28m 25s gap before processed_at is not latency: silver_documents was refreshed in a later pipeline update, so its</a:t>
            </a:r>
          </a:p>
          <a:p>
            <a:pPr algn="l">
              <a:lnSpc>
                <a:spcPct val="132000"/>
              </a:lnSpc>
            </a:pPr>
            <a:r>
              <a:rPr sz="1000" b="0" i="0">
                <a:solidFill>
                  <a:srgbClr val="333F4F"/>
                </a:solidFill>
                <a:latin typeface="Segoe UI"/>
              </a:rPr>
              <a:t>current_timestamp() reflects that run rather than the original arrival.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A96A2E"/>
                </a:solidFill>
                <a:latin typeface="Segoe UI"/>
              </a:rPr>
              <a:t>STAGE 1  ·  RAW INGESTION</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bronze_documents</a:t>
            </a:r>
          </a:p>
        </p:txBody>
      </p:sp>
      <p:sp>
        <p:nvSpPr>
          <p:cNvPr id="4" name="Rectangle 3"/>
          <p:cNvSpPr/>
          <p:nvPr/>
        </p:nvSpPr>
        <p:spPr>
          <a:xfrm>
            <a:off x="530352" y="1088136"/>
            <a:ext cx="1051560" cy="32004"/>
          </a:xfrm>
          <a:prstGeom prst="rect">
            <a:avLst/>
          </a:prstGeom>
          <a:solidFill>
            <a:srgbClr val="A96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5</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92608"/>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Auto Loader (cloudFiles / binaryFile) reads the volume incrementally. This table stores the raw bytes plus file metadata; nothing has been interpreted yet.</a:t>
            </a:r>
          </a:p>
        </p:txBody>
      </p:sp>
      <p:sp>
        <p:nvSpPr>
          <p:cNvPr id="8" name="Rectangle 7"/>
          <p:cNvSpPr/>
          <p:nvPr/>
        </p:nvSpPr>
        <p:spPr>
          <a:xfrm>
            <a:off x="530352" y="1709928"/>
            <a:ext cx="5382615" cy="1723643"/>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28800"/>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document_id</a:t>
            </a:r>
          </a:p>
        </p:txBody>
      </p:sp>
      <p:sp>
        <p:nvSpPr>
          <p:cNvPr id="10" name="TextBox 9"/>
          <p:cNvSpPr txBox="1"/>
          <p:nvPr/>
        </p:nvSpPr>
        <p:spPr>
          <a:xfrm>
            <a:off x="2791050" y="1828800"/>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Consolas"/>
              </a:rPr>
              <a:t>82cab592043beee3a078eb35e3e7be…</a:t>
            </a:r>
          </a:p>
        </p:txBody>
      </p:sp>
      <p:sp>
        <p:nvSpPr>
          <p:cNvPr id="11" name="Rectangle 10"/>
          <p:cNvSpPr/>
          <p:nvPr/>
        </p:nvSpPr>
        <p:spPr>
          <a:xfrm>
            <a:off x="621792" y="2098548"/>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44268"/>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source_file_path</a:t>
            </a:r>
          </a:p>
        </p:txBody>
      </p:sp>
      <p:sp>
        <p:nvSpPr>
          <p:cNvPr id="13" name="TextBox 12"/>
          <p:cNvSpPr txBox="1"/>
          <p:nvPr/>
        </p:nvSpPr>
        <p:spPr>
          <a:xfrm>
            <a:off x="2791050" y="2144268"/>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Consolas"/>
              </a:rPr>
              <a:t>dbfs:/Volumes/idp_test_dev/…</a:t>
            </a:r>
          </a:p>
        </p:txBody>
      </p:sp>
      <p:sp>
        <p:nvSpPr>
          <p:cNvPr id="14" name="Rectangle 13"/>
          <p:cNvSpPr/>
          <p:nvPr/>
        </p:nvSpPr>
        <p:spPr>
          <a:xfrm>
            <a:off x="621792" y="241401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459735"/>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source_file_name</a:t>
            </a:r>
          </a:p>
        </p:txBody>
      </p:sp>
      <p:sp>
        <p:nvSpPr>
          <p:cNvPr id="16" name="TextBox 15"/>
          <p:cNvSpPr txBox="1"/>
          <p:nvPr/>
        </p:nvSpPr>
        <p:spPr>
          <a:xfrm>
            <a:off x="2791050" y="2459735"/>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invoice_10119.pdf</a:t>
            </a:r>
          </a:p>
        </p:txBody>
      </p:sp>
      <p:sp>
        <p:nvSpPr>
          <p:cNvPr id="17" name="Rectangle 16"/>
          <p:cNvSpPr/>
          <p:nvPr/>
        </p:nvSpPr>
        <p:spPr>
          <a:xfrm>
            <a:off x="621792" y="2729483"/>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775203"/>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file_extension</a:t>
            </a:r>
          </a:p>
        </p:txBody>
      </p:sp>
      <p:sp>
        <p:nvSpPr>
          <p:cNvPr id="19" name="TextBox 18"/>
          <p:cNvSpPr txBox="1"/>
          <p:nvPr/>
        </p:nvSpPr>
        <p:spPr>
          <a:xfrm>
            <a:off x="2791050" y="2775203"/>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pdf</a:t>
            </a:r>
          </a:p>
        </p:txBody>
      </p:sp>
      <p:sp>
        <p:nvSpPr>
          <p:cNvPr id="20" name="Rectangle 19"/>
          <p:cNvSpPr/>
          <p:nvPr/>
        </p:nvSpPr>
        <p:spPr>
          <a:xfrm>
            <a:off x="621792" y="3044951"/>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090671"/>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file_size_bytes</a:t>
            </a:r>
          </a:p>
        </p:txBody>
      </p:sp>
      <p:sp>
        <p:nvSpPr>
          <p:cNvPr id="22" name="TextBox 21"/>
          <p:cNvSpPr txBox="1"/>
          <p:nvPr/>
        </p:nvSpPr>
        <p:spPr>
          <a:xfrm>
            <a:off x="2791050" y="3090671"/>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3,141</a:t>
            </a:r>
          </a:p>
        </p:txBody>
      </p:sp>
      <p:sp>
        <p:nvSpPr>
          <p:cNvPr id="23" name="Rectangle 22"/>
          <p:cNvSpPr/>
          <p:nvPr/>
        </p:nvSpPr>
        <p:spPr>
          <a:xfrm>
            <a:off x="6278727" y="1709928"/>
            <a:ext cx="5382615" cy="1723643"/>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6743" y="1828800"/>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source_modified_at</a:t>
            </a:r>
          </a:p>
        </p:txBody>
      </p:sp>
      <p:sp>
        <p:nvSpPr>
          <p:cNvPr id="25" name="TextBox 24"/>
          <p:cNvSpPr txBox="1"/>
          <p:nvPr/>
        </p:nvSpPr>
        <p:spPr>
          <a:xfrm>
            <a:off x="8539426" y="1828800"/>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12:35:09</a:t>
            </a:r>
          </a:p>
        </p:txBody>
      </p:sp>
      <p:sp>
        <p:nvSpPr>
          <p:cNvPr id="26" name="Rectangle 25"/>
          <p:cNvSpPr/>
          <p:nvPr/>
        </p:nvSpPr>
        <p:spPr>
          <a:xfrm>
            <a:off x="6370167" y="2098548"/>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6743" y="2144268"/>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ingested_at</a:t>
            </a:r>
          </a:p>
        </p:txBody>
      </p:sp>
      <p:sp>
        <p:nvSpPr>
          <p:cNvPr id="28" name="TextBox 27"/>
          <p:cNvSpPr txBox="1"/>
          <p:nvPr/>
        </p:nvSpPr>
        <p:spPr>
          <a:xfrm>
            <a:off x="8539426" y="2144268"/>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2026-09-08 13:08:42</a:t>
            </a:r>
          </a:p>
        </p:txBody>
      </p:sp>
      <p:sp>
        <p:nvSpPr>
          <p:cNvPr id="29" name="Rectangle 28"/>
          <p:cNvSpPr/>
          <p:nvPr/>
        </p:nvSpPr>
        <p:spPr>
          <a:xfrm>
            <a:off x="6370167" y="241401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6743" y="2459735"/>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document_content</a:t>
            </a:r>
          </a:p>
        </p:txBody>
      </p:sp>
      <p:sp>
        <p:nvSpPr>
          <p:cNvPr id="31" name="TextBox 30"/>
          <p:cNvSpPr txBox="1"/>
          <p:nvPr/>
        </p:nvSpPr>
        <p:spPr>
          <a:xfrm>
            <a:off x="8539426" y="2459735"/>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BINARY, 3,141 bytes</a:t>
            </a:r>
          </a:p>
        </p:txBody>
      </p:sp>
      <p:sp>
        <p:nvSpPr>
          <p:cNvPr id="32" name="Rectangle 31"/>
          <p:cNvSpPr/>
          <p:nvPr/>
        </p:nvSpPr>
        <p:spPr>
          <a:xfrm>
            <a:off x="6370167" y="2729483"/>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6743" y="2775203"/>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Filter applied</a:t>
            </a:r>
          </a:p>
        </p:txBody>
      </p:sp>
      <p:sp>
        <p:nvSpPr>
          <p:cNvPr id="34" name="TextBox 33"/>
          <p:cNvSpPr txBox="1"/>
          <p:nvPr/>
        </p:nvSpPr>
        <p:spPr>
          <a:xfrm>
            <a:off x="8539426" y="2775203"/>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extension in 10 supported types</a:t>
            </a:r>
          </a:p>
        </p:txBody>
      </p:sp>
      <p:sp>
        <p:nvSpPr>
          <p:cNvPr id="35" name="Rectangle 34"/>
          <p:cNvSpPr/>
          <p:nvPr/>
        </p:nvSpPr>
        <p:spPr>
          <a:xfrm>
            <a:off x="6370167" y="3044951"/>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743" y="3090671"/>
            <a:ext cx="2077818" cy="260603"/>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Row count for this doc</a:t>
            </a:r>
          </a:p>
        </p:txBody>
      </p:sp>
      <p:sp>
        <p:nvSpPr>
          <p:cNvPr id="37" name="TextBox 36"/>
          <p:cNvSpPr txBox="1"/>
          <p:nvPr/>
        </p:nvSpPr>
        <p:spPr>
          <a:xfrm>
            <a:off x="8539426" y="3090671"/>
            <a:ext cx="2975613" cy="260603"/>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1</a:t>
            </a:r>
          </a:p>
        </p:txBody>
      </p:sp>
      <p:sp>
        <p:nvSpPr>
          <p:cNvPr id="38" name="Rectangle 37"/>
          <p:cNvSpPr/>
          <p:nvPr/>
        </p:nvSpPr>
        <p:spPr>
          <a:xfrm>
            <a:off x="530352" y="4599432"/>
            <a:ext cx="11130991" cy="1572768"/>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4800600"/>
            <a:ext cx="10618927"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Why file_size_bytes equals document_content length</a:t>
            </a:r>
          </a:p>
        </p:txBody>
      </p:sp>
      <p:sp>
        <p:nvSpPr>
          <p:cNvPr id="40" name="TextBox 39"/>
          <p:cNvSpPr txBox="1"/>
          <p:nvPr/>
        </p:nvSpPr>
        <p:spPr>
          <a:xfrm>
            <a:off x="786384" y="5129784"/>
            <a:ext cx="10618927" cy="914400"/>
          </a:xfrm>
          <a:prstGeom prst="rect">
            <a:avLst/>
          </a:prstGeom>
          <a:noFill/>
        </p:spPr>
        <p:txBody>
          <a:bodyPr wrap="square" lIns="0" rIns="0" tIns="0" bIns="0" anchor="t">
            <a:spAutoFit/>
          </a:bodyPr>
          <a:lstStyle/>
          <a:p>
            <a:pPr algn="l">
              <a:lnSpc>
                <a:spcPct val="134000"/>
              </a:lnSpc>
            </a:pPr>
            <a:r>
              <a:rPr sz="1000" b="0" i="0">
                <a:solidFill>
                  <a:srgbClr val="333F4F"/>
                </a:solidFill>
                <a:latin typeface="Segoe UI"/>
              </a:rPr>
              <a:t>Auto Loader's length column and the stored binary agree at 3,141 bytes, confirming the whole file was captured. The document_id is the SHA-256</a:t>
            </a:r>
          </a:p>
          <a:p>
            <a:pPr algn="l">
              <a:lnSpc>
                <a:spcPct val="134000"/>
              </a:lnSpc>
            </a:pPr>
            <a:r>
              <a:rPr sz="1000" b="0" i="0">
                <a:solidFill>
                  <a:srgbClr val="333F4F"/>
                </a:solidFill>
                <a:latin typeface="Segoe UI"/>
              </a:rPr>
              <a:t>of exactly those bytes, which makes re-ingesting an identical file idempotent at the identity level — but note it also means any byte-level change</a:t>
            </a:r>
          </a:p>
          <a:p>
            <a:pPr algn="l">
              <a:lnSpc>
                <a:spcPct val="134000"/>
              </a:lnSpc>
            </a:pPr>
            <a:r>
              <a:rPr sz="1000" b="0" i="0">
                <a:solidFill>
                  <a:srgbClr val="333F4F"/>
                </a:solidFill>
                <a:latin typeface="Segoe UI"/>
              </a:rPr>
              <a:t>(even re-saving the PDF) produces a brand-new document_id and therefore a second row rather than an update.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6E8296"/>
                </a:solidFill>
                <a:latin typeface="Segoe UI"/>
              </a:rPr>
              <a:t>STAGE 2  ·  AI_PARSE_DOCUMENT</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silver_parsed_documents</a:t>
            </a:r>
          </a:p>
        </p:txBody>
      </p:sp>
      <p:sp>
        <p:nvSpPr>
          <p:cNvPr id="4" name="Rectangle 3"/>
          <p:cNvSpPr/>
          <p:nvPr/>
        </p:nvSpPr>
        <p:spPr>
          <a:xfrm>
            <a:off x="530352" y="1088136"/>
            <a:ext cx="1051560" cy="3200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6</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92608"/>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ai_parse_document (version 2.0) turned the PDF into 9 layout elements with bounding boxes and confidence scores. Output JSON is 2,734 bytes.</a:t>
            </a:r>
          </a:p>
        </p:txBody>
      </p:sp>
      <p:graphicFrame>
        <p:nvGraphicFramePr>
          <p:cNvPr id="8" name="Table 7"/>
          <p:cNvGraphicFramePr>
            <a:graphicFrameLocks noGrp="1"/>
          </p:cNvGraphicFramePr>
          <p:nvPr/>
        </p:nvGraphicFramePr>
        <p:xfrm>
          <a:off x="530352" y="1709928"/>
          <a:ext cx="11130989" cy="3035806"/>
        </p:xfrm>
        <a:graphic>
          <a:graphicData uri="http://schemas.openxmlformats.org/drawingml/2006/table">
            <a:tbl>
              <a:tblPr firstRow="1">
                <a:tableStyleId>{5C22544A-7EE6-4342-B048-85BDC9FD1C3A}</a:tableStyleId>
              </a:tblPr>
              <a:tblGrid>
                <a:gridCol w="383827"/>
                <a:gridCol w="810302"/>
                <a:gridCol w="980891"/>
                <a:gridCol w="8955969"/>
              </a:tblGrid>
              <a:tr h="336499">
                <a:tc>
                  <a:txBody>
                    <a:bodyPr wrap="square"/>
                    <a:lstStyle/>
                    <a:p>
                      <a:pPr algn="l"/>
                      <a:r>
                        <a:rPr sz="950" b="1">
                          <a:solidFill>
                            <a:srgbClr val="FFFFFF"/>
                          </a:solidFill>
                          <a:latin typeface="Segoe UI"/>
                        </a:rPr>
                        <a:t>id</a:t>
                      </a:r>
                    </a:p>
                  </a:txBody>
                  <a:tcPr marL="64008" marR="64008" marT="18288" marB="18288" anchor="ctr">
                    <a:solidFill>
                      <a:srgbClr val="0E1B2E"/>
                    </a:solidFill>
                  </a:tcPr>
                </a:tc>
                <a:tc>
                  <a:txBody>
                    <a:bodyPr wrap="square"/>
                    <a:lstStyle/>
                    <a:p>
                      <a:pPr algn="l"/>
                      <a:r>
                        <a:rPr sz="950" b="1">
                          <a:solidFill>
                            <a:srgbClr val="FFFFFF"/>
                          </a:solidFill>
                          <a:latin typeface="Segoe UI"/>
                        </a:rPr>
                        <a:t>Type</a:t>
                      </a:r>
                    </a:p>
                  </a:txBody>
                  <a:tcPr marL="64008" marR="64008" marT="18288" marB="18288" anchor="ctr">
                    <a:solidFill>
                      <a:srgbClr val="0E1B2E"/>
                    </a:solidFill>
                  </a:tcPr>
                </a:tc>
                <a:tc>
                  <a:txBody>
                    <a:bodyPr wrap="square"/>
                    <a:lstStyle/>
                    <a:p>
                      <a:pPr algn="l"/>
                      <a:r>
                        <a:rPr sz="950" b="1">
                          <a:solidFill>
                            <a:srgbClr val="FFFFFF"/>
                          </a:solidFill>
                          <a:latin typeface="Segoe UI"/>
                        </a:rPr>
                        <a:t>Confidence</a:t>
                      </a:r>
                    </a:p>
                  </a:txBody>
                  <a:tcPr marL="64008" marR="64008" marT="18288" marB="18288" anchor="ctr">
                    <a:solidFill>
                      <a:srgbClr val="0E1B2E"/>
                    </a:solidFill>
                  </a:tcPr>
                </a:tc>
                <a:tc>
                  <a:txBody>
                    <a:bodyPr wrap="square"/>
                    <a:lstStyle/>
                    <a:p>
                      <a:pPr algn="l"/>
                      <a:r>
                        <a:rPr sz="950" b="1">
                          <a:solidFill>
                            <a:srgbClr val="FFFFFF"/>
                          </a:solidFill>
                          <a:latin typeface="Segoe UI"/>
                        </a:rPr>
                        <a:t>Content (truncated)</a:t>
                      </a:r>
                    </a:p>
                  </a:txBody>
                  <a:tcPr marL="64008" marR="64008" marT="18288" marB="18288" anchor="ctr">
                    <a:solidFill>
                      <a:srgbClr val="0E1B2E"/>
                    </a:solidFill>
                  </a:tcPr>
                </a:tc>
              </a:tr>
              <a:tr h="299923">
                <a:tc>
                  <a:txBody>
                    <a:bodyPr wrap="square"/>
                    <a:lstStyle/>
                    <a:p>
                      <a:pPr algn="ctr"/>
                      <a:r>
                        <a:rPr sz="900" b="0">
                          <a:solidFill>
                            <a:srgbClr val="333F4F"/>
                          </a:solidFill>
                          <a:latin typeface="Segoe UI"/>
                        </a:rPr>
                        <a:t>0</a:t>
                      </a:r>
                    </a:p>
                  </a:txBody>
                  <a:tcPr marL="64008" marR="64008" marT="18288" marB="18288" anchor="ctr">
                    <a:solidFill>
                      <a:srgbClr val="FFFFFF"/>
                    </a:solidFill>
                  </a:tcPr>
                </a:tc>
                <a:tc>
                  <a:txBody>
                    <a:bodyPr wrap="square"/>
                    <a:lstStyle/>
                    <a:p>
                      <a:pPr algn="l"/>
                      <a:r>
                        <a:rPr sz="900" b="0">
                          <a:solidFill>
                            <a:srgbClr val="333F4F"/>
                          </a:solidFill>
                          <a:latin typeface="Segoe UI"/>
                        </a:rPr>
                        <a:t>text</a:t>
                      </a:r>
                    </a:p>
                  </a:txBody>
                  <a:tcPr marL="64008" marR="64008" marT="18288" marB="18288" anchor="ctr">
                    <a:solidFill>
                      <a:srgbClr val="FFFFFF"/>
                    </a:solidFill>
                  </a:tcPr>
                </a:tc>
                <a:tc>
                  <a:txBody>
                    <a:bodyPr wrap="square"/>
                    <a:lstStyle/>
                    <a:p>
                      <a:pPr algn="ctr"/>
                      <a:r>
                        <a:rPr sz="900" b="1">
                          <a:solidFill>
                            <a:srgbClr val="1B8253"/>
                          </a:solidFill>
                          <a:latin typeface="Segoe UI"/>
                        </a:rPr>
                        <a:t>1.0000</a:t>
                      </a:r>
                    </a:p>
                  </a:txBody>
                  <a:tcPr marL="64008" marR="64008" marT="18288" marB="18288" anchor="ctr">
                    <a:solidFill>
                      <a:srgbClr val="FFFFFF"/>
                    </a:solidFill>
                  </a:tcPr>
                </a:tc>
                <a:tc>
                  <a:txBody>
                    <a:bodyPr wrap="square"/>
                    <a:lstStyle/>
                    <a:p>
                      <a:pPr algn="l"/>
                      <a:r>
                        <a:rPr sz="900" b="0">
                          <a:solidFill>
                            <a:srgbClr val="333F4F"/>
                          </a:solidFill>
                          <a:latin typeface="Segoe UI"/>
                        </a:rPr>
                        <a:t>Riverbend Marketing ⏎ Studio</a:t>
                      </a:r>
                    </a:p>
                  </a:txBody>
                  <a:tcPr marL="64008" marR="64008" marT="18288" marB="18288" anchor="ctr">
                    <a:solidFill>
                      <a:srgbClr val="FFFFFF"/>
                    </a:solidFill>
                  </a:tcPr>
                </a:tc>
              </a:tr>
              <a:tr h="299923">
                <a:tc>
                  <a:txBody>
                    <a:bodyPr wrap="square"/>
                    <a:lstStyle/>
                    <a:p>
                      <a:pPr algn="ctr"/>
                      <a:r>
                        <a:rPr sz="900" b="0">
                          <a:solidFill>
                            <a:srgbClr val="333F4F"/>
                          </a:solidFill>
                          <a:latin typeface="Segoe UI"/>
                        </a:rPr>
                        <a:t>1</a:t>
                      </a:r>
                    </a:p>
                  </a:txBody>
                  <a:tcPr marL="64008" marR="64008" marT="18288" marB="18288" anchor="ctr">
                    <a:solidFill>
                      <a:srgbClr val="F4F7FA"/>
                    </a:solidFill>
                  </a:tcPr>
                </a:tc>
                <a:tc>
                  <a:txBody>
                    <a:bodyPr wrap="square"/>
                    <a:lstStyle/>
                    <a:p>
                      <a:pPr algn="l"/>
                      <a:r>
                        <a:rPr sz="900" b="0">
                          <a:solidFill>
                            <a:srgbClr val="333F4F"/>
                          </a:solidFill>
                          <a:latin typeface="Segoe UI"/>
                        </a:rPr>
                        <a:t>title</a:t>
                      </a:r>
                    </a:p>
                  </a:txBody>
                  <a:tcPr marL="64008" marR="64008" marT="18288" marB="18288" anchor="ctr">
                    <a:solidFill>
                      <a:srgbClr val="F4F7FA"/>
                    </a:solidFill>
                  </a:tcPr>
                </a:tc>
                <a:tc>
                  <a:txBody>
                    <a:bodyPr wrap="square"/>
                    <a:lstStyle/>
                    <a:p>
                      <a:pPr algn="ctr"/>
                      <a:r>
                        <a:rPr sz="900" b="1">
                          <a:solidFill>
                            <a:srgbClr val="1B8253"/>
                          </a:solidFill>
                          <a:latin typeface="Segoe UI"/>
                        </a:rPr>
                        <a:t>1.0000</a:t>
                      </a:r>
                    </a:p>
                  </a:txBody>
                  <a:tcPr marL="64008" marR="64008" marT="18288" marB="18288" anchor="ctr">
                    <a:solidFill>
                      <a:srgbClr val="F4F7FA"/>
                    </a:solidFill>
                  </a:tcPr>
                </a:tc>
                <a:tc>
                  <a:txBody>
                    <a:bodyPr wrap="square"/>
                    <a:lstStyle/>
                    <a:p>
                      <a:pPr algn="l"/>
                      <a:r>
                        <a:rPr sz="900" b="0">
                          <a:solidFill>
                            <a:srgbClr val="333F4F"/>
                          </a:solidFill>
                          <a:latin typeface="Segoe UI"/>
                        </a:rPr>
                        <a:t>INVOICE</a:t>
                      </a:r>
                    </a:p>
                  </a:txBody>
                  <a:tcPr marL="64008" marR="64008" marT="18288" marB="18288" anchor="ctr">
                    <a:solidFill>
                      <a:srgbClr val="F4F7FA"/>
                    </a:solidFill>
                  </a:tcPr>
                </a:tc>
              </a:tr>
              <a:tr h="299923">
                <a:tc>
                  <a:txBody>
                    <a:bodyPr wrap="square"/>
                    <a:lstStyle/>
                    <a:p>
                      <a:pPr algn="ctr"/>
                      <a:r>
                        <a:rPr sz="900" b="0">
                          <a:solidFill>
                            <a:srgbClr val="333F4F"/>
                          </a:solidFill>
                          <a:latin typeface="Segoe UI"/>
                        </a:rPr>
                        <a:t>2</a:t>
                      </a:r>
                    </a:p>
                  </a:txBody>
                  <a:tcPr marL="64008" marR="64008" marT="18288" marB="18288" anchor="ctr">
                    <a:solidFill>
                      <a:srgbClr val="FFFFFF"/>
                    </a:solidFill>
                  </a:tcPr>
                </a:tc>
                <a:tc>
                  <a:txBody>
                    <a:bodyPr wrap="square"/>
                    <a:lstStyle/>
                    <a:p>
                      <a:pPr algn="l"/>
                      <a:r>
                        <a:rPr sz="900" b="0">
                          <a:solidFill>
                            <a:srgbClr val="333F4F"/>
                          </a:solidFill>
                          <a:latin typeface="Segoe UI"/>
                        </a:rPr>
                        <a:t>text</a:t>
                      </a:r>
                    </a:p>
                  </a:txBody>
                  <a:tcPr marL="64008" marR="64008" marT="18288" marB="18288" anchor="ctr">
                    <a:solidFill>
                      <a:srgbClr val="FFFFFF"/>
                    </a:solidFill>
                  </a:tcPr>
                </a:tc>
                <a:tc>
                  <a:txBody>
                    <a:bodyPr wrap="square"/>
                    <a:lstStyle/>
                    <a:p>
                      <a:pPr algn="ctr"/>
                      <a:r>
                        <a:rPr sz="900" b="1">
                          <a:solidFill>
                            <a:srgbClr val="1B8253"/>
                          </a:solidFill>
                          <a:latin typeface="Segoe UI"/>
                        </a:rPr>
                        <a:t>1.0000</a:t>
                      </a:r>
                    </a:p>
                  </a:txBody>
                  <a:tcPr marL="64008" marR="64008" marT="18288" marB="18288" anchor="ctr">
                    <a:solidFill>
                      <a:srgbClr val="FFFFFF"/>
                    </a:solidFill>
                  </a:tcPr>
                </a:tc>
                <a:tc>
                  <a:txBody>
                    <a:bodyPr wrap="square"/>
                    <a:lstStyle/>
                    <a:p>
                      <a:pPr algn="l"/>
                      <a:r>
                        <a:rPr sz="900" b="0">
                          <a:solidFill>
                            <a:srgbClr val="333F4F"/>
                          </a:solidFill>
                          <a:latin typeface="Segoe UI"/>
                        </a:rPr>
                        <a:t>22 Kingfisher Ave ⏎ Nashville, TN 37203 ⏎ (615) 555-0172 • invoices@riverbendstudi…</a:t>
                      </a:r>
                    </a:p>
                  </a:txBody>
                  <a:tcPr marL="64008" marR="64008" marT="18288" marB="18288" anchor="ctr">
                    <a:solidFill>
                      <a:srgbClr val="FFFFFF"/>
                    </a:solidFill>
                  </a:tcPr>
                </a:tc>
              </a:tr>
              <a:tr h="299923">
                <a:tc>
                  <a:txBody>
                    <a:bodyPr wrap="square"/>
                    <a:lstStyle/>
                    <a:p>
                      <a:pPr algn="ctr"/>
                      <a:r>
                        <a:rPr sz="900" b="0">
                          <a:solidFill>
                            <a:srgbClr val="333F4F"/>
                          </a:solidFill>
                          <a:latin typeface="Segoe UI"/>
                        </a:rPr>
                        <a:t>3</a:t>
                      </a:r>
                    </a:p>
                  </a:txBody>
                  <a:tcPr marL="64008" marR="64008" marT="18288" marB="18288" anchor="ctr">
                    <a:solidFill>
                      <a:srgbClr val="F4F7FA"/>
                    </a:solidFill>
                  </a:tcPr>
                </a:tc>
                <a:tc>
                  <a:txBody>
                    <a:bodyPr wrap="square"/>
                    <a:lstStyle/>
                    <a:p>
                      <a:pPr algn="l"/>
                      <a:r>
                        <a:rPr sz="900" b="0">
                          <a:solidFill>
                            <a:srgbClr val="333F4F"/>
                          </a:solidFill>
                          <a:latin typeface="Segoe UI"/>
                        </a:rPr>
                        <a:t>table</a:t>
                      </a:r>
                    </a:p>
                  </a:txBody>
                  <a:tcPr marL="64008" marR="64008" marT="18288" marB="18288" anchor="ctr">
                    <a:solidFill>
                      <a:srgbClr val="F4F7FA"/>
                    </a:solidFill>
                  </a:tcPr>
                </a:tc>
                <a:tc>
                  <a:txBody>
                    <a:bodyPr wrap="square"/>
                    <a:lstStyle/>
                    <a:p>
                      <a:pPr algn="ctr"/>
                      <a:r>
                        <a:rPr sz="900" b="1">
                          <a:solidFill>
                            <a:srgbClr val="C67C08"/>
                          </a:solidFill>
                          <a:latin typeface="Segoe UI"/>
                        </a:rPr>
                        <a:t>0.9854</a:t>
                      </a:r>
                    </a:p>
                  </a:txBody>
                  <a:tcPr marL="64008" marR="64008" marT="18288" marB="18288" anchor="ctr">
                    <a:solidFill>
                      <a:srgbClr val="F4F7FA"/>
                    </a:solidFill>
                  </a:tcPr>
                </a:tc>
                <a:tc>
                  <a:txBody>
                    <a:bodyPr wrap="square"/>
                    <a:lstStyle/>
                    <a:p>
                      <a:pPr algn="l"/>
                      <a:r>
                        <a:rPr sz="900" b="0">
                          <a:solidFill>
                            <a:srgbClr val="333F4F"/>
                          </a:solidFill>
                          <a:latin typeface="Segoe UI"/>
                        </a:rPr>
                        <a:t>&lt;table&gt;&lt;tr&gt;&lt;td&gt;Invoice #:&lt;/td&gt;&lt;td&gt;INV-20250010&lt;/td&gt;&lt;/tr&gt;&lt;tr&gt;&lt;td&gt;Invoice Date:&lt;/td&gt;…</a:t>
                      </a:r>
                    </a:p>
                  </a:txBody>
                  <a:tcPr marL="64008" marR="64008" marT="18288" marB="18288" anchor="ctr">
                    <a:solidFill>
                      <a:srgbClr val="F4F7FA"/>
                    </a:solidFill>
                  </a:tcPr>
                </a:tc>
              </a:tr>
              <a:tr h="299923">
                <a:tc>
                  <a:txBody>
                    <a:bodyPr wrap="square"/>
                    <a:lstStyle/>
                    <a:p>
                      <a:pPr algn="ctr"/>
                      <a:r>
                        <a:rPr sz="900" b="0">
                          <a:solidFill>
                            <a:srgbClr val="333F4F"/>
                          </a:solidFill>
                          <a:latin typeface="Segoe UI"/>
                        </a:rPr>
                        <a:t>4</a:t>
                      </a:r>
                    </a:p>
                  </a:txBody>
                  <a:tcPr marL="64008" marR="64008" marT="18288" marB="18288" anchor="ctr">
                    <a:solidFill>
                      <a:srgbClr val="FFFFFF"/>
                    </a:solidFill>
                  </a:tcPr>
                </a:tc>
                <a:tc>
                  <a:txBody>
                    <a:bodyPr wrap="square"/>
                    <a:lstStyle/>
                    <a:p>
                      <a:pPr algn="l"/>
                      <a:r>
                        <a:rPr sz="900" b="0">
                          <a:solidFill>
                            <a:srgbClr val="333F4F"/>
                          </a:solidFill>
                          <a:latin typeface="Segoe UI"/>
                        </a:rPr>
                        <a:t>table</a:t>
                      </a:r>
                    </a:p>
                  </a:txBody>
                  <a:tcPr marL="64008" marR="64008" marT="18288" marB="18288" anchor="ctr">
                    <a:solidFill>
                      <a:srgbClr val="FFFFFF"/>
                    </a:solidFill>
                  </a:tcPr>
                </a:tc>
                <a:tc>
                  <a:txBody>
                    <a:bodyPr wrap="square"/>
                    <a:lstStyle/>
                    <a:p>
                      <a:pPr algn="ctr"/>
                      <a:r>
                        <a:rPr sz="900" b="1">
                          <a:solidFill>
                            <a:srgbClr val="B8382C"/>
                          </a:solidFill>
                          <a:latin typeface="Segoe UI"/>
                        </a:rPr>
                        <a:t>0.8974</a:t>
                      </a:r>
                    </a:p>
                  </a:txBody>
                  <a:tcPr marL="64008" marR="64008" marT="18288" marB="18288" anchor="ctr">
                    <a:solidFill>
                      <a:srgbClr val="FFFFFF"/>
                    </a:solidFill>
                  </a:tcPr>
                </a:tc>
                <a:tc>
                  <a:txBody>
                    <a:bodyPr wrap="square"/>
                    <a:lstStyle/>
                    <a:p>
                      <a:pPr algn="l"/>
                      <a:r>
                        <a:rPr sz="900" b="0">
                          <a:solidFill>
                            <a:srgbClr val="333F4F"/>
                          </a:solidFill>
                          <a:latin typeface="Segoe UI"/>
                        </a:rPr>
                        <a:t>&lt;table&gt;&lt;tr&gt;&lt;th&gt;Bill To&lt;/th&gt;&lt;th&gt;Ship To&lt;/th&gt;&lt;/tr&gt;&lt;tr&gt;&lt;td&gt;Keystone Logistics Partner…</a:t>
                      </a:r>
                    </a:p>
                  </a:txBody>
                  <a:tcPr marL="64008" marR="64008" marT="18288" marB="18288" anchor="ctr">
                    <a:solidFill>
                      <a:srgbClr val="FFFFFF"/>
                    </a:solidFill>
                  </a:tcPr>
                </a:tc>
              </a:tr>
              <a:tr h="299923">
                <a:tc>
                  <a:txBody>
                    <a:bodyPr wrap="square"/>
                    <a:lstStyle/>
                    <a:p>
                      <a:pPr algn="ctr"/>
                      <a:r>
                        <a:rPr sz="900" b="0">
                          <a:solidFill>
                            <a:srgbClr val="333F4F"/>
                          </a:solidFill>
                          <a:latin typeface="Segoe UI"/>
                        </a:rPr>
                        <a:t>5</a:t>
                      </a:r>
                    </a:p>
                  </a:txBody>
                  <a:tcPr marL="64008" marR="64008" marT="18288" marB="18288" anchor="ctr">
                    <a:solidFill>
                      <a:srgbClr val="F4F7FA"/>
                    </a:solidFill>
                  </a:tcPr>
                </a:tc>
                <a:tc>
                  <a:txBody>
                    <a:bodyPr wrap="square"/>
                    <a:lstStyle/>
                    <a:p>
                      <a:pPr algn="l"/>
                      <a:r>
                        <a:rPr sz="900" b="0">
                          <a:solidFill>
                            <a:srgbClr val="333F4F"/>
                          </a:solidFill>
                          <a:latin typeface="Segoe UI"/>
                        </a:rPr>
                        <a:t>table</a:t>
                      </a:r>
                    </a:p>
                  </a:txBody>
                  <a:tcPr marL="64008" marR="64008" marT="18288" marB="18288" anchor="ctr">
                    <a:solidFill>
                      <a:srgbClr val="F4F7FA"/>
                    </a:solidFill>
                  </a:tcPr>
                </a:tc>
                <a:tc>
                  <a:txBody>
                    <a:bodyPr wrap="square"/>
                    <a:lstStyle/>
                    <a:p>
                      <a:pPr algn="ctr"/>
                      <a:r>
                        <a:rPr sz="900" b="1">
                          <a:solidFill>
                            <a:srgbClr val="1B8253"/>
                          </a:solidFill>
                          <a:latin typeface="Segoe UI"/>
                        </a:rPr>
                        <a:t>0.9999</a:t>
                      </a:r>
                    </a:p>
                  </a:txBody>
                  <a:tcPr marL="64008" marR="64008" marT="18288" marB="18288" anchor="ctr">
                    <a:solidFill>
                      <a:srgbClr val="F4F7FA"/>
                    </a:solidFill>
                  </a:tcPr>
                </a:tc>
                <a:tc>
                  <a:txBody>
                    <a:bodyPr wrap="square"/>
                    <a:lstStyle/>
                    <a:p>
                      <a:pPr algn="l"/>
                      <a:r>
                        <a:rPr sz="900" b="0">
                          <a:solidFill>
                            <a:srgbClr val="333F4F"/>
                          </a:solidFill>
                          <a:latin typeface="Segoe UI"/>
                        </a:rPr>
                        <a:t>&lt;table&gt;&lt;tr&gt;&lt;th&gt;Description&lt;/th&gt;&lt;th&gt;Qty&lt;/th&gt;&lt;th&gt;Unit Price&lt;/th&gt;&lt;th&gt;Amount&lt;/th&gt;&lt;/tr&gt;…</a:t>
                      </a:r>
                    </a:p>
                  </a:txBody>
                  <a:tcPr marL="64008" marR="64008" marT="18288" marB="18288" anchor="ctr">
                    <a:solidFill>
                      <a:srgbClr val="F4F7FA"/>
                    </a:solidFill>
                  </a:tcPr>
                </a:tc>
              </a:tr>
              <a:tr h="299923">
                <a:tc>
                  <a:txBody>
                    <a:bodyPr wrap="square"/>
                    <a:lstStyle/>
                    <a:p>
                      <a:pPr algn="ctr"/>
                      <a:r>
                        <a:rPr sz="900" b="0">
                          <a:solidFill>
                            <a:srgbClr val="333F4F"/>
                          </a:solidFill>
                          <a:latin typeface="Segoe UI"/>
                        </a:rPr>
                        <a:t>6</a:t>
                      </a:r>
                    </a:p>
                  </a:txBody>
                  <a:tcPr marL="64008" marR="64008" marT="18288" marB="18288" anchor="ctr">
                    <a:solidFill>
                      <a:srgbClr val="FFFFFF"/>
                    </a:solidFill>
                  </a:tcPr>
                </a:tc>
                <a:tc>
                  <a:txBody>
                    <a:bodyPr wrap="square"/>
                    <a:lstStyle/>
                    <a:p>
                      <a:pPr algn="l"/>
                      <a:r>
                        <a:rPr sz="900" b="0">
                          <a:solidFill>
                            <a:srgbClr val="333F4F"/>
                          </a:solidFill>
                          <a:latin typeface="Segoe UI"/>
                        </a:rPr>
                        <a:t>text</a:t>
                      </a:r>
                    </a:p>
                  </a:txBody>
                  <a:tcPr marL="64008" marR="64008" marT="18288" marB="18288" anchor="ctr">
                    <a:solidFill>
                      <a:srgbClr val="FFFFFF"/>
                    </a:solidFill>
                  </a:tcPr>
                </a:tc>
                <a:tc>
                  <a:txBody>
                    <a:bodyPr wrap="square"/>
                    <a:lstStyle/>
                    <a:p>
                      <a:pPr algn="ctr"/>
                      <a:r>
                        <a:rPr sz="900" b="1">
                          <a:solidFill>
                            <a:srgbClr val="1B8253"/>
                          </a:solidFill>
                          <a:latin typeface="Segoe UI"/>
                        </a:rPr>
                        <a:t>1.0000</a:t>
                      </a:r>
                    </a:p>
                  </a:txBody>
                  <a:tcPr marL="64008" marR="64008" marT="18288" marB="18288" anchor="ctr">
                    <a:solidFill>
                      <a:srgbClr val="FFFFFF"/>
                    </a:solidFill>
                  </a:tcPr>
                </a:tc>
                <a:tc>
                  <a:txBody>
                    <a:bodyPr wrap="square"/>
                    <a:lstStyle/>
                    <a:p>
                      <a:pPr algn="l"/>
                      <a:r>
                        <a:rPr sz="900" b="0">
                          <a:solidFill>
                            <a:srgbClr val="333F4F"/>
                          </a:solidFill>
                          <a:latin typeface="Segoe UI"/>
                        </a:rPr>
                        <a:t>Remit To: Riverbend Marketing Studio ⏎ PO Box 1903 ⏎ Nashville, TN 37202</a:t>
                      </a:r>
                    </a:p>
                  </a:txBody>
                  <a:tcPr marL="64008" marR="64008" marT="18288" marB="18288" anchor="ctr">
                    <a:solidFill>
                      <a:srgbClr val="FFFFFF"/>
                    </a:solidFill>
                  </a:tcPr>
                </a:tc>
              </a:tr>
              <a:tr h="299923">
                <a:tc>
                  <a:txBody>
                    <a:bodyPr wrap="square"/>
                    <a:lstStyle/>
                    <a:p>
                      <a:pPr algn="ctr"/>
                      <a:r>
                        <a:rPr sz="900" b="0">
                          <a:solidFill>
                            <a:srgbClr val="333F4F"/>
                          </a:solidFill>
                          <a:latin typeface="Segoe UI"/>
                        </a:rPr>
                        <a:t>7</a:t>
                      </a:r>
                    </a:p>
                  </a:txBody>
                  <a:tcPr marL="64008" marR="64008" marT="18288" marB="18288" anchor="ctr">
                    <a:solidFill>
                      <a:srgbClr val="F4F7FA"/>
                    </a:solidFill>
                  </a:tcPr>
                </a:tc>
                <a:tc>
                  <a:txBody>
                    <a:bodyPr wrap="square"/>
                    <a:lstStyle/>
                    <a:p>
                      <a:pPr algn="l"/>
                      <a:r>
                        <a:rPr sz="900" b="0">
                          <a:solidFill>
                            <a:srgbClr val="333F4F"/>
                          </a:solidFill>
                          <a:latin typeface="Segoe UI"/>
                        </a:rPr>
                        <a:t>table</a:t>
                      </a:r>
                    </a:p>
                  </a:txBody>
                  <a:tcPr marL="64008" marR="64008" marT="18288" marB="18288" anchor="ctr">
                    <a:solidFill>
                      <a:srgbClr val="F4F7FA"/>
                    </a:solidFill>
                  </a:tcPr>
                </a:tc>
                <a:tc>
                  <a:txBody>
                    <a:bodyPr wrap="square"/>
                    <a:lstStyle/>
                    <a:p>
                      <a:pPr algn="ctr"/>
                      <a:r>
                        <a:rPr sz="900" b="1">
                          <a:solidFill>
                            <a:srgbClr val="C67C08"/>
                          </a:solidFill>
                          <a:latin typeface="Segoe UI"/>
                        </a:rPr>
                        <a:t>0.9869</a:t>
                      </a:r>
                    </a:p>
                  </a:txBody>
                  <a:tcPr marL="64008" marR="64008" marT="18288" marB="18288" anchor="ctr">
                    <a:solidFill>
                      <a:srgbClr val="F4F7FA"/>
                    </a:solidFill>
                  </a:tcPr>
                </a:tc>
                <a:tc>
                  <a:txBody>
                    <a:bodyPr wrap="square"/>
                    <a:lstStyle/>
                    <a:p>
                      <a:pPr algn="l"/>
                      <a:r>
                        <a:rPr sz="900" b="0">
                          <a:solidFill>
                            <a:srgbClr val="333F4F"/>
                          </a:solidFill>
                          <a:latin typeface="Segoe UI"/>
                        </a:rPr>
                        <a:t>&lt;table&gt;&lt;tr&gt;&lt;td&gt;Subtotal&lt;/td&gt;&lt;td&gt;$4,560.79&lt;/td&gt;&lt;/tr&gt;&lt;tr&gt;&lt;td&gt;Tax (0%)&lt;/td&gt;&lt;td&gt;$0.00&lt;…</a:t>
                      </a:r>
                    </a:p>
                  </a:txBody>
                  <a:tcPr marL="64008" marR="64008" marT="18288" marB="18288" anchor="ctr">
                    <a:solidFill>
                      <a:srgbClr val="F4F7FA"/>
                    </a:solidFill>
                  </a:tcPr>
                </a:tc>
              </a:tr>
              <a:tr h="299923">
                <a:tc>
                  <a:txBody>
                    <a:bodyPr wrap="square"/>
                    <a:lstStyle/>
                    <a:p>
                      <a:pPr algn="ctr"/>
                      <a:r>
                        <a:rPr sz="900" b="0">
                          <a:solidFill>
                            <a:srgbClr val="333F4F"/>
                          </a:solidFill>
                          <a:latin typeface="Segoe UI"/>
                        </a:rPr>
                        <a:t>8</a:t>
                      </a:r>
                    </a:p>
                  </a:txBody>
                  <a:tcPr marL="64008" marR="64008" marT="18288" marB="18288" anchor="ctr">
                    <a:solidFill>
                      <a:srgbClr val="FFFFFF"/>
                    </a:solidFill>
                  </a:tcPr>
                </a:tc>
                <a:tc>
                  <a:txBody>
                    <a:bodyPr wrap="square"/>
                    <a:lstStyle/>
                    <a:p>
                      <a:pPr algn="l"/>
                      <a:r>
                        <a:rPr sz="900" b="0">
                          <a:solidFill>
                            <a:srgbClr val="333F4F"/>
                          </a:solidFill>
                          <a:latin typeface="Segoe UI"/>
                        </a:rPr>
                        <a:t>text</a:t>
                      </a:r>
                    </a:p>
                  </a:txBody>
                  <a:tcPr marL="64008" marR="64008" marT="18288" marB="18288" anchor="ctr">
                    <a:solidFill>
                      <a:srgbClr val="FFFFFF"/>
                    </a:solidFill>
                  </a:tcPr>
                </a:tc>
                <a:tc>
                  <a:txBody>
                    <a:bodyPr wrap="square"/>
                    <a:lstStyle/>
                    <a:p>
                      <a:pPr algn="ctr"/>
                      <a:r>
                        <a:rPr sz="900" b="1">
                          <a:solidFill>
                            <a:srgbClr val="1B8253"/>
                          </a:solidFill>
                          <a:latin typeface="Segoe UI"/>
                        </a:rPr>
                        <a:t>1.0000</a:t>
                      </a:r>
                    </a:p>
                  </a:txBody>
                  <a:tcPr marL="64008" marR="64008" marT="18288" marB="18288" anchor="ctr">
                    <a:solidFill>
                      <a:srgbClr val="FFFFFF"/>
                    </a:solidFill>
                  </a:tcPr>
                </a:tc>
                <a:tc>
                  <a:txBody>
                    <a:bodyPr wrap="square"/>
                    <a:lstStyle/>
                    <a:p>
                      <a:pPr algn="l"/>
                      <a:r>
                        <a:rPr sz="900" b="0">
                          <a:solidFill>
                            <a:srgbClr val="333F4F"/>
                          </a:solidFill>
                          <a:latin typeface="Segoe UI"/>
                        </a:rPr>
                        <a:t>Notes: Please include the invoice number with your payment. For questions, contact…</a:t>
                      </a:r>
                    </a:p>
                  </a:txBody>
                  <a:tcPr marL="64008" marR="64008" marT="18288" marB="18288" anchor="ctr">
                    <a:solidFill>
                      <a:srgbClr val="FFFFFF"/>
                    </a:solidFill>
                  </a:tcPr>
                </a:tc>
              </a:tr>
            </a:tbl>
          </a:graphicData>
        </a:graphic>
      </p:graphicFrame>
      <p:sp>
        <p:nvSpPr>
          <p:cNvPr id="9" name="Rectangle 8"/>
          <p:cNvSpPr/>
          <p:nvPr/>
        </p:nvSpPr>
        <p:spPr>
          <a:xfrm>
            <a:off x="530352" y="4873752"/>
            <a:ext cx="11130991" cy="1298448"/>
          </a:xfrm>
          <a:prstGeom prst="rect">
            <a:avLst/>
          </a:prstGeom>
          <a:solidFill>
            <a:srgbClr val="FDF1EF"/>
          </a:solidFill>
          <a:ln w="9525">
            <a:solidFill>
              <a:srgbClr val="F0C9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4873752"/>
            <a:ext cx="45720" cy="1298448"/>
          </a:xfrm>
          <a:prstGeom prst="rect">
            <a:avLst/>
          </a:prstGeom>
          <a:solidFill>
            <a:srgbClr val="B83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056632"/>
            <a:ext cx="10618927" cy="219456"/>
          </a:xfrm>
          <a:prstGeom prst="rect">
            <a:avLst/>
          </a:prstGeom>
          <a:noFill/>
        </p:spPr>
        <p:txBody>
          <a:bodyPr wrap="square" lIns="0" rIns="0" tIns="0" bIns="0" anchor="t">
            <a:spAutoFit/>
          </a:bodyPr>
          <a:lstStyle/>
          <a:p>
            <a:pPr algn="l">
              <a:lnSpc>
                <a:spcPct val="100000"/>
              </a:lnSpc>
            </a:pPr>
            <a:r>
              <a:rPr sz="1150" b="1" i="0">
                <a:solidFill>
                  <a:srgbClr val="B8382C"/>
                </a:solidFill>
                <a:latin typeface="Segoe UI"/>
              </a:rPr>
              <a:t>Element 4 is the weak link — confidence 0.8974, the lowest on the page</a:t>
            </a:r>
          </a:p>
        </p:txBody>
      </p:sp>
      <p:sp>
        <p:nvSpPr>
          <p:cNvPr id="12" name="TextBox 11"/>
          <p:cNvSpPr txBox="1"/>
          <p:nvPr/>
        </p:nvSpPr>
        <p:spPr>
          <a:xfrm>
            <a:off x="786384" y="5385816"/>
            <a:ext cx="10618927" cy="731520"/>
          </a:xfrm>
          <a:prstGeom prst="rect">
            <a:avLst/>
          </a:prstGeom>
          <a:noFill/>
        </p:spPr>
        <p:txBody>
          <a:bodyPr wrap="square" lIns="0" rIns="0" tIns="0" bIns="0" anchor="t">
            <a:spAutoFit/>
          </a:bodyPr>
          <a:lstStyle/>
          <a:p>
            <a:pPr algn="l">
              <a:lnSpc>
                <a:spcPct val="132000"/>
              </a:lnSpc>
            </a:pPr>
            <a:r>
              <a:rPr sz="950" b="0" i="0">
                <a:solidFill>
                  <a:srgbClr val="333F4F"/>
                </a:solidFill>
                <a:latin typeface="Segoe UI"/>
              </a:rPr>
              <a:t>The Bill To / Ship To table was emitted as  &lt;td&gt;Keystone Logistics Partners&lt;br&gt;3400 River Rd&lt;/td&gt;&lt;td&gt;Harrisburg, PA 17110&lt;/td&gt;.</a:t>
            </a:r>
          </a:p>
          <a:p>
            <a:pPr algn="l">
              <a:lnSpc>
                <a:spcPct val="132000"/>
              </a:lnSpc>
            </a:pPr>
            <a:r>
              <a:rPr sz="950" b="0" i="0">
                <a:solidFill>
                  <a:srgbClr val="333F4F"/>
                </a:solidFill>
                <a:latin typeface="Segoe UI"/>
              </a:rPr>
              <a:t>In the source PDF both cells hold the same full address and their text overlaps visually; the parser split it at the wrong boundary, leaving the city/state/ZIP</a:t>
            </a:r>
          </a:p>
          <a:p>
            <a:pPr algn="l">
              <a:lnSpc>
                <a:spcPct val="132000"/>
              </a:lnSpc>
            </a:pPr>
            <a:r>
              <a:rPr sz="950" b="0" i="0">
                <a:solidFill>
                  <a:srgbClr val="333F4F"/>
                </a:solidFill>
                <a:latin typeface="Segoe UI"/>
              </a:rPr>
              <a:t>stranded in the Ship To column. Everything downstream inherits this — the defect originates at parse time, not at extraction.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6E8296"/>
                </a:solidFill>
                <a:latin typeface="Segoe UI"/>
              </a:rPr>
              <a:t>STAGE 3  ·  AI_EXTRACT</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silver_extracted_documents</a:t>
            </a:r>
          </a:p>
        </p:txBody>
      </p:sp>
      <p:sp>
        <p:nvSpPr>
          <p:cNvPr id="4" name="Rectangle 3"/>
          <p:cNvSpPr/>
          <p:nvPr/>
        </p:nvSpPr>
        <p:spPr>
          <a:xfrm>
            <a:off x="530352" y="1088136"/>
            <a:ext cx="1051560" cy="3200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7</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92608"/>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ai_extract (version 2.1) mapped the parsed layout onto the 22-field business schema. error_message is null; output JSON is 1,773 bytes. Values shown as returned, before normalisation.</a:t>
            </a:r>
          </a:p>
        </p:txBody>
      </p:sp>
      <p:graphicFrame>
        <p:nvGraphicFramePr>
          <p:cNvPr id="8" name="Table 7"/>
          <p:cNvGraphicFramePr>
            <a:graphicFrameLocks noGrp="1"/>
          </p:cNvGraphicFramePr>
          <p:nvPr/>
        </p:nvGraphicFramePr>
        <p:xfrm>
          <a:off x="530352" y="1709928"/>
          <a:ext cx="5382614" cy="3163812"/>
        </p:xfrm>
        <a:graphic>
          <a:graphicData uri="http://schemas.openxmlformats.org/drawingml/2006/table">
            <a:tbl>
              <a:tblPr firstRow="1">
                <a:tableStyleId>{5C22544A-7EE6-4342-B048-85BDC9FD1C3A}</a:tableStyleId>
              </a:tblPr>
              <a:tblGrid>
                <a:gridCol w="2242756"/>
                <a:gridCol w="3139858"/>
              </a:tblGrid>
              <a:tr h="297179">
                <a:tc>
                  <a:txBody>
                    <a:bodyPr wrap="square"/>
                    <a:lstStyle/>
                    <a:p>
                      <a:pPr algn="l"/>
                      <a:r>
                        <a:rPr sz="950" b="1">
                          <a:solidFill>
                            <a:srgbClr val="FFFFFF"/>
                          </a:solidFill>
                          <a:latin typeface="Segoe UI"/>
                        </a:rPr>
                        <a:t>Schema field</a:t>
                      </a:r>
                    </a:p>
                  </a:txBody>
                  <a:tcPr marL="64008" marR="64008" marT="18288" marB="18288" anchor="ctr">
                    <a:solidFill>
                      <a:srgbClr val="6E8296"/>
                    </a:solidFill>
                  </a:tcPr>
                </a:tc>
                <a:tc>
                  <a:txBody>
                    <a:bodyPr wrap="square"/>
                    <a:lstStyle/>
                    <a:p>
                      <a:pPr algn="l"/>
                      <a:r>
                        <a:rPr sz="950" b="1">
                          <a:solidFill>
                            <a:srgbClr val="FFFFFF"/>
                          </a:solidFill>
                          <a:latin typeface="Segoe UI"/>
                        </a:rPr>
                        <a:t>Extracted value</a:t>
                      </a:r>
                    </a:p>
                  </a:txBody>
                  <a:tcPr marL="64008" marR="64008" marT="18288" marB="18288" anchor="ctr">
                    <a:solidFill>
                      <a:srgbClr val="6E8296"/>
                    </a:solidFill>
                  </a:tcPr>
                </a:tc>
              </a:tr>
              <a:tr h="260603">
                <a:tc>
                  <a:txBody>
                    <a:bodyPr wrap="square"/>
                    <a:lstStyle/>
                    <a:p>
                      <a:pPr algn="l"/>
                      <a:r>
                        <a:rPr sz="950" b="0">
                          <a:solidFill>
                            <a:srgbClr val="333F4F"/>
                          </a:solidFill>
                          <a:latin typeface="Segoe UI"/>
                        </a:rPr>
                        <a:t>bill_to_address</a:t>
                      </a:r>
                    </a:p>
                  </a:txBody>
                  <a:tcPr marL="64008" marR="64008" marT="18288" marB="18288" anchor="ctr">
                    <a:solidFill>
                      <a:srgbClr val="FFFFFF"/>
                    </a:solidFill>
                  </a:tcPr>
                </a:tc>
                <a:tc>
                  <a:txBody>
                    <a:bodyPr wrap="square"/>
                    <a:lstStyle/>
                    <a:p>
                      <a:pPr algn="l"/>
                      <a:r>
                        <a:rPr sz="950" b="0">
                          <a:solidFill>
                            <a:srgbClr val="333F4F"/>
                          </a:solidFill>
                          <a:latin typeface="Segoe UI"/>
                        </a:rPr>
                        <a:t>Keystone Logistics Partners, 3400 River Rd</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buyer_name</a:t>
                      </a:r>
                    </a:p>
                  </a:txBody>
                  <a:tcPr marL="64008" marR="64008" marT="18288" marB="18288" anchor="ctr">
                    <a:solidFill>
                      <a:srgbClr val="F4F7FA"/>
                    </a:solidFill>
                  </a:tcPr>
                </a:tc>
                <a:tc>
                  <a:txBody>
                    <a:bodyPr wrap="square"/>
                    <a:lstStyle/>
                    <a:p>
                      <a:pPr algn="l"/>
                      <a:r>
                        <a:rPr sz="950" b="0">
                          <a:solidFill>
                            <a:srgbClr val="333F4F"/>
                          </a:solidFill>
                          <a:latin typeface="Segoe UI"/>
                        </a:rPr>
                        <a:t>Keystone Logistics Partners</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currency</a:t>
                      </a:r>
                    </a:p>
                  </a:txBody>
                  <a:tcPr marL="64008" marR="64008" marT="18288" marB="18288" anchor="ctr">
                    <a:solidFill>
                      <a:srgbClr val="FFFFFF"/>
                    </a:solidFill>
                  </a:tcPr>
                </a:tc>
                <a:tc>
                  <a:txBody>
                    <a:bodyPr wrap="square"/>
                    <a:lstStyle/>
                    <a:p>
                      <a:pPr algn="l"/>
                      <a:r>
                        <a:rPr sz="950" b="0">
                          <a:solidFill>
                            <a:srgbClr val="333F4F"/>
                          </a:solidFill>
                          <a:latin typeface="Segoe UI"/>
                        </a:rPr>
                        <a:t>USD</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discount_amount</a:t>
                      </a:r>
                    </a:p>
                  </a:txBody>
                  <a:tcPr marL="64008" marR="64008" marT="18288" marB="18288" anchor="ctr">
                    <a:solidFill>
                      <a:srgbClr val="F4F7FA"/>
                    </a:solidFill>
                  </a:tcPr>
                </a:tc>
                <a:tc>
                  <a:txBody>
                    <a:bodyPr wrap="square"/>
                    <a:lstStyle/>
                    <a:p>
                      <a:pPr algn="l"/>
                      <a:r>
                        <a:rPr sz="950" b="1">
                          <a:solidFill>
                            <a:srgbClr val="748293"/>
                          </a:solidFill>
                          <a:latin typeface="Segoe UI"/>
                        </a:rPr>
                        <a:t>NULL</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document_date</a:t>
                      </a:r>
                    </a:p>
                  </a:txBody>
                  <a:tcPr marL="64008" marR="64008" marT="18288" marB="18288" anchor="ctr">
                    <a:solidFill>
                      <a:srgbClr val="FFFFFF"/>
                    </a:solidFill>
                  </a:tcPr>
                </a:tc>
                <a:tc>
                  <a:txBody>
                    <a:bodyPr wrap="square"/>
                    <a:lstStyle/>
                    <a:p>
                      <a:pPr algn="l"/>
                      <a:r>
                        <a:rPr sz="950" b="0">
                          <a:solidFill>
                            <a:srgbClr val="333F4F"/>
                          </a:solidFill>
                          <a:latin typeface="Segoe UI"/>
                        </a:rPr>
                        <a:t>2025-01-17</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document_number</a:t>
                      </a:r>
                    </a:p>
                  </a:txBody>
                  <a:tcPr marL="64008" marR="64008" marT="18288" marB="18288" anchor="ctr">
                    <a:solidFill>
                      <a:srgbClr val="F4F7FA"/>
                    </a:solidFill>
                  </a:tcPr>
                </a:tc>
                <a:tc>
                  <a:txBody>
                    <a:bodyPr wrap="square"/>
                    <a:lstStyle/>
                    <a:p>
                      <a:pPr algn="l"/>
                      <a:r>
                        <a:rPr sz="950" b="0">
                          <a:solidFill>
                            <a:srgbClr val="333F4F"/>
                          </a:solidFill>
                          <a:latin typeface="Segoe UI"/>
                        </a:rPr>
                        <a:t>INV-20250010</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document_type</a:t>
                      </a:r>
                    </a:p>
                  </a:txBody>
                  <a:tcPr marL="64008" marR="64008" marT="18288" marB="18288" anchor="ctr">
                    <a:solidFill>
                      <a:srgbClr val="FFFFFF"/>
                    </a:solidFill>
                  </a:tcPr>
                </a:tc>
                <a:tc>
                  <a:txBody>
                    <a:bodyPr wrap="square"/>
                    <a:lstStyle/>
                    <a:p>
                      <a:pPr algn="l"/>
                      <a:r>
                        <a:rPr sz="950" b="0">
                          <a:solidFill>
                            <a:srgbClr val="333F4F"/>
                          </a:solidFill>
                          <a:latin typeface="Segoe UI"/>
                        </a:rPr>
                        <a:t>invoice</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due_date</a:t>
                      </a:r>
                    </a:p>
                  </a:txBody>
                  <a:tcPr marL="64008" marR="64008" marT="18288" marB="18288" anchor="ctr">
                    <a:solidFill>
                      <a:srgbClr val="F4F7FA"/>
                    </a:solidFill>
                  </a:tcPr>
                </a:tc>
                <a:tc>
                  <a:txBody>
                    <a:bodyPr wrap="square"/>
                    <a:lstStyle/>
                    <a:p>
                      <a:pPr algn="l"/>
                      <a:r>
                        <a:rPr sz="950" b="0">
                          <a:solidFill>
                            <a:srgbClr val="333F4F"/>
                          </a:solidFill>
                          <a:latin typeface="Segoe UI"/>
                        </a:rPr>
                        <a:t>2025-01-17</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invoice_number</a:t>
                      </a:r>
                    </a:p>
                  </a:txBody>
                  <a:tcPr marL="64008" marR="64008" marT="18288" marB="18288" anchor="ctr">
                    <a:solidFill>
                      <a:srgbClr val="FFFFFF"/>
                    </a:solidFill>
                  </a:tcPr>
                </a:tc>
                <a:tc>
                  <a:txBody>
                    <a:bodyPr wrap="square"/>
                    <a:lstStyle/>
                    <a:p>
                      <a:pPr algn="l"/>
                      <a:r>
                        <a:rPr sz="950" b="0">
                          <a:solidFill>
                            <a:srgbClr val="333F4F"/>
                          </a:solidFill>
                          <a:latin typeface="Segoe UI"/>
                        </a:rPr>
                        <a:t>INV-20250010</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notes</a:t>
                      </a:r>
                    </a:p>
                  </a:txBody>
                  <a:tcPr marL="64008" marR="64008" marT="18288" marB="18288" anchor="ctr">
                    <a:solidFill>
                      <a:srgbClr val="F4F7FA"/>
                    </a:solidFill>
                  </a:tcPr>
                </a:tc>
                <a:tc>
                  <a:txBody>
                    <a:bodyPr wrap="square"/>
                    <a:lstStyle/>
                    <a:p>
                      <a:pPr algn="l"/>
                      <a:r>
                        <a:rPr sz="950" b="0">
                          <a:solidFill>
                            <a:srgbClr val="333F4F"/>
                          </a:solidFill>
                          <a:latin typeface="Segoe UI"/>
                        </a:rPr>
                        <a:t>Please include the invoice number with you…</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payment_method</a:t>
                      </a:r>
                    </a:p>
                  </a:txBody>
                  <a:tcPr marL="64008" marR="64008" marT="18288" marB="18288" anchor="ctr">
                    <a:solidFill>
                      <a:srgbClr val="FFFFFF"/>
                    </a:solidFill>
                  </a:tcPr>
                </a:tc>
                <a:tc>
                  <a:txBody>
                    <a:bodyPr wrap="square"/>
                    <a:lstStyle/>
                    <a:p>
                      <a:pPr algn="l"/>
                      <a:r>
                        <a:rPr sz="950" b="0">
                          <a:solidFill>
                            <a:srgbClr val="333F4F"/>
                          </a:solidFill>
                          <a:latin typeface="Segoe UI"/>
                        </a:rPr>
                        <a:t>Wire Transfer</a:t>
                      </a:r>
                    </a:p>
                  </a:txBody>
                  <a:tcPr marL="64008" marR="64008" marT="18288" marB="18288" anchor="ctr">
                    <a:solidFill>
                      <a:srgbClr val="FFFFFF"/>
                    </a:solidFill>
                  </a:tcPr>
                </a:tc>
              </a:tr>
            </a:tbl>
          </a:graphicData>
        </a:graphic>
      </p:graphicFrame>
      <p:graphicFrame>
        <p:nvGraphicFramePr>
          <p:cNvPr id="9" name="Table 8"/>
          <p:cNvGraphicFramePr>
            <a:graphicFrameLocks noGrp="1"/>
          </p:cNvGraphicFramePr>
          <p:nvPr/>
        </p:nvGraphicFramePr>
        <p:xfrm>
          <a:off x="6278727" y="1709928"/>
          <a:ext cx="5382614" cy="2903209"/>
        </p:xfrm>
        <a:graphic>
          <a:graphicData uri="http://schemas.openxmlformats.org/drawingml/2006/table">
            <a:tbl>
              <a:tblPr firstRow="1">
                <a:tableStyleId>{5C22544A-7EE6-4342-B048-85BDC9FD1C3A}</a:tableStyleId>
              </a:tblPr>
              <a:tblGrid>
                <a:gridCol w="2242756"/>
                <a:gridCol w="3139858"/>
              </a:tblGrid>
              <a:tr h="297179">
                <a:tc>
                  <a:txBody>
                    <a:bodyPr wrap="square"/>
                    <a:lstStyle/>
                    <a:p>
                      <a:pPr algn="l"/>
                      <a:r>
                        <a:rPr sz="950" b="1">
                          <a:solidFill>
                            <a:srgbClr val="FFFFFF"/>
                          </a:solidFill>
                          <a:latin typeface="Segoe UI"/>
                        </a:rPr>
                        <a:t>Schema field</a:t>
                      </a:r>
                    </a:p>
                  </a:txBody>
                  <a:tcPr marL="64008" marR="64008" marT="18288" marB="18288" anchor="ctr">
                    <a:solidFill>
                      <a:srgbClr val="6E8296"/>
                    </a:solidFill>
                  </a:tcPr>
                </a:tc>
                <a:tc>
                  <a:txBody>
                    <a:bodyPr wrap="square"/>
                    <a:lstStyle/>
                    <a:p>
                      <a:pPr algn="l"/>
                      <a:r>
                        <a:rPr sz="950" b="1">
                          <a:solidFill>
                            <a:srgbClr val="FFFFFF"/>
                          </a:solidFill>
                          <a:latin typeface="Segoe UI"/>
                        </a:rPr>
                        <a:t>Extracted value</a:t>
                      </a:r>
                    </a:p>
                  </a:txBody>
                  <a:tcPr marL="64008" marR="64008" marT="18288" marB="18288" anchor="ctr">
                    <a:solidFill>
                      <a:srgbClr val="6E8296"/>
                    </a:solidFill>
                  </a:tcPr>
                </a:tc>
              </a:tr>
              <a:tr h="260603">
                <a:tc>
                  <a:txBody>
                    <a:bodyPr wrap="square"/>
                    <a:lstStyle/>
                    <a:p>
                      <a:pPr algn="l"/>
                      <a:r>
                        <a:rPr sz="950" b="0">
                          <a:solidFill>
                            <a:srgbClr val="333F4F"/>
                          </a:solidFill>
                          <a:latin typeface="Segoe UI"/>
                        </a:rPr>
                        <a:t>payment_terms</a:t>
                      </a:r>
                    </a:p>
                  </a:txBody>
                  <a:tcPr marL="64008" marR="64008" marT="18288" marB="18288" anchor="ctr">
                    <a:solidFill>
                      <a:srgbClr val="FFFFFF"/>
                    </a:solidFill>
                  </a:tcPr>
                </a:tc>
                <a:tc>
                  <a:txBody>
                    <a:bodyPr wrap="square"/>
                    <a:lstStyle/>
                    <a:p>
                      <a:pPr algn="l"/>
                      <a:r>
                        <a:rPr sz="950" b="0">
                          <a:solidFill>
                            <a:srgbClr val="333F4F"/>
                          </a:solidFill>
                          <a:latin typeface="Segoe UI"/>
                        </a:rPr>
                        <a:t>Due on Receipt</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purchase_order_number</a:t>
                      </a:r>
                    </a:p>
                  </a:txBody>
                  <a:tcPr marL="64008" marR="64008" marT="18288" marB="18288" anchor="ctr">
                    <a:solidFill>
                      <a:srgbClr val="F4F7FA"/>
                    </a:solidFill>
                  </a:tcPr>
                </a:tc>
                <a:tc>
                  <a:txBody>
                    <a:bodyPr wrap="square"/>
                    <a:lstStyle/>
                    <a:p>
                      <a:pPr algn="l"/>
                      <a:r>
                        <a:rPr sz="950" b="0">
                          <a:solidFill>
                            <a:srgbClr val="333F4F"/>
                          </a:solidFill>
                          <a:latin typeface="Segoe UI"/>
                        </a:rPr>
                        <a:t>PO-13352</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receipt_number</a:t>
                      </a:r>
                    </a:p>
                  </a:txBody>
                  <a:tcPr marL="64008" marR="64008" marT="18288" marB="18288" anchor="ctr">
                    <a:solidFill>
                      <a:srgbClr val="FFFFFF"/>
                    </a:solidFill>
                  </a:tcPr>
                </a:tc>
                <a:tc>
                  <a:txBody>
                    <a:bodyPr wrap="square"/>
                    <a:lstStyle/>
                    <a:p>
                      <a:pPr algn="l"/>
                      <a:r>
                        <a:rPr sz="950" b="1">
                          <a:solidFill>
                            <a:srgbClr val="748293"/>
                          </a:solidFill>
                          <a:latin typeface="Segoe UI"/>
                        </a:rPr>
                        <a:t>NULL</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requested_ship_date</a:t>
                      </a:r>
                    </a:p>
                  </a:txBody>
                  <a:tcPr marL="64008" marR="64008" marT="18288" marB="18288" anchor="ctr">
                    <a:solidFill>
                      <a:srgbClr val="F4F7FA"/>
                    </a:solidFill>
                  </a:tcPr>
                </a:tc>
                <a:tc>
                  <a:txBody>
                    <a:bodyPr wrap="square"/>
                    <a:lstStyle/>
                    <a:p>
                      <a:pPr algn="l"/>
                      <a:r>
                        <a:rPr sz="950" b="1">
                          <a:solidFill>
                            <a:srgbClr val="748293"/>
                          </a:solidFill>
                          <a:latin typeface="Segoe UI"/>
                        </a:rPr>
                        <a:t>NULL</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seller_name</a:t>
                      </a:r>
                    </a:p>
                  </a:txBody>
                  <a:tcPr marL="64008" marR="64008" marT="18288" marB="18288" anchor="ctr">
                    <a:solidFill>
                      <a:srgbClr val="FFFFFF"/>
                    </a:solidFill>
                  </a:tcPr>
                </a:tc>
                <a:tc>
                  <a:txBody>
                    <a:bodyPr wrap="square"/>
                    <a:lstStyle/>
                    <a:p>
                      <a:pPr algn="l"/>
                      <a:r>
                        <a:rPr sz="950" b="0">
                          <a:solidFill>
                            <a:srgbClr val="333F4F"/>
                          </a:solidFill>
                          <a:latin typeface="Segoe UI"/>
                        </a:rPr>
                        <a:t>Riverbend Marketing Studio</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ship_to_address</a:t>
                      </a:r>
                    </a:p>
                  </a:txBody>
                  <a:tcPr marL="64008" marR="64008" marT="18288" marB="18288" anchor="ctr">
                    <a:solidFill>
                      <a:srgbClr val="F4F7FA"/>
                    </a:solidFill>
                  </a:tcPr>
                </a:tc>
                <a:tc>
                  <a:txBody>
                    <a:bodyPr wrap="square"/>
                    <a:lstStyle/>
                    <a:p>
                      <a:pPr algn="l"/>
                      <a:r>
                        <a:rPr sz="950" b="0">
                          <a:solidFill>
                            <a:srgbClr val="333F4F"/>
                          </a:solidFill>
                          <a:latin typeface="Segoe UI"/>
                        </a:rPr>
                        <a:t>Harrisburg, PA 17110</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shipping_amount</a:t>
                      </a:r>
                    </a:p>
                  </a:txBody>
                  <a:tcPr marL="64008" marR="64008" marT="18288" marB="18288" anchor="ctr">
                    <a:solidFill>
                      <a:srgbClr val="FFFFFF"/>
                    </a:solidFill>
                  </a:tcPr>
                </a:tc>
                <a:tc>
                  <a:txBody>
                    <a:bodyPr wrap="square"/>
                    <a:lstStyle/>
                    <a:p>
                      <a:pPr algn="l"/>
                      <a:r>
                        <a:rPr sz="950" b="1">
                          <a:solidFill>
                            <a:srgbClr val="748293"/>
                          </a:solidFill>
                          <a:latin typeface="Segoe UI"/>
                        </a:rPr>
                        <a:t>NULL</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subtotal</a:t>
                      </a:r>
                    </a:p>
                  </a:txBody>
                  <a:tcPr marL="64008" marR="64008" marT="18288" marB="18288" anchor="ctr">
                    <a:solidFill>
                      <a:srgbClr val="F4F7FA"/>
                    </a:solidFill>
                  </a:tcPr>
                </a:tc>
                <a:tc>
                  <a:txBody>
                    <a:bodyPr wrap="square"/>
                    <a:lstStyle/>
                    <a:p>
                      <a:pPr algn="l"/>
                      <a:r>
                        <a:rPr sz="950" b="0">
                          <a:solidFill>
                            <a:srgbClr val="333F4F"/>
                          </a:solidFill>
                          <a:latin typeface="Segoe UI"/>
                        </a:rPr>
                        <a:t>4560.79</a:t>
                      </a:r>
                    </a:p>
                  </a:txBody>
                  <a:tcPr marL="64008" marR="64008" marT="18288" marB="18288" anchor="ctr">
                    <a:solidFill>
                      <a:srgbClr val="F4F7FA"/>
                    </a:solidFill>
                  </a:tcPr>
                </a:tc>
              </a:tr>
              <a:tr h="260603">
                <a:tc>
                  <a:txBody>
                    <a:bodyPr wrap="square"/>
                    <a:lstStyle/>
                    <a:p>
                      <a:pPr algn="l"/>
                      <a:r>
                        <a:rPr sz="950" b="0">
                          <a:solidFill>
                            <a:srgbClr val="333F4F"/>
                          </a:solidFill>
                          <a:latin typeface="Segoe UI"/>
                        </a:rPr>
                        <a:t>tax_amount</a:t>
                      </a:r>
                    </a:p>
                  </a:txBody>
                  <a:tcPr marL="64008" marR="64008" marT="18288" marB="18288" anchor="ctr">
                    <a:solidFill>
                      <a:srgbClr val="FFFFFF"/>
                    </a:solidFill>
                  </a:tcPr>
                </a:tc>
                <a:tc>
                  <a:txBody>
                    <a:bodyPr wrap="square"/>
                    <a:lstStyle/>
                    <a:p>
                      <a:pPr algn="l"/>
                      <a:r>
                        <a:rPr sz="950" b="0">
                          <a:solidFill>
                            <a:srgbClr val="333F4F"/>
                          </a:solidFill>
                          <a:latin typeface="Segoe UI"/>
                        </a:rPr>
                        <a:t>0</a:t>
                      </a:r>
                    </a:p>
                  </a:txBody>
                  <a:tcPr marL="64008" marR="64008" marT="18288" marB="18288" anchor="ctr">
                    <a:solidFill>
                      <a:srgbClr val="FFFFFF"/>
                    </a:solidFill>
                  </a:tcPr>
                </a:tc>
              </a:tr>
              <a:tr h="260603">
                <a:tc>
                  <a:txBody>
                    <a:bodyPr wrap="square"/>
                    <a:lstStyle/>
                    <a:p>
                      <a:pPr algn="l"/>
                      <a:r>
                        <a:rPr sz="950" b="0">
                          <a:solidFill>
                            <a:srgbClr val="333F4F"/>
                          </a:solidFill>
                          <a:latin typeface="Segoe UI"/>
                        </a:rPr>
                        <a:t>total_amount</a:t>
                      </a:r>
                    </a:p>
                  </a:txBody>
                  <a:tcPr marL="64008" marR="64008" marT="18288" marB="18288" anchor="ctr">
                    <a:solidFill>
                      <a:srgbClr val="F4F7FA"/>
                    </a:solidFill>
                  </a:tcPr>
                </a:tc>
                <a:tc>
                  <a:txBody>
                    <a:bodyPr wrap="square"/>
                    <a:lstStyle/>
                    <a:p>
                      <a:pPr algn="l"/>
                      <a:r>
                        <a:rPr sz="950" b="0">
                          <a:solidFill>
                            <a:srgbClr val="333F4F"/>
                          </a:solidFill>
                          <a:latin typeface="Segoe UI"/>
                        </a:rPr>
                        <a:t>4560.79</a:t>
                      </a:r>
                    </a:p>
                  </a:txBody>
                  <a:tcPr marL="64008" marR="64008" marT="18288" marB="18288" anchor="ctr">
                    <a:solidFill>
                      <a:srgbClr val="F4F7FA"/>
                    </a:solidFill>
                  </a:tcPr>
                </a:tc>
              </a:tr>
            </a:tbl>
          </a:graphicData>
        </a:graphic>
      </p:graphicFrame>
      <p:sp>
        <p:nvSpPr>
          <p:cNvPr id="10" name="Rectangle 9"/>
          <p:cNvSpPr/>
          <p:nvPr/>
        </p:nvSpPr>
        <p:spPr>
          <a:xfrm>
            <a:off x="530352" y="4965192"/>
            <a:ext cx="11130991" cy="1207008"/>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148072"/>
            <a:ext cx="41148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Four nulls, and they are all correct</a:t>
            </a:r>
          </a:p>
        </p:txBody>
      </p:sp>
      <p:sp>
        <p:nvSpPr>
          <p:cNvPr id="12" name="TextBox 11"/>
          <p:cNvSpPr txBox="1"/>
          <p:nvPr/>
        </p:nvSpPr>
        <p:spPr>
          <a:xfrm>
            <a:off x="786384" y="5477256"/>
            <a:ext cx="10618927" cy="731520"/>
          </a:xfrm>
          <a:prstGeom prst="rect">
            <a:avLst/>
          </a:prstGeom>
          <a:noFill/>
        </p:spPr>
        <p:txBody>
          <a:bodyPr wrap="square" lIns="0" rIns="0" tIns="0" bIns="0" anchor="t">
            <a:spAutoFit/>
          </a:bodyPr>
          <a:lstStyle/>
          <a:p>
            <a:pPr algn="l">
              <a:lnSpc>
                <a:spcPct val="132000"/>
              </a:lnSpc>
            </a:pPr>
            <a:r>
              <a:rPr sz="950" b="0" i="0">
                <a:solidFill>
                  <a:srgbClr val="333F4F"/>
                </a:solidFill>
                <a:latin typeface="Segoe UI"/>
              </a:rPr>
              <a:t>discount_amount, shipping_amount, receipt_number and requested_ship_date are genuinely absent from this invoice, so a null is the right answer — ai_extract did not</a:t>
            </a:r>
          </a:p>
          <a:p>
            <a:pPr algn="l">
              <a:lnSpc>
                <a:spcPct val="132000"/>
              </a:lnSpc>
            </a:pPr>
            <a:r>
              <a:rPr sz="950" b="0" i="0">
                <a:solidFill>
                  <a:srgbClr val="333F4F"/>
                </a:solidFill>
                <a:latin typeface="Segoe UI"/>
              </a:rPr>
              <a:t>hallucinate placeholder values. tax_amount came back as 0 rather than null because the document states "Tax (0%)  $0.00" explicitly. The only questionable pair is</a:t>
            </a:r>
          </a:p>
          <a:p>
            <a:pPr algn="l">
              <a:lnSpc>
                <a:spcPct val="132000"/>
              </a:lnSpc>
            </a:pPr>
            <a:r>
              <a:rPr sz="950" b="0" i="0">
                <a:solidFill>
                  <a:srgbClr val="333F4F"/>
                </a:solidFill>
                <a:latin typeface="Segoe UI"/>
              </a:rPr>
              <a:t>bill_to_address / ship_to_address, and that fault was inherited from the parse stage rather than introduced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6E8296"/>
                </a:solidFill>
                <a:latin typeface="Segoe UI"/>
              </a:rPr>
              <a:t>STAGE 4  ·  NORMALISED &amp; VALIDATED HEADER</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silver_documents</a:t>
            </a:r>
          </a:p>
        </p:txBody>
      </p:sp>
      <p:sp>
        <p:nvSpPr>
          <p:cNvPr id="4" name="Rectangle 3"/>
          <p:cNvSpPr/>
          <p:nvPr/>
        </p:nvSpPr>
        <p:spPr>
          <a:xfrm>
            <a:off x="530352" y="1088136"/>
            <a:ext cx="1051560" cy="3200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8</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74320"/>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Values are flattened out of the variant, trimmed, cast to typed columns (dates, DECIMAL(18,2)) and run through the validation rules.</a:t>
            </a:r>
          </a:p>
        </p:txBody>
      </p:sp>
      <p:sp>
        <p:nvSpPr>
          <p:cNvPr id="8" name="Rectangle 7"/>
          <p:cNvSpPr/>
          <p:nvPr/>
        </p:nvSpPr>
        <p:spPr>
          <a:xfrm>
            <a:off x="530352" y="1673351"/>
            <a:ext cx="3466490" cy="2631643"/>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92224"/>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document_type</a:t>
            </a:r>
          </a:p>
        </p:txBody>
      </p:sp>
      <p:sp>
        <p:nvSpPr>
          <p:cNvPr id="10" name="TextBox 9"/>
          <p:cNvSpPr txBox="1"/>
          <p:nvPr/>
        </p:nvSpPr>
        <p:spPr>
          <a:xfrm>
            <a:off x="2436921" y="1792224"/>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invoice</a:t>
            </a:r>
          </a:p>
        </p:txBody>
      </p:sp>
      <p:sp>
        <p:nvSpPr>
          <p:cNvPr id="11" name="Rectangle 10"/>
          <p:cNvSpPr/>
          <p:nvPr/>
        </p:nvSpPr>
        <p:spPr>
          <a:xfrm>
            <a:off x="621792" y="2022652"/>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68372"/>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business_document_number</a:t>
            </a:r>
          </a:p>
        </p:txBody>
      </p:sp>
      <p:sp>
        <p:nvSpPr>
          <p:cNvPr id="13" name="TextBox 12"/>
          <p:cNvSpPr txBox="1"/>
          <p:nvPr/>
        </p:nvSpPr>
        <p:spPr>
          <a:xfrm>
            <a:off x="2436921" y="2068372"/>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INV-20250010</a:t>
            </a:r>
          </a:p>
        </p:txBody>
      </p:sp>
      <p:sp>
        <p:nvSpPr>
          <p:cNvPr id="14" name="Rectangle 13"/>
          <p:cNvSpPr/>
          <p:nvPr/>
        </p:nvSpPr>
        <p:spPr>
          <a:xfrm>
            <a:off x="621792" y="2298801"/>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344521"/>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document_number</a:t>
            </a:r>
          </a:p>
        </p:txBody>
      </p:sp>
      <p:sp>
        <p:nvSpPr>
          <p:cNvPr id="16" name="TextBox 15"/>
          <p:cNvSpPr txBox="1"/>
          <p:nvPr/>
        </p:nvSpPr>
        <p:spPr>
          <a:xfrm>
            <a:off x="2436921" y="2344521"/>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INV-20250010</a:t>
            </a:r>
          </a:p>
        </p:txBody>
      </p:sp>
      <p:sp>
        <p:nvSpPr>
          <p:cNvPr id="17" name="Rectangle 16"/>
          <p:cNvSpPr/>
          <p:nvPr/>
        </p:nvSpPr>
        <p:spPr>
          <a:xfrm>
            <a:off x="621792" y="2574950"/>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620670"/>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invoice_number</a:t>
            </a:r>
          </a:p>
        </p:txBody>
      </p:sp>
      <p:sp>
        <p:nvSpPr>
          <p:cNvPr id="19" name="TextBox 18"/>
          <p:cNvSpPr txBox="1"/>
          <p:nvPr/>
        </p:nvSpPr>
        <p:spPr>
          <a:xfrm>
            <a:off x="2436921" y="2620670"/>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INV-20250010</a:t>
            </a:r>
          </a:p>
        </p:txBody>
      </p:sp>
      <p:sp>
        <p:nvSpPr>
          <p:cNvPr id="20" name="Rectangle 19"/>
          <p:cNvSpPr/>
          <p:nvPr/>
        </p:nvSpPr>
        <p:spPr>
          <a:xfrm>
            <a:off x="621792" y="2851099"/>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896819"/>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purchase_order_number</a:t>
            </a:r>
          </a:p>
        </p:txBody>
      </p:sp>
      <p:sp>
        <p:nvSpPr>
          <p:cNvPr id="22" name="TextBox 21"/>
          <p:cNvSpPr txBox="1"/>
          <p:nvPr/>
        </p:nvSpPr>
        <p:spPr>
          <a:xfrm>
            <a:off x="2436921" y="2896819"/>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PO-13352</a:t>
            </a:r>
          </a:p>
        </p:txBody>
      </p:sp>
      <p:sp>
        <p:nvSpPr>
          <p:cNvPr id="23" name="Rectangle 22"/>
          <p:cNvSpPr/>
          <p:nvPr/>
        </p:nvSpPr>
        <p:spPr>
          <a:xfrm>
            <a:off x="621792" y="3127248"/>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172968"/>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receipt_number</a:t>
            </a:r>
          </a:p>
        </p:txBody>
      </p:sp>
      <p:sp>
        <p:nvSpPr>
          <p:cNvPr id="25" name="TextBox 24"/>
          <p:cNvSpPr txBox="1"/>
          <p:nvPr/>
        </p:nvSpPr>
        <p:spPr>
          <a:xfrm>
            <a:off x="2436921" y="3172968"/>
            <a:ext cx="1413616" cy="221284"/>
          </a:xfrm>
          <a:prstGeom prst="rect">
            <a:avLst/>
          </a:prstGeom>
          <a:noFill/>
        </p:spPr>
        <p:txBody>
          <a:bodyPr wrap="square" lIns="0" rIns="0" tIns="0" bIns="0" anchor="t">
            <a:spAutoFit/>
          </a:bodyPr>
          <a:lstStyle/>
          <a:p>
            <a:pPr algn="l">
              <a:lnSpc>
                <a:spcPct val="100000"/>
              </a:lnSpc>
            </a:pPr>
            <a:r>
              <a:rPr sz="950" b="1" i="0">
                <a:solidFill>
                  <a:srgbClr val="B8382C"/>
                </a:solidFill>
                <a:latin typeface="Segoe UI"/>
              </a:rPr>
              <a:t>NULL</a:t>
            </a:r>
          </a:p>
        </p:txBody>
      </p:sp>
      <p:sp>
        <p:nvSpPr>
          <p:cNvPr id="26" name="Rectangle 25"/>
          <p:cNvSpPr/>
          <p:nvPr/>
        </p:nvSpPr>
        <p:spPr>
          <a:xfrm>
            <a:off x="621792" y="3403396"/>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449116"/>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document_date</a:t>
            </a:r>
          </a:p>
        </p:txBody>
      </p:sp>
      <p:sp>
        <p:nvSpPr>
          <p:cNvPr id="28" name="TextBox 27"/>
          <p:cNvSpPr txBox="1"/>
          <p:nvPr/>
        </p:nvSpPr>
        <p:spPr>
          <a:xfrm>
            <a:off x="2436921" y="3449116"/>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2025-01-17</a:t>
            </a:r>
          </a:p>
        </p:txBody>
      </p:sp>
      <p:sp>
        <p:nvSpPr>
          <p:cNvPr id="29" name="Rectangle 28"/>
          <p:cNvSpPr/>
          <p:nvPr/>
        </p:nvSpPr>
        <p:spPr>
          <a:xfrm>
            <a:off x="621792" y="3679545"/>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3725265"/>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due_date</a:t>
            </a:r>
          </a:p>
        </p:txBody>
      </p:sp>
      <p:sp>
        <p:nvSpPr>
          <p:cNvPr id="31" name="TextBox 30"/>
          <p:cNvSpPr txBox="1"/>
          <p:nvPr/>
        </p:nvSpPr>
        <p:spPr>
          <a:xfrm>
            <a:off x="2436921" y="3725265"/>
            <a:ext cx="1413616"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2025-01-17</a:t>
            </a:r>
          </a:p>
        </p:txBody>
      </p:sp>
      <p:sp>
        <p:nvSpPr>
          <p:cNvPr id="32" name="Rectangle 31"/>
          <p:cNvSpPr/>
          <p:nvPr/>
        </p:nvSpPr>
        <p:spPr>
          <a:xfrm>
            <a:off x="621792" y="3955694"/>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001414"/>
            <a:ext cx="1723689"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requested_ship_date</a:t>
            </a:r>
          </a:p>
        </p:txBody>
      </p:sp>
      <p:sp>
        <p:nvSpPr>
          <p:cNvPr id="34" name="TextBox 33"/>
          <p:cNvSpPr txBox="1"/>
          <p:nvPr/>
        </p:nvSpPr>
        <p:spPr>
          <a:xfrm>
            <a:off x="2436921" y="4001414"/>
            <a:ext cx="1413616" cy="221284"/>
          </a:xfrm>
          <a:prstGeom prst="rect">
            <a:avLst/>
          </a:prstGeom>
          <a:noFill/>
        </p:spPr>
        <p:txBody>
          <a:bodyPr wrap="square" lIns="0" rIns="0" tIns="0" bIns="0" anchor="t">
            <a:spAutoFit/>
          </a:bodyPr>
          <a:lstStyle/>
          <a:p>
            <a:pPr algn="l">
              <a:lnSpc>
                <a:spcPct val="100000"/>
              </a:lnSpc>
            </a:pPr>
            <a:r>
              <a:rPr sz="950" b="1" i="0">
                <a:solidFill>
                  <a:srgbClr val="B8382C"/>
                </a:solidFill>
                <a:latin typeface="Segoe UI"/>
              </a:rPr>
              <a:t>NULL</a:t>
            </a:r>
          </a:p>
        </p:txBody>
      </p:sp>
      <p:sp>
        <p:nvSpPr>
          <p:cNvPr id="35" name="Rectangle 34"/>
          <p:cNvSpPr/>
          <p:nvPr/>
        </p:nvSpPr>
        <p:spPr>
          <a:xfrm>
            <a:off x="4362602" y="1673351"/>
            <a:ext cx="3466490" cy="2631643"/>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0618" y="1792224"/>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currency</a:t>
            </a:r>
          </a:p>
        </p:txBody>
      </p:sp>
      <p:sp>
        <p:nvSpPr>
          <p:cNvPr id="37" name="TextBox 36"/>
          <p:cNvSpPr txBox="1"/>
          <p:nvPr/>
        </p:nvSpPr>
        <p:spPr>
          <a:xfrm>
            <a:off x="6095847" y="1792224"/>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USD</a:t>
            </a:r>
          </a:p>
        </p:txBody>
      </p:sp>
      <p:sp>
        <p:nvSpPr>
          <p:cNvPr id="38" name="Rectangle 37"/>
          <p:cNvSpPr/>
          <p:nvPr/>
        </p:nvSpPr>
        <p:spPr>
          <a:xfrm>
            <a:off x="4454042" y="2022652"/>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0618" y="2068372"/>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seller_name</a:t>
            </a:r>
          </a:p>
        </p:txBody>
      </p:sp>
      <p:sp>
        <p:nvSpPr>
          <p:cNvPr id="40" name="TextBox 39"/>
          <p:cNvSpPr txBox="1"/>
          <p:nvPr/>
        </p:nvSpPr>
        <p:spPr>
          <a:xfrm>
            <a:off x="6095847" y="2068372"/>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Riverbend Marketing Studio</a:t>
            </a:r>
          </a:p>
        </p:txBody>
      </p:sp>
      <p:sp>
        <p:nvSpPr>
          <p:cNvPr id="41" name="Rectangle 40"/>
          <p:cNvSpPr/>
          <p:nvPr/>
        </p:nvSpPr>
        <p:spPr>
          <a:xfrm>
            <a:off x="4454042" y="2298801"/>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90618" y="2344521"/>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buyer_name</a:t>
            </a:r>
          </a:p>
        </p:txBody>
      </p:sp>
      <p:sp>
        <p:nvSpPr>
          <p:cNvPr id="43" name="TextBox 42"/>
          <p:cNvSpPr txBox="1"/>
          <p:nvPr/>
        </p:nvSpPr>
        <p:spPr>
          <a:xfrm>
            <a:off x="6095847" y="2344521"/>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Keystone Logistics Partners</a:t>
            </a:r>
          </a:p>
        </p:txBody>
      </p:sp>
      <p:sp>
        <p:nvSpPr>
          <p:cNvPr id="44" name="Rectangle 43"/>
          <p:cNvSpPr/>
          <p:nvPr/>
        </p:nvSpPr>
        <p:spPr>
          <a:xfrm>
            <a:off x="4454042" y="2574950"/>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0618" y="2620670"/>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bill_to_address</a:t>
            </a:r>
          </a:p>
        </p:txBody>
      </p:sp>
      <p:sp>
        <p:nvSpPr>
          <p:cNvPr id="46" name="TextBox 45"/>
          <p:cNvSpPr txBox="1"/>
          <p:nvPr/>
        </p:nvSpPr>
        <p:spPr>
          <a:xfrm>
            <a:off x="6095847" y="2620670"/>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Keystone Logistics Partner…</a:t>
            </a:r>
          </a:p>
        </p:txBody>
      </p:sp>
      <p:sp>
        <p:nvSpPr>
          <p:cNvPr id="47" name="Rectangle 46"/>
          <p:cNvSpPr/>
          <p:nvPr/>
        </p:nvSpPr>
        <p:spPr>
          <a:xfrm>
            <a:off x="4454042" y="2851099"/>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90618" y="2896819"/>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ship_to_address</a:t>
            </a:r>
          </a:p>
        </p:txBody>
      </p:sp>
      <p:sp>
        <p:nvSpPr>
          <p:cNvPr id="49" name="TextBox 48"/>
          <p:cNvSpPr txBox="1"/>
          <p:nvPr/>
        </p:nvSpPr>
        <p:spPr>
          <a:xfrm>
            <a:off x="6095847" y="2896819"/>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Harrisburg, PA 17110</a:t>
            </a:r>
          </a:p>
        </p:txBody>
      </p:sp>
      <p:sp>
        <p:nvSpPr>
          <p:cNvPr id="50" name="Rectangle 49"/>
          <p:cNvSpPr/>
          <p:nvPr/>
        </p:nvSpPr>
        <p:spPr>
          <a:xfrm>
            <a:off x="4454042" y="3127248"/>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90618" y="3172968"/>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payment_method</a:t>
            </a:r>
          </a:p>
        </p:txBody>
      </p:sp>
      <p:sp>
        <p:nvSpPr>
          <p:cNvPr id="52" name="TextBox 51"/>
          <p:cNvSpPr txBox="1"/>
          <p:nvPr/>
        </p:nvSpPr>
        <p:spPr>
          <a:xfrm>
            <a:off x="6095847" y="3172968"/>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Wire Transfer</a:t>
            </a:r>
          </a:p>
        </p:txBody>
      </p:sp>
      <p:sp>
        <p:nvSpPr>
          <p:cNvPr id="53" name="Rectangle 52"/>
          <p:cNvSpPr/>
          <p:nvPr/>
        </p:nvSpPr>
        <p:spPr>
          <a:xfrm>
            <a:off x="4454042" y="3403396"/>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90618" y="3449116"/>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payment_terms</a:t>
            </a:r>
          </a:p>
        </p:txBody>
      </p:sp>
      <p:sp>
        <p:nvSpPr>
          <p:cNvPr id="55" name="TextBox 54"/>
          <p:cNvSpPr txBox="1"/>
          <p:nvPr/>
        </p:nvSpPr>
        <p:spPr>
          <a:xfrm>
            <a:off x="6095847" y="3449116"/>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Due on Receipt</a:t>
            </a:r>
          </a:p>
        </p:txBody>
      </p:sp>
      <p:sp>
        <p:nvSpPr>
          <p:cNvPr id="56" name="Rectangle 55"/>
          <p:cNvSpPr/>
          <p:nvPr/>
        </p:nvSpPr>
        <p:spPr>
          <a:xfrm>
            <a:off x="4454042" y="3679545"/>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90618" y="3725265"/>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notes</a:t>
            </a:r>
          </a:p>
        </p:txBody>
      </p:sp>
      <p:sp>
        <p:nvSpPr>
          <p:cNvPr id="58" name="TextBox 57"/>
          <p:cNvSpPr txBox="1"/>
          <p:nvPr/>
        </p:nvSpPr>
        <p:spPr>
          <a:xfrm>
            <a:off x="6095847" y="3725265"/>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Please include the invoice…</a:t>
            </a:r>
          </a:p>
        </p:txBody>
      </p:sp>
      <p:sp>
        <p:nvSpPr>
          <p:cNvPr id="59" name="Rectangle 58"/>
          <p:cNvSpPr/>
          <p:nvPr/>
        </p:nvSpPr>
        <p:spPr>
          <a:xfrm>
            <a:off x="4454042" y="3955694"/>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490618" y="4001414"/>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line_items</a:t>
            </a:r>
          </a:p>
        </p:txBody>
      </p:sp>
      <p:sp>
        <p:nvSpPr>
          <p:cNvPr id="61" name="TextBox 60"/>
          <p:cNvSpPr txBox="1"/>
          <p:nvPr/>
        </p:nvSpPr>
        <p:spPr>
          <a:xfrm>
            <a:off x="6095847" y="4001414"/>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5 (array&lt;variant&gt;)</a:t>
            </a:r>
          </a:p>
        </p:txBody>
      </p:sp>
      <p:sp>
        <p:nvSpPr>
          <p:cNvPr id="62" name="Rectangle 61"/>
          <p:cNvSpPr/>
          <p:nvPr/>
        </p:nvSpPr>
        <p:spPr>
          <a:xfrm>
            <a:off x="8194852" y="1673351"/>
            <a:ext cx="3466490" cy="2631643"/>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22868" y="1792224"/>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subtotal</a:t>
            </a:r>
          </a:p>
        </p:txBody>
      </p:sp>
      <p:sp>
        <p:nvSpPr>
          <p:cNvPr id="64" name="TextBox 63"/>
          <p:cNvSpPr txBox="1"/>
          <p:nvPr/>
        </p:nvSpPr>
        <p:spPr>
          <a:xfrm>
            <a:off x="9928098" y="1792224"/>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$4,560.79</a:t>
            </a:r>
          </a:p>
        </p:txBody>
      </p:sp>
      <p:sp>
        <p:nvSpPr>
          <p:cNvPr id="65" name="Rectangle 64"/>
          <p:cNvSpPr/>
          <p:nvPr/>
        </p:nvSpPr>
        <p:spPr>
          <a:xfrm>
            <a:off x="8286292" y="2022652"/>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322868" y="2068372"/>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tax_amount</a:t>
            </a:r>
          </a:p>
        </p:txBody>
      </p:sp>
      <p:sp>
        <p:nvSpPr>
          <p:cNvPr id="67" name="TextBox 66"/>
          <p:cNvSpPr txBox="1"/>
          <p:nvPr/>
        </p:nvSpPr>
        <p:spPr>
          <a:xfrm>
            <a:off x="9928098" y="2068372"/>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$0.00</a:t>
            </a:r>
          </a:p>
        </p:txBody>
      </p:sp>
      <p:sp>
        <p:nvSpPr>
          <p:cNvPr id="68" name="Rectangle 67"/>
          <p:cNvSpPr/>
          <p:nvPr/>
        </p:nvSpPr>
        <p:spPr>
          <a:xfrm>
            <a:off x="8286292" y="2298801"/>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322868" y="2344521"/>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shipping_amount</a:t>
            </a:r>
          </a:p>
        </p:txBody>
      </p:sp>
      <p:sp>
        <p:nvSpPr>
          <p:cNvPr id="70" name="TextBox 69"/>
          <p:cNvSpPr txBox="1"/>
          <p:nvPr/>
        </p:nvSpPr>
        <p:spPr>
          <a:xfrm>
            <a:off x="9928098" y="2344521"/>
            <a:ext cx="1586941" cy="221284"/>
          </a:xfrm>
          <a:prstGeom prst="rect">
            <a:avLst/>
          </a:prstGeom>
          <a:noFill/>
        </p:spPr>
        <p:txBody>
          <a:bodyPr wrap="square" lIns="0" rIns="0" tIns="0" bIns="0" anchor="t">
            <a:spAutoFit/>
          </a:bodyPr>
          <a:lstStyle/>
          <a:p>
            <a:pPr algn="l">
              <a:lnSpc>
                <a:spcPct val="100000"/>
              </a:lnSpc>
            </a:pPr>
            <a:r>
              <a:rPr sz="950" b="1" i="0">
                <a:solidFill>
                  <a:srgbClr val="B8382C"/>
                </a:solidFill>
                <a:latin typeface="Segoe UI"/>
              </a:rPr>
              <a:t>NULL</a:t>
            </a:r>
          </a:p>
        </p:txBody>
      </p:sp>
      <p:sp>
        <p:nvSpPr>
          <p:cNvPr id="71" name="Rectangle 70"/>
          <p:cNvSpPr/>
          <p:nvPr/>
        </p:nvSpPr>
        <p:spPr>
          <a:xfrm>
            <a:off x="8286292" y="2574950"/>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22868" y="2620670"/>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discount_amount</a:t>
            </a:r>
          </a:p>
        </p:txBody>
      </p:sp>
      <p:sp>
        <p:nvSpPr>
          <p:cNvPr id="73" name="TextBox 72"/>
          <p:cNvSpPr txBox="1"/>
          <p:nvPr/>
        </p:nvSpPr>
        <p:spPr>
          <a:xfrm>
            <a:off x="9928098" y="2620670"/>
            <a:ext cx="1586941" cy="221284"/>
          </a:xfrm>
          <a:prstGeom prst="rect">
            <a:avLst/>
          </a:prstGeom>
          <a:noFill/>
        </p:spPr>
        <p:txBody>
          <a:bodyPr wrap="square" lIns="0" rIns="0" tIns="0" bIns="0" anchor="t">
            <a:spAutoFit/>
          </a:bodyPr>
          <a:lstStyle/>
          <a:p>
            <a:pPr algn="l">
              <a:lnSpc>
                <a:spcPct val="100000"/>
              </a:lnSpc>
            </a:pPr>
            <a:r>
              <a:rPr sz="950" b="1" i="0">
                <a:solidFill>
                  <a:srgbClr val="B8382C"/>
                </a:solidFill>
                <a:latin typeface="Segoe UI"/>
              </a:rPr>
              <a:t>NULL</a:t>
            </a:r>
          </a:p>
        </p:txBody>
      </p:sp>
      <p:sp>
        <p:nvSpPr>
          <p:cNvPr id="74" name="Rectangle 73"/>
          <p:cNvSpPr/>
          <p:nvPr/>
        </p:nvSpPr>
        <p:spPr>
          <a:xfrm>
            <a:off x="8286292" y="2851099"/>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322868" y="2896819"/>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total_amount</a:t>
            </a:r>
          </a:p>
        </p:txBody>
      </p:sp>
      <p:sp>
        <p:nvSpPr>
          <p:cNvPr id="76" name="TextBox 75"/>
          <p:cNvSpPr txBox="1"/>
          <p:nvPr/>
        </p:nvSpPr>
        <p:spPr>
          <a:xfrm>
            <a:off x="9928098" y="2896819"/>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$4,560.79</a:t>
            </a:r>
          </a:p>
        </p:txBody>
      </p:sp>
      <p:sp>
        <p:nvSpPr>
          <p:cNvPr id="77" name="Rectangle 76"/>
          <p:cNvSpPr/>
          <p:nvPr/>
        </p:nvSpPr>
        <p:spPr>
          <a:xfrm>
            <a:off x="8286292" y="3127248"/>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322868" y="3172968"/>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calculated_total</a:t>
            </a:r>
          </a:p>
        </p:txBody>
      </p:sp>
      <p:sp>
        <p:nvSpPr>
          <p:cNvPr id="79" name="TextBox 78"/>
          <p:cNvSpPr txBox="1"/>
          <p:nvPr/>
        </p:nvSpPr>
        <p:spPr>
          <a:xfrm>
            <a:off x="9928098" y="3172968"/>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$4,560.79</a:t>
            </a:r>
          </a:p>
        </p:txBody>
      </p:sp>
      <p:sp>
        <p:nvSpPr>
          <p:cNvPr id="80" name="Rectangle 79"/>
          <p:cNvSpPr/>
          <p:nvPr/>
        </p:nvSpPr>
        <p:spPr>
          <a:xfrm>
            <a:off x="8286292" y="3403396"/>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322868" y="3449116"/>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total_variance</a:t>
            </a:r>
          </a:p>
        </p:txBody>
      </p:sp>
      <p:sp>
        <p:nvSpPr>
          <p:cNvPr id="82" name="TextBox 81"/>
          <p:cNvSpPr txBox="1"/>
          <p:nvPr/>
        </p:nvSpPr>
        <p:spPr>
          <a:xfrm>
            <a:off x="9928098" y="3449116"/>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$0.00</a:t>
            </a:r>
          </a:p>
        </p:txBody>
      </p:sp>
      <p:sp>
        <p:nvSpPr>
          <p:cNvPr id="83" name="Rectangle 82"/>
          <p:cNvSpPr/>
          <p:nvPr/>
        </p:nvSpPr>
        <p:spPr>
          <a:xfrm>
            <a:off x="8286292" y="3679545"/>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322868" y="3725265"/>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validation_status</a:t>
            </a:r>
          </a:p>
        </p:txBody>
      </p:sp>
      <p:sp>
        <p:nvSpPr>
          <p:cNvPr id="85" name="TextBox 84"/>
          <p:cNvSpPr txBox="1"/>
          <p:nvPr/>
        </p:nvSpPr>
        <p:spPr>
          <a:xfrm>
            <a:off x="9928098" y="3725265"/>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VALID</a:t>
            </a:r>
          </a:p>
        </p:txBody>
      </p:sp>
      <p:sp>
        <p:nvSpPr>
          <p:cNvPr id="86" name="Rectangle 85"/>
          <p:cNvSpPr/>
          <p:nvPr/>
        </p:nvSpPr>
        <p:spPr>
          <a:xfrm>
            <a:off x="8286292" y="3955694"/>
            <a:ext cx="3283610"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322868" y="4001414"/>
            <a:ext cx="1550365" cy="221284"/>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processed_at</a:t>
            </a:r>
          </a:p>
        </p:txBody>
      </p:sp>
      <p:sp>
        <p:nvSpPr>
          <p:cNvPr id="88" name="TextBox 87"/>
          <p:cNvSpPr txBox="1"/>
          <p:nvPr/>
        </p:nvSpPr>
        <p:spPr>
          <a:xfrm>
            <a:off x="9928098" y="4001414"/>
            <a:ext cx="1586941" cy="221284"/>
          </a:xfrm>
          <a:prstGeom prst="rect">
            <a:avLst/>
          </a:prstGeom>
          <a:noFill/>
        </p:spPr>
        <p:txBody>
          <a:bodyPr wrap="square" lIns="0" rIns="0" tIns="0" bIns="0" anchor="t">
            <a:spAutoFit/>
          </a:bodyPr>
          <a:lstStyle/>
          <a:p>
            <a:pPr algn="l">
              <a:lnSpc>
                <a:spcPct val="100000"/>
              </a:lnSpc>
            </a:pPr>
            <a:r>
              <a:rPr sz="950" b="1" i="0">
                <a:solidFill>
                  <a:srgbClr val="1C2533"/>
                </a:solidFill>
                <a:latin typeface="Segoe UI"/>
              </a:rPr>
              <a:t>09-08 13:37:29</a:t>
            </a:r>
          </a:p>
        </p:txBody>
      </p:sp>
      <p:sp>
        <p:nvSpPr>
          <p:cNvPr id="89" name="Rectangle 88"/>
          <p:cNvSpPr/>
          <p:nvPr/>
        </p:nvSpPr>
        <p:spPr>
          <a:xfrm>
            <a:off x="530352" y="4873752"/>
            <a:ext cx="11130991" cy="1298448"/>
          </a:xfrm>
          <a:prstGeom prst="rect">
            <a:avLst/>
          </a:prstGeom>
          <a:solidFill>
            <a:srgbClr val="ECF7F1"/>
          </a:solidFill>
          <a:ln w="9525">
            <a:solidFill>
              <a:srgbClr val="BCE2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30352" y="4873752"/>
            <a:ext cx="45720" cy="1298448"/>
          </a:xfrm>
          <a:prstGeom prst="rect">
            <a:avLst/>
          </a:prstGeom>
          <a:solidFill>
            <a:srgbClr val="1B82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86384" y="5056632"/>
            <a:ext cx="4572000" cy="219456"/>
          </a:xfrm>
          <a:prstGeom prst="rect">
            <a:avLst/>
          </a:prstGeom>
          <a:noFill/>
        </p:spPr>
        <p:txBody>
          <a:bodyPr wrap="square" lIns="0" rIns="0" tIns="0" bIns="0" anchor="t">
            <a:spAutoFit/>
          </a:bodyPr>
          <a:lstStyle/>
          <a:p>
            <a:pPr algn="l">
              <a:lnSpc>
                <a:spcPct val="100000"/>
              </a:lnSpc>
            </a:pPr>
            <a:r>
              <a:rPr sz="1150" b="1" i="0">
                <a:solidFill>
                  <a:srgbClr val="1B8253"/>
                </a:solidFill>
                <a:latin typeface="Segoe UI"/>
              </a:rPr>
              <a:t>The arithmetic check passes cleanly</a:t>
            </a:r>
          </a:p>
        </p:txBody>
      </p:sp>
      <p:sp>
        <p:nvSpPr>
          <p:cNvPr id="92" name="TextBox 91"/>
          <p:cNvSpPr txBox="1"/>
          <p:nvPr/>
        </p:nvSpPr>
        <p:spPr>
          <a:xfrm>
            <a:off x="786384" y="5385816"/>
            <a:ext cx="10618927" cy="777240"/>
          </a:xfrm>
          <a:prstGeom prst="rect">
            <a:avLst/>
          </a:prstGeom>
          <a:noFill/>
        </p:spPr>
        <p:txBody>
          <a:bodyPr wrap="square" lIns="0" rIns="0" tIns="0" bIns="0" anchor="t">
            <a:spAutoFit/>
          </a:bodyPr>
          <a:lstStyle/>
          <a:p>
            <a:pPr algn="l">
              <a:lnSpc>
                <a:spcPct val="132000"/>
              </a:lnSpc>
            </a:pPr>
            <a:r>
              <a:rPr sz="950" b="0" i="0">
                <a:solidFill>
                  <a:srgbClr val="333F4F"/>
                </a:solidFill>
                <a:latin typeface="Segoe UI"/>
              </a:rPr>
              <a:t>calculated_total = subtotal + tax + shipping − discount = 4,560.79 + 0.00 + 0 − 0 = $4,560.79, which equals the stated total_amount, so total_variance is $0.00.</a:t>
            </a:r>
          </a:p>
          <a:p>
            <a:pPr algn="l">
              <a:lnSpc>
                <a:spcPct val="132000"/>
              </a:lnSpc>
            </a:pPr>
            <a:r>
              <a:rPr sz="950" b="0" i="0">
                <a:solidFill>
                  <a:srgbClr val="333F4F"/>
                </a:solidFill>
                <a:latin typeface="Segoe UI"/>
              </a:rPr>
              <a:t>That sits well inside the $0.02 tolerance, and document_type, business_document_number and total_amount are all present, so the validation chain falls</a:t>
            </a:r>
          </a:p>
          <a:p>
            <a:pPr algn="l">
              <a:lnSpc>
                <a:spcPct val="132000"/>
              </a:lnSpc>
            </a:pPr>
            <a:r>
              <a:rPr sz="950" b="0" i="0">
                <a:solidFill>
                  <a:srgbClr val="333F4F"/>
                </a:solidFill>
                <a:latin typeface="Segoe UI"/>
              </a:rPr>
              <a:t>through to VALID. Note the pipeline coalesces nulls to 0 in this formula, so missing shipping and discount do not break the check.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6E8296"/>
                </a:solidFill>
                <a:latin typeface="Segoe UI"/>
              </a:rPr>
              <a:t>STAGE 5  ·  EXPLODED LINE ITEMS</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silver_document_lines</a:t>
            </a:r>
          </a:p>
        </p:txBody>
      </p:sp>
      <p:sp>
        <p:nvSpPr>
          <p:cNvPr id="4" name="Rectangle 3"/>
          <p:cNvSpPr/>
          <p:nvPr/>
        </p:nvSpPr>
        <p:spPr>
          <a:xfrm>
            <a:off x="530352" y="1088136"/>
            <a:ext cx="1051560" cy="32004"/>
          </a:xfrm>
          <a:prstGeom prst="rect">
            <a:avLst/>
          </a:prstGeom>
          <a:solidFill>
            <a:srgbClr val="6E8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9</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74320"/>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posexplode_outer over line_items produced 5 rows. Each is independently re-checked: quantity × unit_price is compared against the stated line amount.</a:t>
            </a:r>
          </a:p>
        </p:txBody>
      </p:sp>
      <p:graphicFrame>
        <p:nvGraphicFramePr>
          <p:cNvPr id="8" name="Table 7"/>
          <p:cNvGraphicFramePr>
            <a:graphicFrameLocks noGrp="1"/>
          </p:cNvGraphicFramePr>
          <p:nvPr/>
        </p:nvGraphicFramePr>
        <p:xfrm>
          <a:off x="530352" y="1709928"/>
          <a:ext cx="11130986" cy="2596896"/>
        </p:xfrm>
        <a:graphic>
          <a:graphicData uri="http://schemas.openxmlformats.org/drawingml/2006/table">
            <a:tbl>
              <a:tblPr firstRow="1">
                <a:tableStyleId>{5C22544A-7EE6-4342-B048-85BDC9FD1C3A}</a:tableStyleId>
              </a:tblPr>
              <a:tblGrid>
                <a:gridCol w="461866"/>
                <a:gridCol w="3879681"/>
                <a:gridCol w="738986"/>
                <a:gridCol w="1247040"/>
                <a:gridCol w="1385600"/>
                <a:gridCol w="1385600"/>
                <a:gridCol w="1108480"/>
                <a:gridCol w="923733"/>
              </a:tblGrid>
              <a:tr h="402336">
                <a:tc>
                  <a:txBody>
                    <a:bodyPr wrap="square"/>
                    <a:lstStyle/>
                    <a:p>
                      <a:pPr algn="l"/>
                      <a:r>
                        <a:rPr sz="950" b="1">
                          <a:solidFill>
                            <a:srgbClr val="FFFFFF"/>
                          </a:solidFill>
                          <a:latin typeface="Segoe UI"/>
                        </a:rPr>
                        <a:t>#</a:t>
                      </a:r>
                    </a:p>
                  </a:txBody>
                  <a:tcPr marL="64008" marR="64008" marT="18288" marB="18288" anchor="ctr">
                    <a:solidFill>
                      <a:srgbClr val="0E1B2E"/>
                    </a:solidFill>
                  </a:tcPr>
                </a:tc>
                <a:tc>
                  <a:txBody>
                    <a:bodyPr wrap="square"/>
                    <a:lstStyle/>
                    <a:p>
                      <a:pPr algn="l"/>
                      <a:r>
                        <a:rPr sz="950" b="1">
                          <a:solidFill>
                            <a:srgbClr val="FFFFFF"/>
                          </a:solidFill>
                          <a:latin typeface="Segoe UI"/>
                        </a:rPr>
                        <a:t>Description</a:t>
                      </a:r>
                    </a:p>
                  </a:txBody>
                  <a:tcPr marL="64008" marR="64008" marT="18288" marB="18288" anchor="ctr">
                    <a:solidFill>
                      <a:srgbClr val="0E1B2E"/>
                    </a:solidFill>
                  </a:tcPr>
                </a:tc>
                <a:tc>
                  <a:txBody>
                    <a:bodyPr wrap="square"/>
                    <a:lstStyle/>
                    <a:p>
                      <a:pPr algn="l"/>
                      <a:r>
                        <a:rPr sz="950" b="1">
                          <a:solidFill>
                            <a:srgbClr val="FFFFFF"/>
                          </a:solidFill>
                          <a:latin typeface="Segoe UI"/>
                        </a:rPr>
                        <a:t>Qty</a:t>
                      </a:r>
                    </a:p>
                  </a:txBody>
                  <a:tcPr marL="64008" marR="64008" marT="18288" marB="18288" anchor="ctr">
                    <a:solidFill>
                      <a:srgbClr val="0E1B2E"/>
                    </a:solidFill>
                  </a:tcPr>
                </a:tc>
                <a:tc>
                  <a:txBody>
                    <a:bodyPr wrap="square"/>
                    <a:lstStyle/>
                    <a:p>
                      <a:pPr algn="l"/>
                      <a:r>
                        <a:rPr sz="950" b="1">
                          <a:solidFill>
                            <a:srgbClr val="FFFFFF"/>
                          </a:solidFill>
                          <a:latin typeface="Segoe UI"/>
                        </a:rPr>
                        <a:t>Unit price</a:t>
                      </a:r>
                    </a:p>
                  </a:txBody>
                  <a:tcPr marL="64008" marR="64008" marT="18288" marB="18288" anchor="ctr">
                    <a:solidFill>
                      <a:srgbClr val="0E1B2E"/>
                    </a:solidFill>
                  </a:tcPr>
                </a:tc>
                <a:tc>
                  <a:txBody>
                    <a:bodyPr wrap="square"/>
                    <a:lstStyle/>
                    <a:p>
                      <a:pPr algn="l"/>
                      <a:r>
                        <a:rPr sz="950" b="1">
                          <a:solidFill>
                            <a:srgbClr val="FFFFFF"/>
                          </a:solidFill>
                          <a:latin typeface="Segoe UI"/>
                        </a:rPr>
                        <a:t>Line amount</a:t>
                      </a:r>
                    </a:p>
                  </a:txBody>
                  <a:tcPr marL="64008" marR="64008" marT="18288" marB="18288" anchor="ctr">
                    <a:solidFill>
                      <a:srgbClr val="0E1B2E"/>
                    </a:solidFill>
                  </a:tcPr>
                </a:tc>
                <a:tc>
                  <a:txBody>
                    <a:bodyPr wrap="square"/>
                    <a:lstStyle/>
                    <a:p>
                      <a:pPr algn="l"/>
                      <a:r>
                        <a:rPr sz="950" b="1">
                          <a:solidFill>
                            <a:srgbClr val="FFFFFF"/>
                          </a:solidFill>
                          <a:latin typeface="Segoe UI"/>
                        </a:rPr>
                        <a:t>Calculated</a:t>
                      </a:r>
                    </a:p>
                  </a:txBody>
                  <a:tcPr marL="64008" marR="64008" marT="18288" marB="18288" anchor="ctr">
                    <a:solidFill>
                      <a:srgbClr val="0E1B2E"/>
                    </a:solidFill>
                  </a:tcPr>
                </a:tc>
                <a:tc>
                  <a:txBody>
                    <a:bodyPr wrap="square"/>
                    <a:lstStyle/>
                    <a:p>
                      <a:pPr algn="l"/>
                      <a:r>
                        <a:rPr sz="950" b="1">
                          <a:solidFill>
                            <a:srgbClr val="FFFFFF"/>
                          </a:solidFill>
                          <a:latin typeface="Segoe UI"/>
                        </a:rPr>
                        <a:t>Variance</a:t>
                      </a:r>
                    </a:p>
                  </a:txBody>
                  <a:tcPr marL="64008" marR="64008" marT="18288" marB="18288" anchor="ctr">
                    <a:solidFill>
                      <a:srgbClr val="0E1B2E"/>
                    </a:solidFill>
                  </a:tcPr>
                </a:tc>
                <a:tc>
                  <a:txBody>
                    <a:bodyPr wrap="square"/>
                    <a:lstStyle/>
                    <a:p>
                      <a:pPr algn="l"/>
                      <a:r>
                        <a:rPr sz="950" b="1">
                          <a:solidFill>
                            <a:srgbClr val="FFFFFF"/>
                          </a:solidFill>
                          <a:latin typeface="Segoe UI"/>
                        </a:rPr>
                        <a:t>Status</a:t>
                      </a:r>
                    </a:p>
                  </a:txBody>
                  <a:tcPr marL="64008" marR="64008" marT="18288" marB="18288" anchor="ctr">
                    <a:solidFill>
                      <a:srgbClr val="0E1B2E"/>
                    </a:solidFill>
                  </a:tcPr>
                </a:tc>
              </a:tr>
              <a:tr h="365760">
                <a:tc>
                  <a:txBody>
                    <a:bodyPr wrap="square"/>
                    <a:lstStyle/>
                    <a:p>
                      <a:pPr algn="ctr"/>
                      <a:r>
                        <a:rPr sz="1000" b="0">
                          <a:solidFill>
                            <a:srgbClr val="333F4F"/>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Creative design (hours)</a:t>
                      </a:r>
                    </a:p>
                  </a:txBody>
                  <a:tcPr marL="64008" marR="64008" marT="18288" marB="18288" anchor="ctr">
                    <a:solidFill>
                      <a:srgbClr val="FFFFFF"/>
                    </a:solidFill>
                  </a:tcPr>
                </a:tc>
                <a:tc>
                  <a:txBody>
                    <a:bodyPr wrap="square"/>
                    <a:lstStyle/>
                    <a:p>
                      <a:pPr algn="r"/>
                      <a:r>
                        <a:rPr sz="1000" b="0">
                          <a:solidFill>
                            <a:srgbClr val="333F4F"/>
                          </a:solidFill>
                          <a:latin typeface="Segoe UI"/>
                        </a:rPr>
                        <a:t>8</a:t>
                      </a:r>
                    </a:p>
                  </a:txBody>
                  <a:tcPr marL="64008" marR="64008" marT="18288" marB="18288" anchor="ctr">
                    <a:solidFill>
                      <a:srgbClr val="FFFFFF"/>
                    </a:solidFill>
                  </a:tcPr>
                </a:tc>
                <a:tc>
                  <a:txBody>
                    <a:bodyPr wrap="square"/>
                    <a:lstStyle/>
                    <a:p>
                      <a:pPr algn="r"/>
                      <a:r>
                        <a:rPr sz="1000" b="0">
                          <a:solidFill>
                            <a:srgbClr val="333F4F"/>
                          </a:solidFill>
                          <a:latin typeface="Segoe UI"/>
                        </a:rPr>
                        <a:t>$93.48</a:t>
                      </a:r>
                    </a:p>
                  </a:txBody>
                  <a:tcPr marL="64008" marR="64008" marT="18288" marB="18288" anchor="ctr">
                    <a:solidFill>
                      <a:srgbClr val="FFFFFF"/>
                    </a:solidFill>
                  </a:tcPr>
                </a:tc>
                <a:tc>
                  <a:txBody>
                    <a:bodyPr wrap="square"/>
                    <a:lstStyle/>
                    <a:p>
                      <a:pPr algn="r"/>
                      <a:r>
                        <a:rPr sz="1000" b="0">
                          <a:solidFill>
                            <a:srgbClr val="333F4F"/>
                          </a:solidFill>
                          <a:latin typeface="Segoe UI"/>
                        </a:rPr>
                        <a:t>$747.84</a:t>
                      </a:r>
                    </a:p>
                  </a:txBody>
                  <a:tcPr marL="64008" marR="64008" marT="18288" marB="18288" anchor="ctr">
                    <a:solidFill>
                      <a:srgbClr val="FFFFFF"/>
                    </a:solidFill>
                  </a:tcPr>
                </a:tc>
                <a:tc>
                  <a:txBody>
                    <a:bodyPr wrap="square"/>
                    <a:lstStyle/>
                    <a:p>
                      <a:pPr algn="r"/>
                      <a:r>
                        <a:rPr sz="1000" b="0">
                          <a:solidFill>
                            <a:srgbClr val="333F4F"/>
                          </a:solidFill>
                          <a:latin typeface="Segoe UI"/>
                        </a:rPr>
                        <a:t>$747.84</a:t>
                      </a:r>
                    </a:p>
                  </a:txBody>
                  <a:tcPr marL="64008" marR="64008" marT="18288" marB="18288" anchor="ctr">
                    <a:solidFill>
                      <a:srgbClr val="FFFFFF"/>
                    </a:solidFill>
                  </a:tcPr>
                </a:tc>
                <a:tc>
                  <a:txBody>
                    <a:bodyPr wrap="square"/>
                    <a:lstStyle/>
                    <a:p>
                      <a:pPr algn="r"/>
                      <a:r>
                        <a:rPr sz="1000" b="0">
                          <a:solidFill>
                            <a:srgbClr val="333F4F"/>
                          </a:solidFill>
                          <a:latin typeface="Segoe UI"/>
                        </a:rPr>
                        <a:t>$0.00</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r h="365760">
                <a:tc>
                  <a:txBody>
                    <a:bodyPr wrap="square"/>
                    <a:lstStyle/>
                    <a:p>
                      <a:pPr algn="ctr"/>
                      <a:r>
                        <a:rPr sz="1000" b="0">
                          <a:solidFill>
                            <a:srgbClr val="333F4F"/>
                          </a:solidFill>
                          <a:latin typeface="Segoe UI"/>
                        </a:rPr>
                        <a:t>2</a:t>
                      </a:r>
                    </a:p>
                  </a:txBody>
                  <a:tcPr marL="64008" marR="64008" marT="18288" marB="18288" anchor="ctr">
                    <a:solidFill>
                      <a:srgbClr val="F4F7FA"/>
                    </a:solidFill>
                  </a:tcPr>
                </a:tc>
                <a:tc>
                  <a:txBody>
                    <a:bodyPr wrap="square"/>
                    <a:lstStyle/>
                    <a:p>
                      <a:pPr algn="l"/>
                      <a:r>
                        <a:rPr sz="1000" b="0">
                          <a:solidFill>
                            <a:srgbClr val="333F4F"/>
                          </a:solidFill>
                          <a:latin typeface="Segoe UI"/>
                        </a:rPr>
                        <a:t>Ad spend management (hours)</a:t>
                      </a:r>
                    </a:p>
                  </a:txBody>
                  <a:tcPr marL="64008" marR="64008" marT="18288" marB="18288" anchor="ctr">
                    <a:solidFill>
                      <a:srgbClr val="F4F7FA"/>
                    </a:solidFill>
                  </a:tcPr>
                </a:tc>
                <a:tc>
                  <a:txBody>
                    <a:bodyPr wrap="square"/>
                    <a:lstStyle/>
                    <a:p>
                      <a:pPr algn="r"/>
                      <a:r>
                        <a:rPr sz="1000" b="0">
                          <a:solidFill>
                            <a:srgbClr val="333F4F"/>
                          </a:solidFill>
                          <a:latin typeface="Segoe UI"/>
                        </a:rPr>
                        <a:t>12</a:t>
                      </a:r>
                    </a:p>
                  </a:txBody>
                  <a:tcPr marL="64008" marR="64008" marT="18288" marB="18288" anchor="ctr">
                    <a:solidFill>
                      <a:srgbClr val="F4F7FA"/>
                    </a:solidFill>
                  </a:tcPr>
                </a:tc>
                <a:tc>
                  <a:txBody>
                    <a:bodyPr wrap="square"/>
                    <a:lstStyle/>
                    <a:p>
                      <a:pPr algn="r"/>
                      <a:r>
                        <a:rPr sz="1000" b="0">
                          <a:solidFill>
                            <a:srgbClr val="333F4F"/>
                          </a:solidFill>
                          <a:latin typeface="Segoe UI"/>
                        </a:rPr>
                        <a:t>$78.47</a:t>
                      </a:r>
                    </a:p>
                  </a:txBody>
                  <a:tcPr marL="64008" marR="64008" marT="18288" marB="18288" anchor="ctr">
                    <a:solidFill>
                      <a:srgbClr val="F4F7FA"/>
                    </a:solidFill>
                  </a:tcPr>
                </a:tc>
                <a:tc>
                  <a:txBody>
                    <a:bodyPr wrap="square"/>
                    <a:lstStyle/>
                    <a:p>
                      <a:pPr algn="r"/>
                      <a:r>
                        <a:rPr sz="1000" b="0">
                          <a:solidFill>
                            <a:srgbClr val="333F4F"/>
                          </a:solidFill>
                          <a:latin typeface="Segoe UI"/>
                        </a:rPr>
                        <a:t>$941.64</a:t>
                      </a:r>
                    </a:p>
                  </a:txBody>
                  <a:tcPr marL="64008" marR="64008" marT="18288" marB="18288" anchor="ctr">
                    <a:solidFill>
                      <a:srgbClr val="F4F7FA"/>
                    </a:solidFill>
                  </a:tcPr>
                </a:tc>
                <a:tc>
                  <a:txBody>
                    <a:bodyPr wrap="square"/>
                    <a:lstStyle/>
                    <a:p>
                      <a:pPr algn="r"/>
                      <a:r>
                        <a:rPr sz="1000" b="0">
                          <a:solidFill>
                            <a:srgbClr val="333F4F"/>
                          </a:solidFill>
                          <a:latin typeface="Segoe UI"/>
                        </a:rPr>
                        <a:t>$941.64</a:t>
                      </a:r>
                    </a:p>
                  </a:txBody>
                  <a:tcPr marL="64008" marR="64008" marT="18288" marB="18288" anchor="ctr">
                    <a:solidFill>
                      <a:srgbClr val="F4F7FA"/>
                    </a:solidFill>
                  </a:tcPr>
                </a:tc>
                <a:tc>
                  <a:txBody>
                    <a:bodyPr wrap="square"/>
                    <a:lstStyle/>
                    <a:p>
                      <a:pPr algn="r"/>
                      <a:r>
                        <a:rPr sz="1000" b="0">
                          <a:solidFill>
                            <a:srgbClr val="333F4F"/>
                          </a:solidFill>
                          <a:latin typeface="Segoe UI"/>
                        </a:rPr>
                        <a:t>$0.00</a:t>
                      </a:r>
                    </a:p>
                  </a:txBody>
                  <a:tcPr marL="64008" marR="64008" marT="18288" marB="18288" anchor="ctr">
                    <a:solidFill>
                      <a:srgbClr val="F4F7FA"/>
                    </a:solidFill>
                  </a:tcPr>
                </a:tc>
                <a:tc>
                  <a:txBody>
                    <a:bodyPr wrap="square"/>
                    <a:lstStyle/>
                    <a:p>
                      <a:pPr algn="ctr"/>
                      <a:r>
                        <a:rPr sz="1000" b="1">
                          <a:solidFill>
                            <a:srgbClr val="1B8253"/>
                          </a:solidFill>
                          <a:latin typeface="Segoe UI"/>
                        </a:rPr>
                        <a:t>VALID</a:t>
                      </a:r>
                    </a:p>
                  </a:txBody>
                  <a:tcPr marL="64008" marR="64008" marT="18288" marB="18288" anchor="ctr">
                    <a:solidFill>
                      <a:srgbClr val="F4F7FA"/>
                    </a:solidFill>
                  </a:tcPr>
                </a:tc>
              </a:tr>
              <a:tr h="365760">
                <a:tc>
                  <a:txBody>
                    <a:bodyPr wrap="square"/>
                    <a:lstStyle/>
                    <a:p>
                      <a:pPr algn="ctr"/>
                      <a:r>
                        <a:rPr sz="1000" b="0">
                          <a:solidFill>
                            <a:srgbClr val="333F4F"/>
                          </a:solidFill>
                          <a:latin typeface="Segoe UI"/>
                        </a:rPr>
                        <a:t>3</a:t>
                      </a:r>
                    </a:p>
                  </a:txBody>
                  <a:tcPr marL="64008" marR="64008" marT="18288" marB="18288" anchor="ctr">
                    <a:solidFill>
                      <a:srgbClr val="FFFFFF"/>
                    </a:solidFill>
                  </a:tcPr>
                </a:tc>
                <a:tc>
                  <a:txBody>
                    <a:bodyPr wrap="square"/>
                    <a:lstStyle/>
                    <a:p>
                      <a:pPr algn="l"/>
                      <a:r>
                        <a:rPr sz="1000" b="0">
                          <a:solidFill>
                            <a:srgbClr val="333F4F"/>
                          </a:solidFill>
                          <a:latin typeface="Segoe UI"/>
                        </a:rPr>
                        <a:t>Landing page build</a:t>
                      </a:r>
                    </a:p>
                  </a:txBody>
                  <a:tcPr marL="64008" marR="64008" marT="18288" marB="18288" anchor="ctr">
                    <a:solidFill>
                      <a:srgbClr val="FFFFFF"/>
                    </a:solidFill>
                  </a:tcPr>
                </a:tc>
                <a:tc>
                  <a:txBody>
                    <a:bodyPr wrap="square"/>
                    <a:lstStyle/>
                    <a:p>
                      <a:pPr algn="r"/>
                      <a:r>
                        <a:rPr sz="1000" b="0">
                          <a:solidFill>
                            <a:srgbClr val="333F4F"/>
                          </a:solidFill>
                          <a:latin typeface="Segoe UI"/>
                        </a:rPr>
                        <a:t>1</a:t>
                      </a:r>
                    </a:p>
                  </a:txBody>
                  <a:tcPr marL="64008" marR="64008" marT="18288" marB="18288" anchor="ctr">
                    <a:solidFill>
                      <a:srgbClr val="FFFFFF"/>
                    </a:solidFill>
                  </a:tcPr>
                </a:tc>
                <a:tc>
                  <a:txBody>
                    <a:bodyPr wrap="square"/>
                    <a:lstStyle/>
                    <a:p>
                      <a:pPr algn="r"/>
                      <a:r>
                        <a:rPr sz="1000" b="0">
                          <a:solidFill>
                            <a:srgbClr val="333F4F"/>
                          </a:solidFill>
                          <a:latin typeface="Segoe UI"/>
                        </a:rPr>
                        <a:t>$1,159.52</a:t>
                      </a:r>
                    </a:p>
                  </a:txBody>
                  <a:tcPr marL="64008" marR="64008" marT="18288" marB="18288" anchor="ctr">
                    <a:solidFill>
                      <a:srgbClr val="FFFFFF"/>
                    </a:solidFill>
                  </a:tcPr>
                </a:tc>
                <a:tc>
                  <a:txBody>
                    <a:bodyPr wrap="square"/>
                    <a:lstStyle/>
                    <a:p>
                      <a:pPr algn="r"/>
                      <a:r>
                        <a:rPr sz="1000" b="0">
                          <a:solidFill>
                            <a:srgbClr val="333F4F"/>
                          </a:solidFill>
                          <a:latin typeface="Segoe UI"/>
                        </a:rPr>
                        <a:t>$1,159.52</a:t>
                      </a:r>
                    </a:p>
                  </a:txBody>
                  <a:tcPr marL="64008" marR="64008" marT="18288" marB="18288" anchor="ctr">
                    <a:solidFill>
                      <a:srgbClr val="FFFFFF"/>
                    </a:solidFill>
                  </a:tcPr>
                </a:tc>
                <a:tc>
                  <a:txBody>
                    <a:bodyPr wrap="square"/>
                    <a:lstStyle/>
                    <a:p>
                      <a:pPr algn="r"/>
                      <a:r>
                        <a:rPr sz="1000" b="0">
                          <a:solidFill>
                            <a:srgbClr val="333F4F"/>
                          </a:solidFill>
                          <a:latin typeface="Segoe UI"/>
                        </a:rPr>
                        <a:t>$1,159.52</a:t>
                      </a:r>
                    </a:p>
                  </a:txBody>
                  <a:tcPr marL="64008" marR="64008" marT="18288" marB="18288" anchor="ctr">
                    <a:solidFill>
                      <a:srgbClr val="FFFFFF"/>
                    </a:solidFill>
                  </a:tcPr>
                </a:tc>
                <a:tc>
                  <a:txBody>
                    <a:bodyPr wrap="square"/>
                    <a:lstStyle/>
                    <a:p>
                      <a:pPr algn="r"/>
                      <a:r>
                        <a:rPr sz="1000" b="0">
                          <a:solidFill>
                            <a:srgbClr val="333F4F"/>
                          </a:solidFill>
                          <a:latin typeface="Segoe UI"/>
                        </a:rPr>
                        <a:t>$0.00</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r h="365760">
                <a:tc>
                  <a:txBody>
                    <a:bodyPr wrap="square"/>
                    <a:lstStyle/>
                    <a:p>
                      <a:pPr algn="ctr"/>
                      <a:r>
                        <a:rPr sz="1000" b="0">
                          <a:solidFill>
                            <a:srgbClr val="333F4F"/>
                          </a:solidFill>
                          <a:latin typeface="Segoe UI"/>
                        </a:rPr>
                        <a:t>4</a:t>
                      </a:r>
                    </a:p>
                  </a:txBody>
                  <a:tcPr marL="64008" marR="64008" marT="18288" marB="18288" anchor="ctr">
                    <a:solidFill>
                      <a:srgbClr val="F4F7FA"/>
                    </a:solidFill>
                  </a:tcPr>
                </a:tc>
                <a:tc>
                  <a:txBody>
                    <a:bodyPr wrap="square"/>
                    <a:lstStyle/>
                    <a:p>
                      <a:pPr algn="l"/>
                      <a:r>
                        <a:rPr sz="1000" b="0">
                          <a:solidFill>
                            <a:srgbClr val="333F4F"/>
                          </a:solidFill>
                          <a:latin typeface="Segoe UI"/>
                        </a:rPr>
                        <a:t>Performance report</a:t>
                      </a:r>
                    </a:p>
                  </a:txBody>
                  <a:tcPr marL="64008" marR="64008" marT="18288" marB="18288" anchor="ctr">
                    <a:solidFill>
                      <a:srgbClr val="F4F7FA"/>
                    </a:solidFill>
                  </a:tcPr>
                </a:tc>
                <a:tc>
                  <a:txBody>
                    <a:bodyPr wrap="square"/>
                    <a:lstStyle/>
                    <a:p>
                      <a:pPr algn="r"/>
                      <a:r>
                        <a:rPr sz="1000" b="0">
                          <a:solidFill>
                            <a:srgbClr val="333F4F"/>
                          </a:solidFill>
                          <a:latin typeface="Segoe UI"/>
                        </a:rPr>
                        <a:t>1</a:t>
                      </a:r>
                    </a:p>
                  </a:txBody>
                  <a:tcPr marL="64008" marR="64008" marT="18288" marB="18288" anchor="ctr">
                    <a:solidFill>
                      <a:srgbClr val="F4F7FA"/>
                    </a:solidFill>
                  </a:tcPr>
                </a:tc>
                <a:tc>
                  <a:txBody>
                    <a:bodyPr wrap="square"/>
                    <a:lstStyle/>
                    <a:p>
                      <a:pPr algn="r"/>
                      <a:r>
                        <a:rPr sz="1000" b="0">
                          <a:solidFill>
                            <a:srgbClr val="333F4F"/>
                          </a:solidFill>
                          <a:latin typeface="Segoe UI"/>
                        </a:rPr>
                        <a:t>$385.23</a:t>
                      </a:r>
                    </a:p>
                  </a:txBody>
                  <a:tcPr marL="64008" marR="64008" marT="18288" marB="18288" anchor="ctr">
                    <a:solidFill>
                      <a:srgbClr val="F4F7FA"/>
                    </a:solidFill>
                  </a:tcPr>
                </a:tc>
                <a:tc>
                  <a:txBody>
                    <a:bodyPr wrap="square"/>
                    <a:lstStyle/>
                    <a:p>
                      <a:pPr algn="r"/>
                      <a:r>
                        <a:rPr sz="1000" b="0">
                          <a:solidFill>
                            <a:srgbClr val="333F4F"/>
                          </a:solidFill>
                          <a:latin typeface="Segoe UI"/>
                        </a:rPr>
                        <a:t>$385.23</a:t>
                      </a:r>
                    </a:p>
                  </a:txBody>
                  <a:tcPr marL="64008" marR="64008" marT="18288" marB="18288" anchor="ctr">
                    <a:solidFill>
                      <a:srgbClr val="F4F7FA"/>
                    </a:solidFill>
                  </a:tcPr>
                </a:tc>
                <a:tc>
                  <a:txBody>
                    <a:bodyPr wrap="square"/>
                    <a:lstStyle/>
                    <a:p>
                      <a:pPr algn="r"/>
                      <a:r>
                        <a:rPr sz="1000" b="0">
                          <a:solidFill>
                            <a:srgbClr val="333F4F"/>
                          </a:solidFill>
                          <a:latin typeface="Segoe UI"/>
                        </a:rPr>
                        <a:t>$385.23</a:t>
                      </a:r>
                    </a:p>
                  </a:txBody>
                  <a:tcPr marL="64008" marR="64008" marT="18288" marB="18288" anchor="ctr">
                    <a:solidFill>
                      <a:srgbClr val="F4F7FA"/>
                    </a:solidFill>
                  </a:tcPr>
                </a:tc>
                <a:tc>
                  <a:txBody>
                    <a:bodyPr wrap="square"/>
                    <a:lstStyle/>
                    <a:p>
                      <a:pPr algn="r"/>
                      <a:r>
                        <a:rPr sz="1000" b="0">
                          <a:solidFill>
                            <a:srgbClr val="333F4F"/>
                          </a:solidFill>
                          <a:latin typeface="Segoe UI"/>
                        </a:rPr>
                        <a:t>$0.00</a:t>
                      </a:r>
                    </a:p>
                  </a:txBody>
                  <a:tcPr marL="64008" marR="64008" marT="18288" marB="18288" anchor="ctr">
                    <a:solidFill>
                      <a:srgbClr val="F4F7FA"/>
                    </a:solidFill>
                  </a:tcPr>
                </a:tc>
                <a:tc>
                  <a:txBody>
                    <a:bodyPr wrap="square"/>
                    <a:lstStyle/>
                    <a:p>
                      <a:pPr algn="ctr"/>
                      <a:r>
                        <a:rPr sz="1000" b="1">
                          <a:solidFill>
                            <a:srgbClr val="1B8253"/>
                          </a:solidFill>
                          <a:latin typeface="Segoe UI"/>
                        </a:rPr>
                        <a:t>VALID</a:t>
                      </a:r>
                    </a:p>
                  </a:txBody>
                  <a:tcPr marL="64008" marR="64008" marT="18288" marB="18288" anchor="ctr">
                    <a:solidFill>
                      <a:srgbClr val="F4F7FA"/>
                    </a:solidFill>
                  </a:tcPr>
                </a:tc>
              </a:tr>
              <a:tr h="365760">
                <a:tc>
                  <a:txBody>
                    <a:bodyPr wrap="square"/>
                    <a:lstStyle/>
                    <a:p>
                      <a:pPr algn="ctr"/>
                      <a:r>
                        <a:rPr sz="1000" b="0">
                          <a:solidFill>
                            <a:srgbClr val="333F4F"/>
                          </a:solidFill>
                          <a:latin typeface="Segoe UI"/>
                        </a:rPr>
                        <a:t>5</a:t>
                      </a:r>
                    </a:p>
                  </a:txBody>
                  <a:tcPr marL="64008" marR="64008" marT="18288" marB="18288" anchor="ctr">
                    <a:solidFill>
                      <a:srgbClr val="FFFFFF"/>
                    </a:solidFill>
                  </a:tcPr>
                </a:tc>
                <a:tc>
                  <a:txBody>
                    <a:bodyPr wrap="square"/>
                    <a:lstStyle/>
                    <a:p>
                      <a:pPr algn="l"/>
                      <a:r>
                        <a:rPr sz="1000" b="0">
                          <a:solidFill>
                            <a:srgbClr val="333F4F"/>
                          </a:solidFill>
                          <a:latin typeface="Segoe UI"/>
                        </a:rPr>
                        <a:t>Campaign setup</a:t>
                      </a:r>
                    </a:p>
                  </a:txBody>
                  <a:tcPr marL="64008" marR="64008" marT="18288" marB="18288" anchor="ctr">
                    <a:solidFill>
                      <a:srgbClr val="FFFFFF"/>
                    </a:solidFill>
                  </a:tcPr>
                </a:tc>
                <a:tc>
                  <a:txBody>
                    <a:bodyPr wrap="square"/>
                    <a:lstStyle/>
                    <a:p>
                      <a:pPr algn="r"/>
                      <a:r>
                        <a:rPr sz="1000" b="0">
                          <a:solidFill>
                            <a:srgbClr val="333F4F"/>
                          </a:solidFill>
                          <a:latin typeface="Segoe UI"/>
                        </a:rPr>
                        <a:t>1</a:t>
                      </a:r>
                    </a:p>
                  </a:txBody>
                  <a:tcPr marL="64008" marR="64008" marT="18288" marB="18288" anchor="ctr">
                    <a:solidFill>
                      <a:srgbClr val="FFFFFF"/>
                    </a:solidFill>
                  </a:tcPr>
                </a:tc>
                <a:tc>
                  <a:txBody>
                    <a:bodyPr wrap="square"/>
                    <a:lstStyle/>
                    <a:p>
                      <a:pPr algn="r"/>
                      <a:r>
                        <a:rPr sz="1000" b="0">
                          <a:solidFill>
                            <a:srgbClr val="333F4F"/>
                          </a:solidFill>
                          <a:latin typeface="Segoe UI"/>
                        </a:rPr>
                        <a:t>$1,326.56</a:t>
                      </a:r>
                    </a:p>
                  </a:txBody>
                  <a:tcPr marL="64008" marR="64008" marT="18288" marB="18288" anchor="ctr">
                    <a:solidFill>
                      <a:srgbClr val="FFFFFF"/>
                    </a:solidFill>
                  </a:tcPr>
                </a:tc>
                <a:tc>
                  <a:txBody>
                    <a:bodyPr wrap="square"/>
                    <a:lstStyle/>
                    <a:p>
                      <a:pPr algn="r"/>
                      <a:r>
                        <a:rPr sz="1000" b="0">
                          <a:solidFill>
                            <a:srgbClr val="333F4F"/>
                          </a:solidFill>
                          <a:latin typeface="Segoe UI"/>
                        </a:rPr>
                        <a:t>$1,326.56</a:t>
                      </a:r>
                    </a:p>
                  </a:txBody>
                  <a:tcPr marL="64008" marR="64008" marT="18288" marB="18288" anchor="ctr">
                    <a:solidFill>
                      <a:srgbClr val="FFFFFF"/>
                    </a:solidFill>
                  </a:tcPr>
                </a:tc>
                <a:tc>
                  <a:txBody>
                    <a:bodyPr wrap="square"/>
                    <a:lstStyle/>
                    <a:p>
                      <a:pPr algn="r"/>
                      <a:r>
                        <a:rPr sz="1000" b="0">
                          <a:solidFill>
                            <a:srgbClr val="333F4F"/>
                          </a:solidFill>
                          <a:latin typeface="Segoe UI"/>
                        </a:rPr>
                        <a:t>$1,326.56</a:t>
                      </a:r>
                    </a:p>
                  </a:txBody>
                  <a:tcPr marL="64008" marR="64008" marT="18288" marB="18288" anchor="ctr">
                    <a:solidFill>
                      <a:srgbClr val="FFFFFF"/>
                    </a:solidFill>
                  </a:tcPr>
                </a:tc>
                <a:tc>
                  <a:txBody>
                    <a:bodyPr wrap="square"/>
                    <a:lstStyle/>
                    <a:p>
                      <a:pPr algn="r"/>
                      <a:r>
                        <a:rPr sz="1000" b="0">
                          <a:solidFill>
                            <a:srgbClr val="333F4F"/>
                          </a:solidFill>
                          <a:latin typeface="Segoe UI"/>
                        </a:rPr>
                        <a:t>$0.00</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r h="365760">
                <a:tc>
                  <a:txBody>
                    <a:bodyPr wrap="square"/>
                    <a:lstStyle/>
                    <a:p>
                      <a:pPr algn="ctr"/>
                      <a:r>
                        <a:rPr sz="1000" b="0">
                          <a:solidFill>
                            <a:srgbClr val="333F4F"/>
                          </a:solidFill>
                          <a:latin typeface="Segoe UI"/>
                        </a:rPr>
                        <a:t/>
                      </a:r>
                    </a:p>
                  </a:txBody>
                  <a:tcPr marL="64008" marR="64008" marT="18288" marB="18288" anchor="ctr">
                    <a:solidFill>
                      <a:srgbClr val="F4F7FA"/>
                    </a:solidFill>
                  </a:tcPr>
                </a:tc>
                <a:tc>
                  <a:txBody>
                    <a:bodyPr wrap="square"/>
                    <a:lstStyle/>
                    <a:p>
                      <a:pPr algn="l"/>
                      <a:r>
                        <a:rPr sz="1000" b="0">
                          <a:solidFill>
                            <a:srgbClr val="333F4F"/>
                          </a:solidFill>
                          <a:latin typeface="Segoe UI"/>
                        </a:rPr>
                        <a:t>Sum of line amounts</a:t>
                      </a:r>
                    </a:p>
                  </a:txBody>
                  <a:tcPr marL="64008" marR="64008" marT="18288" marB="18288" anchor="ctr">
                    <a:solidFill>
                      <a:srgbClr val="F4F7FA"/>
                    </a:solidFill>
                  </a:tcPr>
                </a:tc>
                <a:tc>
                  <a:txBody>
                    <a:bodyPr wrap="square"/>
                    <a:lstStyle/>
                    <a:p>
                      <a:pPr algn="r"/>
                      <a:r>
                        <a:rPr sz="1000" b="0">
                          <a:solidFill>
                            <a:srgbClr val="333F4F"/>
                          </a:solidFill>
                          <a:latin typeface="Segoe UI"/>
                        </a:rPr>
                        <a:t/>
                      </a:r>
                    </a:p>
                  </a:txBody>
                  <a:tcPr marL="64008" marR="64008" marT="18288" marB="18288" anchor="ctr">
                    <a:solidFill>
                      <a:srgbClr val="F4F7FA"/>
                    </a:solidFill>
                  </a:tcPr>
                </a:tc>
                <a:tc>
                  <a:txBody>
                    <a:bodyPr wrap="square"/>
                    <a:lstStyle/>
                    <a:p>
                      <a:pPr algn="r"/>
                      <a:r>
                        <a:rPr sz="1000" b="0">
                          <a:solidFill>
                            <a:srgbClr val="333F4F"/>
                          </a:solidFill>
                          <a:latin typeface="Segoe UI"/>
                        </a:rPr>
                        <a:t/>
                      </a:r>
                    </a:p>
                  </a:txBody>
                  <a:tcPr marL="64008" marR="64008" marT="18288" marB="18288" anchor="ctr">
                    <a:solidFill>
                      <a:srgbClr val="F4F7FA"/>
                    </a:solidFill>
                  </a:tcPr>
                </a:tc>
                <a:tc>
                  <a:txBody>
                    <a:bodyPr wrap="square"/>
                    <a:lstStyle/>
                    <a:p>
                      <a:pPr algn="r"/>
                      <a:r>
                        <a:rPr sz="1000" b="1">
                          <a:solidFill>
                            <a:srgbClr val="0E1B2E"/>
                          </a:solidFill>
                          <a:latin typeface="Segoe UI"/>
                        </a:rPr>
                        <a:t>$4,560.79</a:t>
                      </a:r>
                    </a:p>
                  </a:txBody>
                  <a:tcPr marL="64008" marR="64008" marT="18288" marB="18288" anchor="ctr">
                    <a:solidFill>
                      <a:srgbClr val="F4F7FA"/>
                    </a:solidFill>
                  </a:tcPr>
                </a:tc>
                <a:tc>
                  <a:txBody>
                    <a:bodyPr wrap="square"/>
                    <a:lstStyle/>
                    <a:p>
                      <a:pPr algn="r"/>
                      <a:r>
                        <a:rPr sz="1000" b="0">
                          <a:solidFill>
                            <a:srgbClr val="333F4F"/>
                          </a:solidFill>
                          <a:latin typeface="Segoe UI"/>
                        </a:rPr>
                        <a:t/>
                      </a:r>
                    </a:p>
                  </a:txBody>
                  <a:tcPr marL="64008" marR="64008" marT="18288" marB="18288" anchor="ctr">
                    <a:solidFill>
                      <a:srgbClr val="F4F7FA"/>
                    </a:solidFill>
                  </a:tcPr>
                </a:tc>
                <a:tc>
                  <a:txBody>
                    <a:bodyPr wrap="square"/>
                    <a:lstStyle/>
                    <a:p>
                      <a:pPr algn="r"/>
                      <a:r>
                        <a:rPr sz="1000" b="0">
                          <a:solidFill>
                            <a:srgbClr val="333F4F"/>
                          </a:solidFill>
                          <a:latin typeface="Segoe UI"/>
                        </a:rPr>
                        <a:t/>
                      </a:r>
                    </a:p>
                  </a:txBody>
                  <a:tcPr marL="64008" marR="64008" marT="18288" marB="18288" anchor="ctr">
                    <a:solidFill>
                      <a:srgbClr val="F4F7FA"/>
                    </a:solidFill>
                  </a:tcPr>
                </a:tc>
                <a:tc>
                  <a:txBody>
                    <a:bodyPr wrap="square"/>
                    <a:lstStyle/>
                    <a:p>
                      <a:pPr algn="ctr"/>
                      <a:r>
                        <a:rPr sz="1000" b="0">
                          <a:solidFill>
                            <a:srgbClr val="333F4F"/>
                          </a:solidFill>
                          <a:latin typeface="Segoe UI"/>
                        </a:rPr>
                        <a:t/>
                      </a:r>
                    </a:p>
                  </a:txBody>
                  <a:tcPr marL="64008" marR="64008" marT="18288" marB="18288" anchor="ctr">
                    <a:solidFill>
                      <a:srgbClr val="F4F7FA"/>
                    </a:solidFill>
                  </a:tcPr>
                </a:tc>
              </a:tr>
            </a:tbl>
          </a:graphicData>
        </a:graphic>
      </p:graphicFrame>
      <p:sp>
        <p:nvSpPr>
          <p:cNvPr id="9" name="Rectangle 8"/>
          <p:cNvSpPr/>
          <p:nvPr/>
        </p:nvSpPr>
        <p:spPr>
          <a:xfrm>
            <a:off x="530352" y="4937760"/>
            <a:ext cx="11130991" cy="1234440"/>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5120640"/>
            <a:ext cx="41148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Lines reconcile to the header</a:t>
            </a:r>
          </a:p>
        </p:txBody>
      </p:sp>
      <p:sp>
        <p:nvSpPr>
          <p:cNvPr id="11" name="TextBox 10"/>
          <p:cNvSpPr txBox="1"/>
          <p:nvPr/>
        </p:nvSpPr>
        <p:spPr>
          <a:xfrm>
            <a:off x="786384" y="5449824"/>
            <a:ext cx="10618927" cy="731520"/>
          </a:xfrm>
          <a:prstGeom prst="rect">
            <a:avLst/>
          </a:prstGeom>
          <a:noFill/>
        </p:spPr>
        <p:txBody>
          <a:bodyPr wrap="square" lIns="0" rIns="0" tIns="0" bIns="0" anchor="t">
            <a:spAutoFit/>
          </a:bodyPr>
          <a:lstStyle/>
          <a:p>
            <a:pPr algn="l">
              <a:lnSpc>
                <a:spcPct val="132000"/>
              </a:lnSpc>
            </a:pPr>
            <a:r>
              <a:rPr sz="950" b="0" i="0">
                <a:solidFill>
                  <a:srgbClr val="333F4F"/>
                </a:solidFill>
                <a:latin typeface="Segoe UI"/>
              </a:rPr>
              <a:t>All five lines carry zero variance, and their sum — $4,560.79 — matches the header subtotal exactly. Because tax, shipping and discount are all</a:t>
            </a:r>
          </a:p>
          <a:p>
            <a:pPr algn="l">
              <a:lnSpc>
                <a:spcPct val="132000"/>
              </a:lnSpc>
            </a:pPr>
            <a:r>
              <a:rPr sz="950" b="0" i="0">
                <a:solidFill>
                  <a:srgbClr val="333F4F"/>
                </a:solidFill>
                <a:latin typeface="Segoe UI"/>
              </a:rPr>
              <a:t>zero or null on this invoice, that same figure is also the document total, so header and line grain agree without any reconciling items. line_number came</a:t>
            </a:r>
          </a:p>
          <a:p>
            <a:pPr algn="l">
              <a:lnSpc>
                <a:spcPct val="132000"/>
              </a:lnSpc>
            </a:pPr>
            <a:r>
              <a:rPr sz="950" b="0" i="0">
                <a:solidFill>
                  <a:srgbClr val="333F4F"/>
                </a:solidFill>
                <a:latin typeface="Segoe UI"/>
              </a:rPr>
              <a:t>straight from the document (source_line_number 1-5), so the derived fallback position was not needed.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B88E1A"/>
                </a:solidFill>
                <a:latin typeface="Segoe UI"/>
              </a:rPr>
              <a:t>STAGE 6  ·  GOLD LAYER PROJECTIONS</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gold_documents  ·  gold_invoices</a:t>
            </a:r>
          </a:p>
        </p:txBody>
      </p:sp>
      <p:sp>
        <p:nvSpPr>
          <p:cNvPr id="4" name="Rectangle 3"/>
          <p:cNvSpPr/>
          <p:nvPr/>
        </p:nvSpPr>
        <p:spPr>
          <a:xfrm>
            <a:off x="530352" y="1088136"/>
            <a:ext cx="1051560" cy="32004"/>
          </a:xfrm>
          <a:prstGeom prst="rect">
            <a:avLst/>
          </a:prstGeom>
          <a:solidFill>
            <a:srgbClr val="B88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10</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92608"/>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gold_documents is silver_documents filtered to validation_status = VALID; this document passes, so it appears unchanged. gold_invoices then reshapes it with invoice-oriented column names.</a:t>
            </a:r>
          </a:p>
        </p:txBody>
      </p:sp>
      <p:sp>
        <p:nvSpPr>
          <p:cNvPr id="8" name="TextBox 7"/>
          <p:cNvSpPr txBox="1"/>
          <p:nvPr/>
        </p:nvSpPr>
        <p:spPr>
          <a:xfrm>
            <a:off x="530352" y="1728216"/>
            <a:ext cx="5382615" cy="237744"/>
          </a:xfrm>
          <a:prstGeom prst="rect">
            <a:avLst/>
          </a:prstGeom>
          <a:noFill/>
        </p:spPr>
        <p:txBody>
          <a:bodyPr wrap="square" lIns="0" rIns="0" tIns="0" bIns="0" anchor="t">
            <a:spAutoFit/>
          </a:bodyPr>
          <a:lstStyle/>
          <a:p>
            <a:pPr algn="l">
              <a:lnSpc>
                <a:spcPct val="100000"/>
              </a:lnSpc>
            </a:pPr>
            <a:r>
              <a:rPr sz="1200" b="1" i="0">
                <a:solidFill>
                  <a:srgbClr val="B88E1A"/>
                </a:solidFill>
                <a:latin typeface="Segoe UI"/>
              </a:rPr>
              <a:t>gold_documents</a:t>
            </a:r>
          </a:p>
        </p:txBody>
      </p:sp>
      <p:sp>
        <p:nvSpPr>
          <p:cNvPr id="9" name="Rectangle 8"/>
          <p:cNvSpPr/>
          <p:nvPr/>
        </p:nvSpPr>
        <p:spPr>
          <a:xfrm>
            <a:off x="530352" y="2020824"/>
            <a:ext cx="5382615" cy="2465222"/>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139696"/>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document_type</a:t>
            </a:r>
          </a:p>
        </p:txBody>
      </p:sp>
      <p:sp>
        <p:nvSpPr>
          <p:cNvPr id="11" name="TextBox 10"/>
          <p:cNvSpPr txBox="1"/>
          <p:nvPr/>
        </p:nvSpPr>
        <p:spPr>
          <a:xfrm>
            <a:off x="3329312" y="2139696"/>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invoice</a:t>
            </a:r>
          </a:p>
        </p:txBody>
      </p:sp>
      <p:sp>
        <p:nvSpPr>
          <p:cNvPr id="12" name="Rectangle 11"/>
          <p:cNvSpPr/>
          <p:nvPr/>
        </p:nvSpPr>
        <p:spPr>
          <a:xfrm>
            <a:off x="621792" y="238384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42956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business_document_number</a:t>
            </a:r>
          </a:p>
        </p:txBody>
      </p:sp>
      <p:sp>
        <p:nvSpPr>
          <p:cNvPr id="14" name="TextBox 13"/>
          <p:cNvSpPr txBox="1"/>
          <p:nvPr/>
        </p:nvSpPr>
        <p:spPr>
          <a:xfrm>
            <a:off x="3329312" y="242956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INV-20250010</a:t>
            </a:r>
          </a:p>
        </p:txBody>
      </p:sp>
      <p:sp>
        <p:nvSpPr>
          <p:cNvPr id="15" name="Rectangle 14"/>
          <p:cNvSpPr/>
          <p:nvPr/>
        </p:nvSpPr>
        <p:spPr>
          <a:xfrm>
            <a:off x="621792" y="267370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719425"/>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invoice_number</a:t>
            </a:r>
          </a:p>
        </p:txBody>
      </p:sp>
      <p:sp>
        <p:nvSpPr>
          <p:cNvPr id="17" name="TextBox 16"/>
          <p:cNvSpPr txBox="1"/>
          <p:nvPr/>
        </p:nvSpPr>
        <p:spPr>
          <a:xfrm>
            <a:off x="3329312" y="2719425"/>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INV-20250010</a:t>
            </a:r>
          </a:p>
        </p:txBody>
      </p:sp>
      <p:sp>
        <p:nvSpPr>
          <p:cNvPr id="18" name="Rectangle 17"/>
          <p:cNvSpPr/>
          <p:nvPr/>
        </p:nvSpPr>
        <p:spPr>
          <a:xfrm>
            <a:off x="621792" y="296357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00929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purchase_order_number</a:t>
            </a:r>
          </a:p>
        </p:txBody>
      </p:sp>
      <p:sp>
        <p:nvSpPr>
          <p:cNvPr id="20" name="TextBox 19"/>
          <p:cNvSpPr txBox="1"/>
          <p:nvPr/>
        </p:nvSpPr>
        <p:spPr>
          <a:xfrm>
            <a:off x="3329312" y="300929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PO-13352</a:t>
            </a:r>
          </a:p>
        </p:txBody>
      </p:sp>
      <p:sp>
        <p:nvSpPr>
          <p:cNvPr id="21" name="Rectangle 20"/>
          <p:cNvSpPr/>
          <p:nvPr/>
        </p:nvSpPr>
        <p:spPr>
          <a:xfrm>
            <a:off x="621792" y="325343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299155"/>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seller_name</a:t>
            </a:r>
          </a:p>
        </p:txBody>
      </p:sp>
      <p:sp>
        <p:nvSpPr>
          <p:cNvPr id="23" name="TextBox 22"/>
          <p:cNvSpPr txBox="1"/>
          <p:nvPr/>
        </p:nvSpPr>
        <p:spPr>
          <a:xfrm>
            <a:off x="3329312" y="3299155"/>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Riverbend Marketing Studio</a:t>
            </a:r>
          </a:p>
        </p:txBody>
      </p:sp>
      <p:sp>
        <p:nvSpPr>
          <p:cNvPr id="24" name="Rectangle 23"/>
          <p:cNvSpPr/>
          <p:nvPr/>
        </p:nvSpPr>
        <p:spPr>
          <a:xfrm>
            <a:off x="621792" y="354330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58902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buyer_name</a:t>
            </a:r>
          </a:p>
        </p:txBody>
      </p:sp>
      <p:sp>
        <p:nvSpPr>
          <p:cNvPr id="26" name="TextBox 25"/>
          <p:cNvSpPr txBox="1"/>
          <p:nvPr/>
        </p:nvSpPr>
        <p:spPr>
          <a:xfrm>
            <a:off x="3329312" y="358902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Keystone Logistics Partners</a:t>
            </a:r>
          </a:p>
        </p:txBody>
      </p:sp>
      <p:sp>
        <p:nvSpPr>
          <p:cNvPr id="27" name="Rectangle 26"/>
          <p:cNvSpPr/>
          <p:nvPr/>
        </p:nvSpPr>
        <p:spPr>
          <a:xfrm>
            <a:off x="621792" y="3833164"/>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878884"/>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total_amount</a:t>
            </a:r>
          </a:p>
        </p:txBody>
      </p:sp>
      <p:sp>
        <p:nvSpPr>
          <p:cNvPr id="29" name="TextBox 28"/>
          <p:cNvSpPr txBox="1"/>
          <p:nvPr/>
        </p:nvSpPr>
        <p:spPr>
          <a:xfrm>
            <a:off x="3329312" y="3878884"/>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$4,560.79</a:t>
            </a:r>
          </a:p>
        </p:txBody>
      </p:sp>
      <p:sp>
        <p:nvSpPr>
          <p:cNvPr id="30" name="Rectangle 29"/>
          <p:cNvSpPr/>
          <p:nvPr/>
        </p:nvSpPr>
        <p:spPr>
          <a:xfrm>
            <a:off x="621792" y="4123029"/>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4168749"/>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validation_status</a:t>
            </a:r>
          </a:p>
        </p:txBody>
      </p:sp>
      <p:sp>
        <p:nvSpPr>
          <p:cNvPr id="32" name="TextBox 31"/>
          <p:cNvSpPr txBox="1"/>
          <p:nvPr/>
        </p:nvSpPr>
        <p:spPr>
          <a:xfrm>
            <a:off x="3329312" y="4168749"/>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VALID</a:t>
            </a:r>
          </a:p>
        </p:txBody>
      </p:sp>
      <p:sp>
        <p:nvSpPr>
          <p:cNvPr id="33" name="TextBox 32"/>
          <p:cNvSpPr txBox="1"/>
          <p:nvPr/>
        </p:nvSpPr>
        <p:spPr>
          <a:xfrm>
            <a:off x="6278727" y="1728216"/>
            <a:ext cx="5382615" cy="237744"/>
          </a:xfrm>
          <a:prstGeom prst="rect">
            <a:avLst/>
          </a:prstGeom>
          <a:noFill/>
        </p:spPr>
        <p:txBody>
          <a:bodyPr wrap="square" lIns="0" rIns="0" tIns="0" bIns="0" anchor="t">
            <a:spAutoFit/>
          </a:bodyPr>
          <a:lstStyle/>
          <a:p>
            <a:pPr algn="l">
              <a:lnSpc>
                <a:spcPct val="100000"/>
              </a:lnSpc>
            </a:pPr>
            <a:r>
              <a:rPr sz="1200" b="1" i="0">
                <a:solidFill>
                  <a:srgbClr val="B88E1A"/>
                </a:solidFill>
                <a:latin typeface="Segoe UI"/>
              </a:rPr>
              <a:t>gold_invoices  (renamed projection)</a:t>
            </a:r>
          </a:p>
        </p:txBody>
      </p:sp>
      <p:sp>
        <p:nvSpPr>
          <p:cNvPr id="34" name="Rectangle 33"/>
          <p:cNvSpPr/>
          <p:nvPr/>
        </p:nvSpPr>
        <p:spPr>
          <a:xfrm>
            <a:off x="6278727" y="2020824"/>
            <a:ext cx="5382615" cy="2465222"/>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6743" y="2139696"/>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invoice_number</a:t>
            </a:r>
          </a:p>
        </p:txBody>
      </p:sp>
      <p:sp>
        <p:nvSpPr>
          <p:cNvPr id="36" name="TextBox 35"/>
          <p:cNvSpPr txBox="1"/>
          <p:nvPr/>
        </p:nvSpPr>
        <p:spPr>
          <a:xfrm>
            <a:off x="9077687" y="2139696"/>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INV-20250010</a:t>
            </a:r>
          </a:p>
        </p:txBody>
      </p:sp>
      <p:sp>
        <p:nvSpPr>
          <p:cNvPr id="37" name="Rectangle 36"/>
          <p:cNvSpPr/>
          <p:nvPr/>
        </p:nvSpPr>
        <p:spPr>
          <a:xfrm>
            <a:off x="6370167" y="238384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6743" y="242956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purchase_order_number</a:t>
            </a:r>
          </a:p>
        </p:txBody>
      </p:sp>
      <p:sp>
        <p:nvSpPr>
          <p:cNvPr id="39" name="TextBox 38"/>
          <p:cNvSpPr txBox="1"/>
          <p:nvPr/>
        </p:nvSpPr>
        <p:spPr>
          <a:xfrm>
            <a:off x="9077687" y="242956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PO-13352</a:t>
            </a:r>
          </a:p>
        </p:txBody>
      </p:sp>
      <p:sp>
        <p:nvSpPr>
          <p:cNvPr id="40" name="Rectangle 39"/>
          <p:cNvSpPr/>
          <p:nvPr/>
        </p:nvSpPr>
        <p:spPr>
          <a:xfrm>
            <a:off x="6370167" y="267370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6743" y="2719425"/>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invoice_date  ← document_date</a:t>
            </a:r>
          </a:p>
        </p:txBody>
      </p:sp>
      <p:sp>
        <p:nvSpPr>
          <p:cNvPr id="42" name="TextBox 41"/>
          <p:cNvSpPr txBox="1"/>
          <p:nvPr/>
        </p:nvSpPr>
        <p:spPr>
          <a:xfrm>
            <a:off x="9077687" y="2719425"/>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2025-01-17</a:t>
            </a:r>
          </a:p>
        </p:txBody>
      </p:sp>
      <p:sp>
        <p:nvSpPr>
          <p:cNvPr id="43" name="Rectangle 42"/>
          <p:cNvSpPr/>
          <p:nvPr/>
        </p:nvSpPr>
        <p:spPr>
          <a:xfrm>
            <a:off x="6370167" y="296357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6743" y="300929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due_date</a:t>
            </a:r>
          </a:p>
        </p:txBody>
      </p:sp>
      <p:sp>
        <p:nvSpPr>
          <p:cNvPr id="45" name="TextBox 44"/>
          <p:cNvSpPr txBox="1"/>
          <p:nvPr/>
        </p:nvSpPr>
        <p:spPr>
          <a:xfrm>
            <a:off x="9077687" y="300929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2025-01-17</a:t>
            </a:r>
          </a:p>
        </p:txBody>
      </p:sp>
      <p:sp>
        <p:nvSpPr>
          <p:cNvPr id="46" name="Rectangle 45"/>
          <p:cNvSpPr/>
          <p:nvPr/>
        </p:nvSpPr>
        <p:spPr>
          <a:xfrm>
            <a:off x="6370167" y="3253435"/>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6743" y="3299155"/>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vendor_name  ← seller_name</a:t>
            </a:r>
          </a:p>
        </p:txBody>
      </p:sp>
      <p:sp>
        <p:nvSpPr>
          <p:cNvPr id="48" name="TextBox 47"/>
          <p:cNvSpPr txBox="1"/>
          <p:nvPr/>
        </p:nvSpPr>
        <p:spPr>
          <a:xfrm>
            <a:off x="9077687" y="3299155"/>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Riverbend Marketing Studio</a:t>
            </a:r>
          </a:p>
        </p:txBody>
      </p:sp>
      <p:sp>
        <p:nvSpPr>
          <p:cNvPr id="49" name="Rectangle 48"/>
          <p:cNvSpPr/>
          <p:nvPr/>
        </p:nvSpPr>
        <p:spPr>
          <a:xfrm>
            <a:off x="6370167" y="3543300"/>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6743" y="3589020"/>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customer_name  ← buyer_name</a:t>
            </a:r>
          </a:p>
        </p:txBody>
      </p:sp>
      <p:sp>
        <p:nvSpPr>
          <p:cNvPr id="51" name="TextBox 50"/>
          <p:cNvSpPr txBox="1"/>
          <p:nvPr/>
        </p:nvSpPr>
        <p:spPr>
          <a:xfrm>
            <a:off x="9077687" y="3589020"/>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Keystone Logistics Partners</a:t>
            </a:r>
          </a:p>
        </p:txBody>
      </p:sp>
      <p:sp>
        <p:nvSpPr>
          <p:cNvPr id="52" name="Rectangle 51"/>
          <p:cNvSpPr/>
          <p:nvPr/>
        </p:nvSpPr>
        <p:spPr>
          <a:xfrm>
            <a:off x="6370167" y="3833164"/>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6743" y="3878884"/>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total_amount</a:t>
            </a:r>
          </a:p>
        </p:txBody>
      </p:sp>
      <p:sp>
        <p:nvSpPr>
          <p:cNvPr id="54" name="TextBox 53"/>
          <p:cNvSpPr txBox="1"/>
          <p:nvPr/>
        </p:nvSpPr>
        <p:spPr>
          <a:xfrm>
            <a:off x="9077687" y="3878884"/>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$4,560.79</a:t>
            </a:r>
          </a:p>
        </p:txBody>
      </p:sp>
      <p:sp>
        <p:nvSpPr>
          <p:cNvPr id="55" name="Rectangle 54"/>
          <p:cNvSpPr/>
          <p:nvPr/>
        </p:nvSpPr>
        <p:spPr>
          <a:xfrm>
            <a:off x="6370167" y="4123029"/>
            <a:ext cx="519973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6743" y="4168749"/>
            <a:ext cx="2616080" cy="235000"/>
          </a:xfrm>
          <a:prstGeom prst="rect">
            <a:avLst/>
          </a:prstGeom>
          <a:noFill/>
        </p:spPr>
        <p:txBody>
          <a:bodyPr wrap="square" lIns="0" rIns="0" tIns="0" bIns="0" anchor="t">
            <a:spAutoFit/>
          </a:bodyPr>
          <a:lstStyle/>
          <a:p>
            <a:pPr algn="l">
              <a:lnSpc>
                <a:spcPct val="100000"/>
              </a:lnSpc>
            </a:pPr>
            <a:r>
              <a:rPr sz="1000" b="0" i="0">
                <a:solidFill>
                  <a:srgbClr val="748293"/>
                </a:solidFill>
                <a:latin typeface="Segoe UI"/>
              </a:rPr>
              <a:t>payment_terms</a:t>
            </a:r>
          </a:p>
        </p:txBody>
      </p:sp>
      <p:sp>
        <p:nvSpPr>
          <p:cNvPr id="57" name="TextBox 56"/>
          <p:cNvSpPr txBox="1"/>
          <p:nvPr/>
        </p:nvSpPr>
        <p:spPr>
          <a:xfrm>
            <a:off x="9077687" y="4168749"/>
            <a:ext cx="2437351" cy="235000"/>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Due on Receipt</a:t>
            </a:r>
          </a:p>
        </p:txBody>
      </p:sp>
      <p:sp>
        <p:nvSpPr>
          <p:cNvPr id="58" name="Rectangle 57"/>
          <p:cNvSpPr/>
          <p:nvPr/>
        </p:nvSpPr>
        <p:spPr>
          <a:xfrm>
            <a:off x="530352" y="5093208"/>
            <a:ext cx="11130991" cy="1078992"/>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6384" y="5276088"/>
            <a:ext cx="73152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gold_purchase_orders and gold_receipts return zero rows — correctly</a:t>
            </a:r>
          </a:p>
        </p:txBody>
      </p:sp>
      <p:sp>
        <p:nvSpPr>
          <p:cNvPr id="60" name="TextBox 59"/>
          <p:cNvSpPr txBox="1"/>
          <p:nvPr/>
        </p:nvSpPr>
        <p:spPr>
          <a:xfrm>
            <a:off x="786384" y="5605272"/>
            <a:ext cx="10618927" cy="502920"/>
          </a:xfrm>
          <a:prstGeom prst="rect">
            <a:avLst/>
          </a:prstGeom>
          <a:noFill/>
        </p:spPr>
        <p:txBody>
          <a:bodyPr wrap="square" lIns="0" rIns="0" tIns="0" bIns="0" anchor="t">
            <a:spAutoFit/>
          </a:bodyPr>
          <a:lstStyle/>
          <a:p>
            <a:pPr algn="l">
              <a:lnSpc>
                <a:spcPct val="132000"/>
              </a:lnSpc>
            </a:pPr>
            <a:r>
              <a:rPr sz="950" b="0" i="0">
                <a:solidFill>
                  <a:srgbClr val="333F4F"/>
                </a:solidFill>
                <a:latin typeface="Segoe UI"/>
              </a:rPr>
              <a:t>Both views filter on document_type, so an invoice is excluded by design. The empty result is evidence the classifier worked, not evidence of a missing row. Of the 12 tables,</a:t>
            </a:r>
          </a:p>
          <a:p>
            <a:pPr algn="l">
              <a:lnSpc>
                <a:spcPct val="132000"/>
              </a:lnSpc>
            </a:pPr>
            <a:r>
              <a:rPr sz="950" b="0" i="0">
                <a:solidFill>
                  <a:srgbClr val="333F4F"/>
                </a:solidFill>
                <a:latin typeface="Segoe UI"/>
              </a:rPr>
              <a:t>these two are the only ones where this document legitimately does not appear.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B88E1A"/>
                </a:solidFill>
                <a:latin typeface="Segoe UI"/>
              </a:rPr>
              <a:t>STAGE 6  ·  GOLD LAYER, CONTINUED</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gold_document_lines  ·  gold_invoice_po_reconciliation</a:t>
            </a:r>
          </a:p>
        </p:txBody>
      </p:sp>
      <p:sp>
        <p:nvSpPr>
          <p:cNvPr id="4" name="Rectangle 3"/>
          <p:cNvSpPr/>
          <p:nvPr/>
        </p:nvSpPr>
        <p:spPr>
          <a:xfrm>
            <a:off x="530352" y="1088136"/>
            <a:ext cx="1051560" cy="32004"/>
          </a:xfrm>
          <a:prstGeom prst="rect">
            <a:avLst/>
          </a:prstGeom>
          <a:solidFill>
            <a:srgbClr val="B88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11</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37744"/>
          </a:xfrm>
          <a:prstGeom prst="rect">
            <a:avLst/>
          </a:prstGeom>
          <a:noFill/>
        </p:spPr>
        <p:txBody>
          <a:bodyPr wrap="square" lIns="0" rIns="0" tIns="0" bIns="0" anchor="t">
            <a:spAutoFit/>
          </a:bodyPr>
          <a:lstStyle/>
          <a:p>
            <a:pPr algn="l">
              <a:lnSpc>
                <a:spcPct val="100000"/>
              </a:lnSpc>
            </a:pPr>
            <a:r>
              <a:rPr sz="1200" b="1" i="0">
                <a:solidFill>
                  <a:srgbClr val="B88E1A"/>
                </a:solidFill>
                <a:latin typeface="Segoe UI"/>
              </a:rPr>
              <a:t>gold_document_lines</a:t>
            </a:r>
          </a:p>
        </p:txBody>
      </p:sp>
      <p:sp>
        <p:nvSpPr>
          <p:cNvPr id="8" name="TextBox 7"/>
          <p:cNvSpPr txBox="1"/>
          <p:nvPr/>
        </p:nvSpPr>
        <p:spPr>
          <a:xfrm>
            <a:off x="530352" y="1545336"/>
            <a:ext cx="11130991" cy="219456"/>
          </a:xfrm>
          <a:prstGeom prst="rect">
            <a:avLst/>
          </a:prstGeom>
          <a:noFill/>
        </p:spPr>
        <p:txBody>
          <a:bodyPr wrap="square" lIns="0" rIns="0" tIns="0" bIns="0" anchor="t">
            <a:spAutoFit/>
          </a:bodyPr>
          <a:lstStyle/>
          <a:p>
            <a:pPr algn="l">
              <a:lnSpc>
                <a:spcPct val="100000"/>
              </a:lnSpc>
            </a:pPr>
            <a:r>
              <a:rPr sz="950" b="0" i="0">
                <a:solidFill>
                  <a:srgbClr val="333F4F"/>
                </a:solidFill>
                <a:latin typeface="Segoe UI"/>
              </a:rPr>
              <a:t>All 5 silver lines survive the inner join against valid documents. The variance and calculated columns are dropped for consumers.</a:t>
            </a:r>
          </a:p>
        </p:txBody>
      </p:sp>
      <p:graphicFrame>
        <p:nvGraphicFramePr>
          <p:cNvPr id="9" name="Table 8"/>
          <p:cNvGraphicFramePr>
            <a:graphicFrameLocks noGrp="1"/>
          </p:cNvGraphicFramePr>
          <p:nvPr/>
        </p:nvGraphicFramePr>
        <p:xfrm>
          <a:off x="530352" y="1856231"/>
          <a:ext cx="11130987" cy="1967784"/>
        </p:xfrm>
        <a:graphic>
          <a:graphicData uri="http://schemas.openxmlformats.org/drawingml/2006/table">
            <a:tbl>
              <a:tblPr firstRow="1">
                <a:tableStyleId>{5C22544A-7EE6-4342-B048-85BDC9FD1C3A}</a:tableStyleId>
              </a:tblPr>
              <a:tblGrid>
                <a:gridCol w="499147"/>
                <a:gridCol w="4592157"/>
                <a:gridCol w="848550"/>
                <a:gridCol w="1497442"/>
                <a:gridCol w="1597272"/>
                <a:gridCol w="1098124"/>
                <a:gridCol w="998295"/>
              </a:tblGrid>
              <a:tr h="358444">
                <a:tc>
                  <a:txBody>
                    <a:bodyPr wrap="square"/>
                    <a:lstStyle/>
                    <a:p>
                      <a:pPr algn="l"/>
                      <a:r>
                        <a:rPr sz="950" b="1">
                          <a:solidFill>
                            <a:srgbClr val="FFFFFF"/>
                          </a:solidFill>
                          <a:latin typeface="Segoe UI"/>
                        </a:rPr>
                        <a:t>#</a:t>
                      </a:r>
                    </a:p>
                  </a:txBody>
                  <a:tcPr marL="64008" marR="64008" marT="18288" marB="18288" anchor="ctr">
                    <a:solidFill>
                      <a:srgbClr val="B88E1A"/>
                    </a:solidFill>
                  </a:tcPr>
                </a:tc>
                <a:tc>
                  <a:txBody>
                    <a:bodyPr wrap="square"/>
                    <a:lstStyle/>
                    <a:p>
                      <a:pPr algn="l"/>
                      <a:r>
                        <a:rPr sz="950" b="1">
                          <a:solidFill>
                            <a:srgbClr val="FFFFFF"/>
                          </a:solidFill>
                          <a:latin typeface="Segoe UI"/>
                        </a:rPr>
                        <a:t>Description</a:t>
                      </a:r>
                    </a:p>
                  </a:txBody>
                  <a:tcPr marL="64008" marR="64008" marT="18288" marB="18288" anchor="ctr">
                    <a:solidFill>
                      <a:srgbClr val="B88E1A"/>
                    </a:solidFill>
                  </a:tcPr>
                </a:tc>
                <a:tc>
                  <a:txBody>
                    <a:bodyPr wrap="square"/>
                    <a:lstStyle/>
                    <a:p>
                      <a:pPr algn="l"/>
                      <a:r>
                        <a:rPr sz="950" b="1">
                          <a:solidFill>
                            <a:srgbClr val="FFFFFF"/>
                          </a:solidFill>
                          <a:latin typeface="Segoe UI"/>
                        </a:rPr>
                        <a:t>Qty</a:t>
                      </a:r>
                    </a:p>
                  </a:txBody>
                  <a:tcPr marL="64008" marR="64008" marT="18288" marB="18288" anchor="ctr">
                    <a:solidFill>
                      <a:srgbClr val="B88E1A"/>
                    </a:solidFill>
                  </a:tcPr>
                </a:tc>
                <a:tc>
                  <a:txBody>
                    <a:bodyPr wrap="square"/>
                    <a:lstStyle/>
                    <a:p>
                      <a:pPr algn="l"/>
                      <a:r>
                        <a:rPr sz="950" b="1">
                          <a:solidFill>
                            <a:srgbClr val="FFFFFF"/>
                          </a:solidFill>
                          <a:latin typeface="Segoe UI"/>
                        </a:rPr>
                        <a:t>Unit price</a:t>
                      </a:r>
                    </a:p>
                  </a:txBody>
                  <a:tcPr marL="64008" marR="64008" marT="18288" marB="18288" anchor="ctr">
                    <a:solidFill>
                      <a:srgbClr val="B88E1A"/>
                    </a:solidFill>
                  </a:tcPr>
                </a:tc>
                <a:tc>
                  <a:txBody>
                    <a:bodyPr wrap="square"/>
                    <a:lstStyle/>
                    <a:p>
                      <a:pPr algn="l"/>
                      <a:r>
                        <a:rPr sz="950" b="1">
                          <a:solidFill>
                            <a:srgbClr val="FFFFFF"/>
                          </a:solidFill>
                          <a:latin typeface="Segoe UI"/>
                        </a:rPr>
                        <a:t>Line amount</a:t>
                      </a:r>
                    </a:p>
                  </a:txBody>
                  <a:tcPr marL="64008" marR="64008" marT="18288" marB="18288" anchor="ctr">
                    <a:solidFill>
                      <a:srgbClr val="B88E1A"/>
                    </a:solidFill>
                  </a:tcPr>
                </a:tc>
                <a:tc>
                  <a:txBody>
                    <a:bodyPr wrap="square"/>
                    <a:lstStyle/>
                    <a:p>
                      <a:pPr algn="l"/>
                      <a:r>
                        <a:rPr sz="950" b="1">
                          <a:solidFill>
                            <a:srgbClr val="FFFFFF"/>
                          </a:solidFill>
                          <a:latin typeface="Segoe UI"/>
                        </a:rPr>
                        <a:t>Currency</a:t>
                      </a:r>
                    </a:p>
                  </a:txBody>
                  <a:tcPr marL="64008" marR="64008" marT="18288" marB="18288" anchor="ctr">
                    <a:solidFill>
                      <a:srgbClr val="B88E1A"/>
                    </a:solidFill>
                  </a:tcPr>
                </a:tc>
                <a:tc>
                  <a:txBody>
                    <a:bodyPr wrap="square"/>
                    <a:lstStyle/>
                    <a:p>
                      <a:pPr algn="l"/>
                      <a:r>
                        <a:rPr sz="950" b="1">
                          <a:solidFill>
                            <a:srgbClr val="FFFFFF"/>
                          </a:solidFill>
                          <a:latin typeface="Segoe UI"/>
                        </a:rPr>
                        <a:t>Status</a:t>
                      </a:r>
                    </a:p>
                  </a:txBody>
                  <a:tcPr marL="64008" marR="64008" marT="18288" marB="18288" anchor="ctr">
                    <a:solidFill>
                      <a:srgbClr val="B88E1A"/>
                    </a:solidFill>
                  </a:tcPr>
                </a:tc>
              </a:tr>
              <a:tr h="321868">
                <a:tc>
                  <a:txBody>
                    <a:bodyPr wrap="square"/>
                    <a:lstStyle/>
                    <a:p>
                      <a:pPr algn="ctr"/>
                      <a:r>
                        <a:rPr sz="1000" b="0">
                          <a:solidFill>
                            <a:srgbClr val="333F4F"/>
                          </a:solidFill>
                          <a:latin typeface="Segoe UI"/>
                        </a:rPr>
                        <a:t>1</a:t>
                      </a:r>
                    </a:p>
                  </a:txBody>
                  <a:tcPr marL="64008" marR="64008" marT="18288" marB="18288" anchor="ctr">
                    <a:solidFill>
                      <a:srgbClr val="FFFFFF"/>
                    </a:solidFill>
                  </a:tcPr>
                </a:tc>
                <a:tc>
                  <a:txBody>
                    <a:bodyPr wrap="square"/>
                    <a:lstStyle/>
                    <a:p>
                      <a:pPr algn="l"/>
                      <a:r>
                        <a:rPr sz="1000" b="0">
                          <a:solidFill>
                            <a:srgbClr val="333F4F"/>
                          </a:solidFill>
                          <a:latin typeface="Segoe UI"/>
                        </a:rPr>
                        <a:t>Creative design (hours)</a:t>
                      </a:r>
                    </a:p>
                  </a:txBody>
                  <a:tcPr marL="64008" marR="64008" marT="18288" marB="18288" anchor="ctr">
                    <a:solidFill>
                      <a:srgbClr val="FFFFFF"/>
                    </a:solidFill>
                  </a:tcPr>
                </a:tc>
                <a:tc>
                  <a:txBody>
                    <a:bodyPr wrap="square"/>
                    <a:lstStyle/>
                    <a:p>
                      <a:pPr algn="r"/>
                      <a:r>
                        <a:rPr sz="1000" b="0">
                          <a:solidFill>
                            <a:srgbClr val="333F4F"/>
                          </a:solidFill>
                          <a:latin typeface="Segoe UI"/>
                        </a:rPr>
                        <a:t>8</a:t>
                      </a:r>
                    </a:p>
                  </a:txBody>
                  <a:tcPr marL="64008" marR="64008" marT="18288" marB="18288" anchor="ctr">
                    <a:solidFill>
                      <a:srgbClr val="FFFFFF"/>
                    </a:solidFill>
                  </a:tcPr>
                </a:tc>
                <a:tc>
                  <a:txBody>
                    <a:bodyPr wrap="square"/>
                    <a:lstStyle/>
                    <a:p>
                      <a:pPr algn="r"/>
                      <a:r>
                        <a:rPr sz="1000" b="0">
                          <a:solidFill>
                            <a:srgbClr val="333F4F"/>
                          </a:solidFill>
                          <a:latin typeface="Segoe UI"/>
                        </a:rPr>
                        <a:t>$93.48</a:t>
                      </a:r>
                    </a:p>
                  </a:txBody>
                  <a:tcPr marL="64008" marR="64008" marT="18288" marB="18288" anchor="ctr">
                    <a:solidFill>
                      <a:srgbClr val="FFFFFF"/>
                    </a:solidFill>
                  </a:tcPr>
                </a:tc>
                <a:tc>
                  <a:txBody>
                    <a:bodyPr wrap="square"/>
                    <a:lstStyle/>
                    <a:p>
                      <a:pPr algn="r"/>
                      <a:r>
                        <a:rPr sz="1000" b="0">
                          <a:solidFill>
                            <a:srgbClr val="333F4F"/>
                          </a:solidFill>
                          <a:latin typeface="Segoe UI"/>
                        </a:rPr>
                        <a:t>$747.84</a:t>
                      </a:r>
                    </a:p>
                  </a:txBody>
                  <a:tcPr marL="64008" marR="64008" marT="18288" marB="18288" anchor="ctr">
                    <a:solidFill>
                      <a:srgbClr val="FFFFFF"/>
                    </a:solidFill>
                  </a:tcPr>
                </a:tc>
                <a:tc>
                  <a:txBody>
                    <a:bodyPr wrap="square"/>
                    <a:lstStyle/>
                    <a:p>
                      <a:pPr algn="ctr"/>
                      <a:r>
                        <a:rPr sz="1000" b="0">
                          <a:solidFill>
                            <a:srgbClr val="333F4F"/>
                          </a:solidFill>
                          <a:latin typeface="Segoe UI"/>
                        </a:rPr>
                        <a:t>USD</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r h="321868">
                <a:tc>
                  <a:txBody>
                    <a:bodyPr wrap="square"/>
                    <a:lstStyle/>
                    <a:p>
                      <a:pPr algn="ctr"/>
                      <a:r>
                        <a:rPr sz="1000" b="0">
                          <a:solidFill>
                            <a:srgbClr val="333F4F"/>
                          </a:solidFill>
                          <a:latin typeface="Segoe UI"/>
                        </a:rPr>
                        <a:t>2</a:t>
                      </a:r>
                    </a:p>
                  </a:txBody>
                  <a:tcPr marL="64008" marR="64008" marT="18288" marB="18288" anchor="ctr">
                    <a:solidFill>
                      <a:srgbClr val="F4F7FA"/>
                    </a:solidFill>
                  </a:tcPr>
                </a:tc>
                <a:tc>
                  <a:txBody>
                    <a:bodyPr wrap="square"/>
                    <a:lstStyle/>
                    <a:p>
                      <a:pPr algn="l"/>
                      <a:r>
                        <a:rPr sz="1000" b="0">
                          <a:solidFill>
                            <a:srgbClr val="333F4F"/>
                          </a:solidFill>
                          <a:latin typeface="Segoe UI"/>
                        </a:rPr>
                        <a:t>Ad spend management (hours)</a:t>
                      </a:r>
                    </a:p>
                  </a:txBody>
                  <a:tcPr marL="64008" marR="64008" marT="18288" marB="18288" anchor="ctr">
                    <a:solidFill>
                      <a:srgbClr val="F4F7FA"/>
                    </a:solidFill>
                  </a:tcPr>
                </a:tc>
                <a:tc>
                  <a:txBody>
                    <a:bodyPr wrap="square"/>
                    <a:lstStyle/>
                    <a:p>
                      <a:pPr algn="r"/>
                      <a:r>
                        <a:rPr sz="1000" b="0">
                          <a:solidFill>
                            <a:srgbClr val="333F4F"/>
                          </a:solidFill>
                          <a:latin typeface="Segoe UI"/>
                        </a:rPr>
                        <a:t>12</a:t>
                      </a:r>
                    </a:p>
                  </a:txBody>
                  <a:tcPr marL="64008" marR="64008" marT="18288" marB="18288" anchor="ctr">
                    <a:solidFill>
                      <a:srgbClr val="F4F7FA"/>
                    </a:solidFill>
                  </a:tcPr>
                </a:tc>
                <a:tc>
                  <a:txBody>
                    <a:bodyPr wrap="square"/>
                    <a:lstStyle/>
                    <a:p>
                      <a:pPr algn="r"/>
                      <a:r>
                        <a:rPr sz="1000" b="0">
                          <a:solidFill>
                            <a:srgbClr val="333F4F"/>
                          </a:solidFill>
                          <a:latin typeface="Segoe UI"/>
                        </a:rPr>
                        <a:t>$78.47</a:t>
                      </a:r>
                    </a:p>
                  </a:txBody>
                  <a:tcPr marL="64008" marR="64008" marT="18288" marB="18288" anchor="ctr">
                    <a:solidFill>
                      <a:srgbClr val="F4F7FA"/>
                    </a:solidFill>
                  </a:tcPr>
                </a:tc>
                <a:tc>
                  <a:txBody>
                    <a:bodyPr wrap="square"/>
                    <a:lstStyle/>
                    <a:p>
                      <a:pPr algn="r"/>
                      <a:r>
                        <a:rPr sz="1000" b="0">
                          <a:solidFill>
                            <a:srgbClr val="333F4F"/>
                          </a:solidFill>
                          <a:latin typeface="Segoe UI"/>
                        </a:rPr>
                        <a:t>$941.64</a:t>
                      </a:r>
                    </a:p>
                  </a:txBody>
                  <a:tcPr marL="64008" marR="64008" marT="18288" marB="18288" anchor="ctr">
                    <a:solidFill>
                      <a:srgbClr val="F4F7FA"/>
                    </a:solidFill>
                  </a:tcPr>
                </a:tc>
                <a:tc>
                  <a:txBody>
                    <a:bodyPr wrap="square"/>
                    <a:lstStyle/>
                    <a:p>
                      <a:pPr algn="ctr"/>
                      <a:r>
                        <a:rPr sz="1000" b="0">
                          <a:solidFill>
                            <a:srgbClr val="333F4F"/>
                          </a:solidFill>
                          <a:latin typeface="Segoe UI"/>
                        </a:rPr>
                        <a:t>USD</a:t>
                      </a:r>
                    </a:p>
                  </a:txBody>
                  <a:tcPr marL="64008" marR="64008" marT="18288" marB="18288" anchor="ctr">
                    <a:solidFill>
                      <a:srgbClr val="F4F7FA"/>
                    </a:solidFill>
                  </a:tcPr>
                </a:tc>
                <a:tc>
                  <a:txBody>
                    <a:bodyPr wrap="square"/>
                    <a:lstStyle/>
                    <a:p>
                      <a:pPr algn="ctr"/>
                      <a:r>
                        <a:rPr sz="1000" b="1">
                          <a:solidFill>
                            <a:srgbClr val="1B8253"/>
                          </a:solidFill>
                          <a:latin typeface="Segoe UI"/>
                        </a:rPr>
                        <a:t>VALID</a:t>
                      </a:r>
                    </a:p>
                  </a:txBody>
                  <a:tcPr marL="64008" marR="64008" marT="18288" marB="18288" anchor="ctr">
                    <a:solidFill>
                      <a:srgbClr val="F4F7FA"/>
                    </a:solidFill>
                  </a:tcPr>
                </a:tc>
              </a:tr>
              <a:tr h="321868">
                <a:tc>
                  <a:txBody>
                    <a:bodyPr wrap="square"/>
                    <a:lstStyle/>
                    <a:p>
                      <a:pPr algn="ctr"/>
                      <a:r>
                        <a:rPr sz="1000" b="0">
                          <a:solidFill>
                            <a:srgbClr val="333F4F"/>
                          </a:solidFill>
                          <a:latin typeface="Segoe UI"/>
                        </a:rPr>
                        <a:t>3</a:t>
                      </a:r>
                    </a:p>
                  </a:txBody>
                  <a:tcPr marL="64008" marR="64008" marT="18288" marB="18288" anchor="ctr">
                    <a:solidFill>
                      <a:srgbClr val="FFFFFF"/>
                    </a:solidFill>
                  </a:tcPr>
                </a:tc>
                <a:tc>
                  <a:txBody>
                    <a:bodyPr wrap="square"/>
                    <a:lstStyle/>
                    <a:p>
                      <a:pPr algn="l"/>
                      <a:r>
                        <a:rPr sz="1000" b="0">
                          <a:solidFill>
                            <a:srgbClr val="333F4F"/>
                          </a:solidFill>
                          <a:latin typeface="Segoe UI"/>
                        </a:rPr>
                        <a:t>Landing page build</a:t>
                      </a:r>
                    </a:p>
                  </a:txBody>
                  <a:tcPr marL="64008" marR="64008" marT="18288" marB="18288" anchor="ctr">
                    <a:solidFill>
                      <a:srgbClr val="FFFFFF"/>
                    </a:solidFill>
                  </a:tcPr>
                </a:tc>
                <a:tc>
                  <a:txBody>
                    <a:bodyPr wrap="square"/>
                    <a:lstStyle/>
                    <a:p>
                      <a:pPr algn="r"/>
                      <a:r>
                        <a:rPr sz="1000" b="0">
                          <a:solidFill>
                            <a:srgbClr val="333F4F"/>
                          </a:solidFill>
                          <a:latin typeface="Segoe UI"/>
                        </a:rPr>
                        <a:t>1</a:t>
                      </a:r>
                    </a:p>
                  </a:txBody>
                  <a:tcPr marL="64008" marR="64008" marT="18288" marB="18288" anchor="ctr">
                    <a:solidFill>
                      <a:srgbClr val="FFFFFF"/>
                    </a:solidFill>
                  </a:tcPr>
                </a:tc>
                <a:tc>
                  <a:txBody>
                    <a:bodyPr wrap="square"/>
                    <a:lstStyle/>
                    <a:p>
                      <a:pPr algn="r"/>
                      <a:r>
                        <a:rPr sz="1000" b="0">
                          <a:solidFill>
                            <a:srgbClr val="333F4F"/>
                          </a:solidFill>
                          <a:latin typeface="Segoe UI"/>
                        </a:rPr>
                        <a:t>$1,159.52</a:t>
                      </a:r>
                    </a:p>
                  </a:txBody>
                  <a:tcPr marL="64008" marR="64008" marT="18288" marB="18288" anchor="ctr">
                    <a:solidFill>
                      <a:srgbClr val="FFFFFF"/>
                    </a:solidFill>
                  </a:tcPr>
                </a:tc>
                <a:tc>
                  <a:txBody>
                    <a:bodyPr wrap="square"/>
                    <a:lstStyle/>
                    <a:p>
                      <a:pPr algn="r"/>
                      <a:r>
                        <a:rPr sz="1000" b="0">
                          <a:solidFill>
                            <a:srgbClr val="333F4F"/>
                          </a:solidFill>
                          <a:latin typeface="Segoe UI"/>
                        </a:rPr>
                        <a:t>$1,159.52</a:t>
                      </a:r>
                    </a:p>
                  </a:txBody>
                  <a:tcPr marL="64008" marR="64008" marT="18288" marB="18288" anchor="ctr">
                    <a:solidFill>
                      <a:srgbClr val="FFFFFF"/>
                    </a:solidFill>
                  </a:tcPr>
                </a:tc>
                <a:tc>
                  <a:txBody>
                    <a:bodyPr wrap="square"/>
                    <a:lstStyle/>
                    <a:p>
                      <a:pPr algn="ctr"/>
                      <a:r>
                        <a:rPr sz="1000" b="0">
                          <a:solidFill>
                            <a:srgbClr val="333F4F"/>
                          </a:solidFill>
                          <a:latin typeface="Segoe UI"/>
                        </a:rPr>
                        <a:t>USD</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r h="321868">
                <a:tc>
                  <a:txBody>
                    <a:bodyPr wrap="square"/>
                    <a:lstStyle/>
                    <a:p>
                      <a:pPr algn="ctr"/>
                      <a:r>
                        <a:rPr sz="1000" b="0">
                          <a:solidFill>
                            <a:srgbClr val="333F4F"/>
                          </a:solidFill>
                          <a:latin typeface="Segoe UI"/>
                        </a:rPr>
                        <a:t>4</a:t>
                      </a:r>
                    </a:p>
                  </a:txBody>
                  <a:tcPr marL="64008" marR="64008" marT="18288" marB="18288" anchor="ctr">
                    <a:solidFill>
                      <a:srgbClr val="F4F7FA"/>
                    </a:solidFill>
                  </a:tcPr>
                </a:tc>
                <a:tc>
                  <a:txBody>
                    <a:bodyPr wrap="square"/>
                    <a:lstStyle/>
                    <a:p>
                      <a:pPr algn="l"/>
                      <a:r>
                        <a:rPr sz="1000" b="0">
                          <a:solidFill>
                            <a:srgbClr val="333F4F"/>
                          </a:solidFill>
                          <a:latin typeface="Segoe UI"/>
                        </a:rPr>
                        <a:t>Performance report</a:t>
                      </a:r>
                    </a:p>
                  </a:txBody>
                  <a:tcPr marL="64008" marR="64008" marT="18288" marB="18288" anchor="ctr">
                    <a:solidFill>
                      <a:srgbClr val="F4F7FA"/>
                    </a:solidFill>
                  </a:tcPr>
                </a:tc>
                <a:tc>
                  <a:txBody>
                    <a:bodyPr wrap="square"/>
                    <a:lstStyle/>
                    <a:p>
                      <a:pPr algn="r"/>
                      <a:r>
                        <a:rPr sz="1000" b="0">
                          <a:solidFill>
                            <a:srgbClr val="333F4F"/>
                          </a:solidFill>
                          <a:latin typeface="Segoe UI"/>
                        </a:rPr>
                        <a:t>1</a:t>
                      </a:r>
                    </a:p>
                  </a:txBody>
                  <a:tcPr marL="64008" marR="64008" marT="18288" marB="18288" anchor="ctr">
                    <a:solidFill>
                      <a:srgbClr val="F4F7FA"/>
                    </a:solidFill>
                  </a:tcPr>
                </a:tc>
                <a:tc>
                  <a:txBody>
                    <a:bodyPr wrap="square"/>
                    <a:lstStyle/>
                    <a:p>
                      <a:pPr algn="r"/>
                      <a:r>
                        <a:rPr sz="1000" b="0">
                          <a:solidFill>
                            <a:srgbClr val="333F4F"/>
                          </a:solidFill>
                          <a:latin typeface="Segoe UI"/>
                        </a:rPr>
                        <a:t>$385.23</a:t>
                      </a:r>
                    </a:p>
                  </a:txBody>
                  <a:tcPr marL="64008" marR="64008" marT="18288" marB="18288" anchor="ctr">
                    <a:solidFill>
                      <a:srgbClr val="F4F7FA"/>
                    </a:solidFill>
                  </a:tcPr>
                </a:tc>
                <a:tc>
                  <a:txBody>
                    <a:bodyPr wrap="square"/>
                    <a:lstStyle/>
                    <a:p>
                      <a:pPr algn="r"/>
                      <a:r>
                        <a:rPr sz="1000" b="0">
                          <a:solidFill>
                            <a:srgbClr val="333F4F"/>
                          </a:solidFill>
                          <a:latin typeface="Segoe UI"/>
                        </a:rPr>
                        <a:t>$385.23</a:t>
                      </a:r>
                    </a:p>
                  </a:txBody>
                  <a:tcPr marL="64008" marR="64008" marT="18288" marB="18288" anchor="ctr">
                    <a:solidFill>
                      <a:srgbClr val="F4F7FA"/>
                    </a:solidFill>
                  </a:tcPr>
                </a:tc>
                <a:tc>
                  <a:txBody>
                    <a:bodyPr wrap="square"/>
                    <a:lstStyle/>
                    <a:p>
                      <a:pPr algn="ctr"/>
                      <a:r>
                        <a:rPr sz="1000" b="0">
                          <a:solidFill>
                            <a:srgbClr val="333F4F"/>
                          </a:solidFill>
                          <a:latin typeface="Segoe UI"/>
                        </a:rPr>
                        <a:t>USD</a:t>
                      </a:r>
                    </a:p>
                  </a:txBody>
                  <a:tcPr marL="64008" marR="64008" marT="18288" marB="18288" anchor="ctr">
                    <a:solidFill>
                      <a:srgbClr val="F4F7FA"/>
                    </a:solidFill>
                  </a:tcPr>
                </a:tc>
                <a:tc>
                  <a:txBody>
                    <a:bodyPr wrap="square"/>
                    <a:lstStyle/>
                    <a:p>
                      <a:pPr algn="ctr"/>
                      <a:r>
                        <a:rPr sz="1000" b="1">
                          <a:solidFill>
                            <a:srgbClr val="1B8253"/>
                          </a:solidFill>
                          <a:latin typeface="Segoe UI"/>
                        </a:rPr>
                        <a:t>VALID</a:t>
                      </a:r>
                    </a:p>
                  </a:txBody>
                  <a:tcPr marL="64008" marR="64008" marT="18288" marB="18288" anchor="ctr">
                    <a:solidFill>
                      <a:srgbClr val="F4F7FA"/>
                    </a:solidFill>
                  </a:tcPr>
                </a:tc>
              </a:tr>
              <a:tr h="321868">
                <a:tc>
                  <a:txBody>
                    <a:bodyPr wrap="square"/>
                    <a:lstStyle/>
                    <a:p>
                      <a:pPr algn="ctr"/>
                      <a:r>
                        <a:rPr sz="1000" b="0">
                          <a:solidFill>
                            <a:srgbClr val="333F4F"/>
                          </a:solidFill>
                          <a:latin typeface="Segoe UI"/>
                        </a:rPr>
                        <a:t>5</a:t>
                      </a:r>
                    </a:p>
                  </a:txBody>
                  <a:tcPr marL="64008" marR="64008" marT="18288" marB="18288" anchor="ctr">
                    <a:solidFill>
                      <a:srgbClr val="FFFFFF"/>
                    </a:solidFill>
                  </a:tcPr>
                </a:tc>
                <a:tc>
                  <a:txBody>
                    <a:bodyPr wrap="square"/>
                    <a:lstStyle/>
                    <a:p>
                      <a:pPr algn="l"/>
                      <a:r>
                        <a:rPr sz="1000" b="0">
                          <a:solidFill>
                            <a:srgbClr val="333F4F"/>
                          </a:solidFill>
                          <a:latin typeface="Segoe UI"/>
                        </a:rPr>
                        <a:t>Campaign setup</a:t>
                      </a:r>
                    </a:p>
                  </a:txBody>
                  <a:tcPr marL="64008" marR="64008" marT="18288" marB="18288" anchor="ctr">
                    <a:solidFill>
                      <a:srgbClr val="FFFFFF"/>
                    </a:solidFill>
                  </a:tcPr>
                </a:tc>
                <a:tc>
                  <a:txBody>
                    <a:bodyPr wrap="square"/>
                    <a:lstStyle/>
                    <a:p>
                      <a:pPr algn="r"/>
                      <a:r>
                        <a:rPr sz="1000" b="0">
                          <a:solidFill>
                            <a:srgbClr val="333F4F"/>
                          </a:solidFill>
                          <a:latin typeface="Segoe UI"/>
                        </a:rPr>
                        <a:t>1</a:t>
                      </a:r>
                    </a:p>
                  </a:txBody>
                  <a:tcPr marL="64008" marR="64008" marT="18288" marB="18288" anchor="ctr">
                    <a:solidFill>
                      <a:srgbClr val="FFFFFF"/>
                    </a:solidFill>
                  </a:tcPr>
                </a:tc>
                <a:tc>
                  <a:txBody>
                    <a:bodyPr wrap="square"/>
                    <a:lstStyle/>
                    <a:p>
                      <a:pPr algn="r"/>
                      <a:r>
                        <a:rPr sz="1000" b="0">
                          <a:solidFill>
                            <a:srgbClr val="333F4F"/>
                          </a:solidFill>
                          <a:latin typeface="Segoe UI"/>
                        </a:rPr>
                        <a:t>$1,326.56</a:t>
                      </a:r>
                    </a:p>
                  </a:txBody>
                  <a:tcPr marL="64008" marR="64008" marT="18288" marB="18288" anchor="ctr">
                    <a:solidFill>
                      <a:srgbClr val="FFFFFF"/>
                    </a:solidFill>
                  </a:tcPr>
                </a:tc>
                <a:tc>
                  <a:txBody>
                    <a:bodyPr wrap="square"/>
                    <a:lstStyle/>
                    <a:p>
                      <a:pPr algn="r"/>
                      <a:r>
                        <a:rPr sz="1000" b="0">
                          <a:solidFill>
                            <a:srgbClr val="333F4F"/>
                          </a:solidFill>
                          <a:latin typeface="Segoe UI"/>
                        </a:rPr>
                        <a:t>$1,326.56</a:t>
                      </a:r>
                    </a:p>
                  </a:txBody>
                  <a:tcPr marL="64008" marR="64008" marT="18288" marB="18288" anchor="ctr">
                    <a:solidFill>
                      <a:srgbClr val="FFFFFF"/>
                    </a:solidFill>
                  </a:tcPr>
                </a:tc>
                <a:tc>
                  <a:txBody>
                    <a:bodyPr wrap="square"/>
                    <a:lstStyle/>
                    <a:p>
                      <a:pPr algn="ctr"/>
                      <a:r>
                        <a:rPr sz="1000" b="0">
                          <a:solidFill>
                            <a:srgbClr val="333F4F"/>
                          </a:solidFill>
                          <a:latin typeface="Segoe UI"/>
                        </a:rPr>
                        <a:t>USD</a:t>
                      </a:r>
                    </a:p>
                  </a:txBody>
                  <a:tcPr marL="64008" marR="64008" marT="18288" marB="18288" anchor="ctr">
                    <a:solidFill>
                      <a:srgbClr val="FFFFFF"/>
                    </a:solidFill>
                  </a:tcPr>
                </a:tc>
                <a:tc>
                  <a:txBody>
                    <a:bodyPr wrap="square"/>
                    <a:lstStyle/>
                    <a:p>
                      <a:pPr algn="ctr"/>
                      <a:r>
                        <a:rPr sz="1000" b="1">
                          <a:solidFill>
                            <a:srgbClr val="1B8253"/>
                          </a:solidFill>
                          <a:latin typeface="Segoe UI"/>
                        </a:rPr>
                        <a:t>VALID</a:t>
                      </a:r>
                    </a:p>
                  </a:txBody>
                  <a:tcPr marL="64008" marR="64008" marT="18288" marB="18288" anchor="ctr">
                    <a:solidFill>
                      <a:srgbClr val="FFFFFF"/>
                    </a:solidFill>
                  </a:tcPr>
                </a:tc>
              </a:tr>
            </a:tbl>
          </a:graphicData>
        </a:graphic>
      </p:graphicFrame>
      <p:sp>
        <p:nvSpPr>
          <p:cNvPr id="10" name="TextBox 9"/>
          <p:cNvSpPr txBox="1"/>
          <p:nvPr/>
        </p:nvSpPr>
        <p:spPr>
          <a:xfrm>
            <a:off x="530352" y="4032504"/>
            <a:ext cx="11130991" cy="237744"/>
          </a:xfrm>
          <a:prstGeom prst="rect">
            <a:avLst/>
          </a:prstGeom>
          <a:noFill/>
        </p:spPr>
        <p:txBody>
          <a:bodyPr wrap="square" lIns="0" rIns="0" tIns="0" bIns="0" anchor="t">
            <a:spAutoFit/>
          </a:bodyPr>
          <a:lstStyle/>
          <a:p>
            <a:pPr algn="l">
              <a:lnSpc>
                <a:spcPct val="100000"/>
              </a:lnSpc>
            </a:pPr>
            <a:r>
              <a:rPr sz="1200" b="1" i="0">
                <a:solidFill>
                  <a:srgbClr val="B88E1A"/>
                </a:solidFill>
                <a:latin typeface="Segoe UI"/>
              </a:rPr>
              <a:t>gold_invoice_po_reconciliation</a:t>
            </a:r>
          </a:p>
        </p:txBody>
      </p:sp>
      <p:sp>
        <p:nvSpPr>
          <p:cNvPr id="11" name="Rectangle 10"/>
          <p:cNvSpPr/>
          <p:nvPr/>
        </p:nvSpPr>
        <p:spPr>
          <a:xfrm>
            <a:off x="530352" y="4343400"/>
            <a:ext cx="5382615" cy="182880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526280"/>
            <a:ext cx="2743200" cy="201168"/>
          </a:xfrm>
          <a:prstGeom prst="rect">
            <a:avLst/>
          </a:prstGeom>
          <a:noFill/>
        </p:spPr>
        <p:txBody>
          <a:bodyPr wrap="square" lIns="0" rIns="0" tIns="0" bIns="0" anchor="t">
            <a:spAutoFit/>
          </a:bodyPr>
          <a:lstStyle/>
          <a:p>
            <a:pPr algn="l">
              <a:lnSpc>
                <a:spcPct val="100000"/>
              </a:lnSpc>
            </a:pPr>
            <a:r>
              <a:rPr sz="1000" b="1" i="0">
                <a:solidFill>
                  <a:srgbClr val="748293"/>
                </a:solidFill>
                <a:latin typeface="Segoe UI"/>
              </a:rPr>
              <a:t>Invoice side</a:t>
            </a:r>
          </a:p>
        </p:txBody>
      </p:sp>
      <p:sp>
        <p:nvSpPr>
          <p:cNvPr id="13" name="TextBox 12"/>
          <p:cNvSpPr txBox="1"/>
          <p:nvPr/>
        </p:nvSpPr>
        <p:spPr>
          <a:xfrm>
            <a:off x="713232" y="4855464"/>
            <a:ext cx="2377440" cy="201168"/>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invoice_number</a:t>
            </a:r>
          </a:p>
        </p:txBody>
      </p:sp>
      <p:sp>
        <p:nvSpPr>
          <p:cNvPr id="14" name="TextBox 13"/>
          <p:cNvSpPr txBox="1"/>
          <p:nvPr/>
        </p:nvSpPr>
        <p:spPr>
          <a:xfrm>
            <a:off x="3136392" y="4855464"/>
            <a:ext cx="2593695" cy="201168"/>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INV-20250010</a:t>
            </a:r>
          </a:p>
        </p:txBody>
      </p:sp>
      <p:sp>
        <p:nvSpPr>
          <p:cNvPr id="15" name="TextBox 14"/>
          <p:cNvSpPr txBox="1"/>
          <p:nvPr/>
        </p:nvSpPr>
        <p:spPr>
          <a:xfrm>
            <a:off x="713232" y="5129784"/>
            <a:ext cx="2377440" cy="201168"/>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invoice_po_number</a:t>
            </a:r>
          </a:p>
        </p:txBody>
      </p:sp>
      <p:sp>
        <p:nvSpPr>
          <p:cNvPr id="16" name="TextBox 15"/>
          <p:cNvSpPr txBox="1"/>
          <p:nvPr/>
        </p:nvSpPr>
        <p:spPr>
          <a:xfrm>
            <a:off x="3136392" y="5129784"/>
            <a:ext cx="2593695" cy="201168"/>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PO-13352</a:t>
            </a:r>
          </a:p>
        </p:txBody>
      </p:sp>
      <p:sp>
        <p:nvSpPr>
          <p:cNvPr id="17" name="TextBox 16"/>
          <p:cNvSpPr txBox="1"/>
          <p:nvPr/>
        </p:nvSpPr>
        <p:spPr>
          <a:xfrm>
            <a:off x="713232" y="5404104"/>
            <a:ext cx="2377440" cy="201168"/>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invoice_vendor_name</a:t>
            </a:r>
          </a:p>
        </p:txBody>
      </p:sp>
      <p:sp>
        <p:nvSpPr>
          <p:cNvPr id="18" name="TextBox 17"/>
          <p:cNvSpPr txBox="1"/>
          <p:nvPr/>
        </p:nvSpPr>
        <p:spPr>
          <a:xfrm>
            <a:off x="3136392" y="5404104"/>
            <a:ext cx="2593695" cy="201168"/>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Riverbend Marketing Studio</a:t>
            </a:r>
          </a:p>
        </p:txBody>
      </p:sp>
      <p:sp>
        <p:nvSpPr>
          <p:cNvPr id="19" name="TextBox 18"/>
          <p:cNvSpPr txBox="1"/>
          <p:nvPr/>
        </p:nvSpPr>
        <p:spPr>
          <a:xfrm>
            <a:off x="713232" y="5678424"/>
            <a:ext cx="2377440" cy="201168"/>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invoice_currency</a:t>
            </a:r>
          </a:p>
        </p:txBody>
      </p:sp>
      <p:sp>
        <p:nvSpPr>
          <p:cNvPr id="20" name="TextBox 19"/>
          <p:cNvSpPr txBox="1"/>
          <p:nvPr/>
        </p:nvSpPr>
        <p:spPr>
          <a:xfrm>
            <a:off x="3136392" y="5678424"/>
            <a:ext cx="2593695" cy="201168"/>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USD</a:t>
            </a:r>
          </a:p>
        </p:txBody>
      </p:sp>
      <p:sp>
        <p:nvSpPr>
          <p:cNvPr id="21" name="TextBox 20"/>
          <p:cNvSpPr txBox="1"/>
          <p:nvPr/>
        </p:nvSpPr>
        <p:spPr>
          <a:xfrm>
            <a:off x="713232" y="5952744"/>
            <a:ext cx="2377440" cy="201168"/>
          </a:xfrm>
          <a:prstGeom prst="rect">
            <a:avLst/>
          </a:prstGeom>
          <a:noFill/>
        </p:spPr>
        <p:txBody>
          <a:bodyPr wrap="square" lIns="0" rIns="0" tIns="0" bIns="0" anchor="t">
            <a:spAutoFit/>
          </a:bodyPr>
          <a:lstStyle/>
          <a:p>
            <a:pPr algn="l">
              <a:lnSpc>
                <a:spcPct val="100000"/>
              </a:lnSpc>
            </a:pPr>
            <a:r>
              <a:rPr sz="950" b="0" i="0">
                <a:solidFill>
                  <a:srgbClr val="748293"/>
                </a:solidFill>
                <a:latin typeface="Segoe UI"/>
              </a:rPr>
              <a:t>invoice_total</a:t>
            </a:r>
          </a:p>
        </p:txBody>
      </p:sp>
      <p:sp>
        <p:nvSpPr>
          <p:cNvPr id="22" name="TextBox 21"/>
          <p:cNvSpPr txBox="1"/>
          <p:nvPr/>
        </p:nvSpPr>
        <p:spPr>
          <a:xfrm>
            <a:off x="3136392" y="5952744"/>
            <a:ext cx="2593695" cy="201168"/>
          </a:xfrm>
          <a:prstGeom prst="rect">
            <a:avLst/>
          </a:prstGeom>
          <a:noFill/>
        </p:spPr>
        <p:txBody>
          <a:bodyPr wrap="square" lIns="0" rIns="0" tIns="0" bIns="0" anchor="t">
            <a:spAutoFit/>
          </a:bodyPr>
          <a:lstStyle/>
          <a:p>
            <a:pPr algn="l">
              <a:lnSpc>
                <a:spcPct val="100000"/>
              </a:lnSpc>
            </a:pPr>
            <a:r>
              <a:rPr sz="1000" b="1" i="0">
                <a:solidFill>
                  <a:srgbClr val="1C2533"/>
                </a:solidFill>
                <a:latin typeface="Segoe UI"/>
              </a:rPr>
              <a:t>$4,560.79</a:t>
            </a:r>
          </a:p>
        </p:txBody>
      </p:sp>
      <p:sp>
        <p:nvSpPr>
          <p:cNvPr id="23" name="Rectangle 22"/>
          <p:cNvSpPr/>
          <p:nvPr/>
        </p:nvSpPr>
        <p:spPr>
          <a:xfrm>
            <a:off x="6278727" y="4343400"/>
            <a:ext cx="5382615" cy="1828800"/>
          </a:xfrm>
          <a:prstGeom prst="rect">
            <a:avLst/>
          </a:prstGeom>
          <a:solidFill>
            <a:srgbClr val="FEF6E8"/>
          </a:solidFill>
          <a:ln w="9525">
            <a:solidFill>
              <a:srgbClr val="F0DA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4343400"/>
            <a:ext cx="45720" cy="1828800"/>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8183" y="4526280"/>
            <a:ext cx="2743200" cy="201168"/>
          </a:xfrm>
          <a:prstGeom prst="rect">
            <a:avLst/>
          </a:prstGeom>
          <a:noFill/>
        </p:spPr>
        <p:txBody>
          <a:bodyPr wrap="square" lIns="0" rIns="0" tIns="0" bIns="0" anchor="t">
            <a:spAutoFit/>
          </a:bodyPr>
          <a:lstStyle/>
          <a:p>
            <a:pPr algn="l">
              <a:lnSpc>
                <a:spcPct val="100000"/>
              </a:lnSpc>
            </a:pPr>
            <a:r>
              <a:rPr sz="1000" b="1" i="0">
                <a:solidFill>
                  <a:srgbClr val="748293"/>
                </a:solidFill>
                <a:latin typeface="Segoe UI"/>
              </a:rPr>
              <a:t>match_status</a:t>
            </a:r>
          </a:p>
        </p:txBody>
      </p:sp>
      <p:sp>
        <p:nvSpPr>
          <p:cNvPr id="26" name="TextBox 25"/>
          <p:cNvSpPr txBox="1"/>
          <p:nvPr/>
        </p:nvSpPr>
        <p:spPr>
          <a:xfrm>
            <a:off x="6498183" y="4782312"/>
            <a:ext cx="3657600" cy="329184"/>
          </a:xfrm>
          <a:prstGeom prst="rect">
            <a:avLst/>
          </a:prstGeom>
          <a:noFill/>
        </p:spPr>
        <p:txBody>
          <a:bodyPr wrap="square" lIns="0" rIns="0" tIns="0" bIns="0" anchor="t">
            <a:spAutoFit/>
          </a:bodyPr>
          <a:lstStyle/>
          <a:p>
            <a:pPr algn="l">
              <a:lnSpc>
                <a:spcPct val="100000"/>
              </a:lnSpc>
            </a:pPr>
            <a:r>
              <a:rPr sz="2000" b="1" i="0">
                <a:solidFill>
                  <a:srgbClr val="C67C08"/>
                </a:solidFill>
                <a:latin typeface="Segoe UI"/>
              </a:rPr>
              <a:t>PO_NOT_FOUND</a:t>
            </a:r>
          </a:p>
        </p:txBody>
      </p:sp>
      <p:sp>
        <p:nvSpPr>
          <p:cNvPr id="27" name="TextBox 26"/>
          <p:cNvSpPr txBox="1"/>
          <p:nvPr/>
        </p:nvSpPr>
        <p:spPr>
          <a:xfrm>
            <a:off x="6498183" y="5239512"/>
            <a:ext cx="4559655" cy="822960"/>
          </a:xfrm>
          <a:prstGeom prst="rect">
            <a:avLst/>
          </a:prstGeom>
          <a:noFill/>
        </p:spPr>
        <p:txBody>
          <a:bodyPr wrap="square" lIns="0" rIns="0" tIns="0" bIns="0" anchor="t">
            <a:spAutoFit/>
          </a:bodyPr>
          <a:lstStyle/>
          <a:p>
            <a:pPr algn="l">
              <a:lnSpc>
                <a:spcPct val="130000"/>
              </a:lnSpc>
            </a:pPr>
            <a:r>
              <a:rPr sz="950" b="0" i="0">
                <a:solidFill>
                  <a:srgbClr val="333F4F"/>
                </a:solidFill>
                <a:latin typeface="Segoe UI"/>
              </a:rPr>
              <a:t>The invoice cites PO-13352, but no row in gold_purchase_orders carries that number, so the left join found nothing and every purchase_order_* column is null.</a:t>
            </a:r>
          </a:p>
          <a:p>
            <a:pPr algn="l">
              <a:lnSpc>
                <a:spcPct val="130000"/>
              </a:lnSpc>
            </a:pPr>
            <a:r>
              <a:rPr sz="950" b="0" i="0">
                <a:solidFill>
                  <a:srgbClr val="333F4F"/>
                </a:solidFill>
                <a:latin typeface="Segoe UI"/>
              </a:rPr>
              <a:t>This is a content gap, not a pipeline fault — the referenced PO has simply never been ingested. The join is a left join, so the invoice is still reported rather than</a:t>
            </a:r>
          </a:p>
          <a:p>
            <a:pPr algn="l">
              <a:lnSpc>
                <a:spcPct val="130000"/>
              </a:lnSpc>
            </a:pPr>
            <a:r>
              <a:rPr sz="950" b="0" i="0">
                <a:solidFill>
                  <a:srgbClr val="333F4F"/>
                </a:solidFill>
                <a:latin typeface="Segoe UI"/>
              </a:rPr>
              <a:t>silently dropped.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B88E1A"/>
                </a:solidFill>
                <a:latin typeface="Segoe UI"/>
              </a:rPr>
              <a:t>STAGE 6  ·  AGGREGATED CONTRIBUTION</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gold_vendor_spend</a:t>
            </a:r>
          </a:p>
        </p:txBody>
      </p:sp>
      <p:sp>
        <p:nvSpPr>
          <p:cNvPr id="4" name="Rectangle 3"/>
          <p:cNvSpPr/>
          <p:nvPr/>
        </p:nvSpPr>
        <p:spPr>
          <a:xfrm>
            <a:off x="530352" y="1088136"/>
            <a:ext cx="1051560" cy="32004"/>
          </a:xfrm>
          <a:prstGeom prst="rect">
            <a:avLst/>
          </a:prstGeom>
          <a:solidFill>
            <a:srgbClr val="B88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12</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74320"/>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This document does not have its own row here — it is aggregated. It contributes entirely to the January 2025 row for its vendor.</a:t>
            </a:r>
          </a:p>
        </p:txBody>
      </p:sp>
      <p:graphicFrame>
        <p:nvGraphicFramePr>
          <p:cNvPr id="8" name="Table 7"/>
          <p:cNvGraphicFramePr>
            <a:graphicFrameLocks noGrp="1"/>
          </p:cNvGraphicFramePr>
          <p:nvPr/>
        </p:nvGraphicFramePr>
        <p:xfrm>
          <a:off x="530352" y="1709928"/>
          <a:ext cx="11130986" cy="1188719"/>
        </p:xfrm>
        <a:graphic>
          <a:graphicData uri="http://schemas.openxmlformats.org/drawingml/2006/table">
            <a:tbl>
              <a:tblPr firstRow="1">
                <a:tableStyleId>{5C22544A-7EE6-4342-B048-85BDC9FD1C3A}</a:tableStyleId>
              </a:tblPr>
              <a:tblGrid>
                <a:gridCol w="1007924"/>
                <a:gridCol w="2366431"/>
                <a:gridCol w="788810"/>
                <a:gridCol w="744987"/>
                <a:gridCol w="569696"/>
                <a:gridCol w="1051747"/>
                <a:gridCol w="788810"/>
                <a:gridCol w="876455"/>
                <a:gridCol w="1095569"/>
                <a:gridCol w="1840557"/>
              </a:tblGrid>
              <a:tr h="420623">
                <a:tc>
                  <a:txBody>
                    <a:bodyPr wrap="square"/>
                    <a:lstStyle/>
                    <a:p>
                      <a:pPr algn="l"/>
                      <a:r>
                        <a:rPr sz="950" b="1">
                          <a:solidFill>
                            <a:srgbClr val="FFFFFF"/>
                          </a:solidFill>
                          <a:latin typeface="Segoe UI"/>
                        </a:rPr>
                        <a:t>spend_month</a:t>
                      </a:r>
                    </a:p>
                  </a:txBody>
                  <a:tcPr marL="64008" marR="64008" marT="18288" marB="18288" anchor="ctr">
                    <a:solidFill>
                      <a:srgbClr val="B88E1A"/>
                    </a:solidFill>
                  </a:tcPr>
                </a:tc>
                <a:tc>
                  <a:txBody>
                    <a:bodyPr wrap="square"/>
                    <a:lstStyle/>
                    <a:p>
                      <a:pPr algn="l"/>
                      <a:r>
                        <a:rPr sz="950" b="1">
                          <a:solidFill>
                            <a:srgbClr val="FFFFFF"/>
                          </a:solidFill>
                          <a:latin typeface="Segoe UI"/>
                        </a:rPr>
                        <a:t>vendor_name</a:t>
                      </a:r>
                    </a:p>
                  </a:txBody>
                  <a:tcPr marL="64008" marR="64008" marT="18288" marB="18288" anchor="ctr">
                    <a:solidFill>
                      <a:srgbClr val="B88E1A"/>
                    </a:solidFill>
                  </a:tcPr>
                </a:tc>
                <a:tc>
                  <a:txBody>
                    <a:bodyPr wrap="square"/>
                    <a:lstStyle/>
                    <a:p>
                      <a:pPr algn="l"/>
                      <a:r>
                        <a:rPr sz="950" b="1">
                          <a:solidFill>
                            <a:srgbClr val="FFFFFF"/>
                          </a:solidFill>
                          <a:latin typeface="Segoe UI"/>
                        </a:rPr>
                        <a:t>Currency</a:t>
                      </a:r>
                    </a:p>
                  </a:txBody>
                  <a:tcPr marL="64008" marR="64008" marT="18288" marB="18288" anchor="ctr">
                    <a:solidFill>
                      <a:srgbClr val="B88E1A"/>
                    </a:solidFill>
                  </a:tcPr>
                </a:tc>
                <a:tc>
                  <a:txBody>
                    <a:bodyPr wrap="square"/>
                    <a:lstStyle/>
                    <a:p>
                      <a:pPr algn="l"/>
                      <a:r>
                        <a:rPr sz="950" b="1">
                          <a:solidFill>
                            <a:srgbClr val="FFFFFF"/>
                          </a:solidFill>
                          <a:latin typeface="Segoe UI"/>
                        </a:rPr>
                        <a:t>Type</a:t>
                      </a:r>
                    </a:p>
                  </a:txBody>
                  <a:tcPr marL="64008" marR="64008" marT="18288" marB="18288" anchor="ctr">
                    <a:solidFill>
                      <a:srgbClr val="B88E1A"/>
                    </a:solidFill>
                  </a:tcPr>
                </a:tc>
                <a:tc>
                  <a:txBody>
                    <a:bodyPr wrap="square"/>
                    <a:lstStyle/>
                    <a:p>
                      <a:pPr algn="l"/>
                      <a:r>
                        <a:rPr sz="950" b="1">
                          <a:solidFill>
                            <a:srgbClr val="FFFFFF"/>
                          </a:solidFill>
                          <a:latin typeface="Segoe UI"/>
                        </a:rPr>
                        <a:t>Docs</a:t>
                      </a:r>
                    </a:p>
                  </a:txBody>
                  <a:tcPr marL="64008" marR="64008" marT="18288" marB="18288" anchor="ctr">
                    <a:solidFill>
                      <a:srgbClr val="B88E1A"/>
                    </a:solidFill>
                  </a:tcPr>
                </a:tc>
                <a:tc>
                  <a:txBody>
                    <a:bodyPr wrap="square"/>
                    <a:lstStyle/>
                    <a:p>
                      <a:pPr algn="l"/>
                      <a:r>
                        <a:rPr sz="950" b="1">
                          <a:solidFill>
                            <a:srgbClr val="FFFFFF"/>
                          </a:solidFill>
                          <a:latin typeface="Segoe UI"/>
                        </a:rPr>
                        <a:t>Subtotal</a:t>
                      </a:r>
                    </a:p>
                  </a:txBody>
                  <a:tcPr marL="64008" marR="64008" marT="18288" marB="18288" anchor="ctr">
                    <a:solidFill>
                      <a:srgbClr val="B88E1A"/>
                    </a:solidFill>
                  </a:tcPr>
                </a:tc>
                <a:tc>
                  <a:txBody>
                    <a:bodyPr wrap="square"/>
                    <a:lstStyle/>
                    <a:p>
                      <a:pPr algn="l"/>
                      <a:r>
                        <a:rPr sz="950" b="1">
                          <a:solidFill>
                            <a:srgbClr val="FFFFFF"/>
                          </a:solidFill>
                          <a:latin typeface="Segoe UI"/>
                        </a:rPr>
                        <a:t>Tax</a:t>
                      </a:r>
                    </a:p>
                  </a:txBody>
                  <a:tcPr marL="64008" marR="64008" marT="18288" marB="18288" anchor="ctr">
                    <a:solidFill>
                      <a:srgbClr val="B88E1A"/>
                    </a:solidFill>
                  </a:tcPr>
                </a:tc>
                <a:tc>
                  <a:txBody>
                    <a:bodyPr wrap="square"/>
                    <a:lstStyle/>
                    <a:p>
                      <a:pPr algn="l"/>
                      <a:r>
                        <a:rPr sz="950" b="1">
                          <a:solidFill>
                            <a:srgbClr val="FFFFFF"/>
                          </a:solidFill>
                          <a:latin typeface="Segoe UI"/>
                        </a:rPr>
                        <a:t>Shipping</a:t>
                      </a:r>
                    </a:p>
                  </a:txBody>
                  <a:tcPr marL="64008" marR="64008" marT="18288" marB="18288" anchor="ctr">
                    <a:solidFill>
                      <a:srgbClr val="B88E1A"/>
                    </a:solidFill>
                  </a:tcPr>
                </a:tc>
                <a:tc>
                  <a:txBody>
                    <a:bodyPr wrap="square"/>
                    <a:lstStyle/>
                    <a:p>
                      <a:pPr algn="l"/>
                      <a:r>
                        <a:rPr sz="950" b="1">
                          <a:solidFill>
                            <a:srgbClr val="FFFFFF"/>
                          </a:solidFill>
                          <a:latin typeface="Segoe UI"/>
                        </a:rPr>
                        <a:t>Total spend</a:t>
                      </a:r>
                    </a:p>
                  </a:txBody>
                  <a:tcPr marL="64008" marR="64008" marT="18288" marB="18288" anchor="ctr">
                    <a:solidFill>
                      <a:srgbClr val="B88E1A"/>
                    </a:solidFill>
                  </a:tcPr>
                </a:tc>
                <a:tc>
                  <a:txBody>
                    <a:bodyPr wrap="square"/>
                    <a:lstStyle/>
                    <a:p>
                      <a:pPr algn="l"/>
                      <a:r>
                        <a:rPr sz="950" b="1">
                          <a:solidFill>
                            <a:srgbClr val="FFFFFF"/>
                          </a:solidFill>
                          <a:latin typeface="Segoe UI"/>
                        </a:rPr>
                        <a:t>Contains this doc?</a:t>
                      </a:r>
                    </a:p>
                  </a:txBody>
                  <a:tcPr marL="64008" marR="64008" marT="18288" marB="18288" anchor="ctr">
                    <a:solidFill>
                      <a:srgbClr val="B88E1A"/>
                    </a:solidFill>
                  </a:tcPr>
                </a:tc>
              </a:tr>
              <a:tr h="384048">
                <a:tc>
                  <a:txBody>
                    <a:bodyPr wrap="square"/>
                    <a:lstStyle/>
                    <a:p>
                      <a:pPr algn="ctr"/>
                      <a:r>
                        <a:rPr sz="950" b="0">
                          <a:solidFill>
                            <a:srgbClr val="333F4F"/>
                          </a:solidFill>
                          <a:latin typeface="Segoe UI"/>
                        </a:rPr>
                        <a:t>2025-01</a:t>
                      </a:r>
                    </a:p>
                  </a:txBody>
                  <a:tcPr marL="64008" marR="64008" marT="18288" marB="18288" anchor="ctr">
                    <a:solidFill>
                      <a:srgbClr val="FFFFFF"/>
                    </a:solidFill>
                  </a:tcPr>
                </a:tc>
                <a:tc>
                  <a:txBody>
                    <a:bodyPr wrap="square"/>
                    <a:lstStyle/>
                    <a:p>
                      <a:pPr algn="l"/>
                      <a:r>
                        <a:rPr sz="950" b="0">
                          <a:solidFill>
                            <a:srgbClr val="333F4F"/>
                          </a:solidFill>
                          <a:latin typeface="Segoe UI"/>
                        </a:rPr>
                        <a:t>Riverbend Marketing Studio</a:t>
                      </a:r>
                    </a:p>
                  </a:txBody>
                  <a:tcPr marL="64008" marR="64008" marT="18288" marB="18288" anchor="ctr">
                    <a:solidFill>
                      <a:srgbClr val="FFFFFF"/>
                    </a:solidFill>
                  </a:tcPr>
                </a:tc>
                <a:tc>
                  <a:txBody>
                    <a:bodyPr wrap="square"/>
                    <a:lstStyle/>
                    <a:p>
                      <a:pPr algn="ctr"/>
                      <a:r>
                        <a:rPr sz="950" b="0">
                          <a:solidFill>
                            <a:srgbClr val="333F4F"/>
                          </a:solidFill>
                          <a:latin typeface="Segoe UI"/>
                        </a:rPr>
                        <a:t>USD</a:t>
                      </a:r>
                    </a:p>
                  </a:txBody>
                  <a:tcPr marL="64008" marR="64008" marT="18288" marB="18288" anchor="ctr">
                    <a:solidFill>
                      <a:srgbClr val="FFFFFF"/>
                    </a:solidFill>
                  </a:tcPr>
                </a:tc>
                <a:tc>
                  <a:txBody>
                    <a:bodyPr wrap="square"/>
                    <a:lstStyle/>
                    <a:p>
                      <a:pPr algn="l"/>
                      <a:r>
                        <a:rPr sz="950" b="0">
                          <a:solidFill>
                            <a:srgbClr val="333F4F"/>
                          </a:solidFill>
                          <a:latin typeface="Segoe UI"/>
                        </a:rPr>
                        <a:t>invoice</a:t>
                      </a:r>
                    </a:p>
                  </a:txBody>
                  <a:tcPr marL="64008" marR="64008" marT="18288" marB="18288" anchor="ctr">
                    <a:solidFill>
                      <a:srgbClr val="FFFFFF"/>
                    </a:solidFill>
                  </a:tcPr>
                </a:tc>
                <a:tc>
                  <a:txBody>
                    <a:bodyPr wrap="square"/>
                    <a:lstStyle/>
                    <a:p>
                      <a:pPr algn="ctr"/>
                      <a:r>
                        <a:rPr sz="950" b="0">
                          <a:solidFill>
                            <a:srgbClr val="333F4F"/>
                          </a:solidFill>
                          <a:latin typeface="Segoe UI"/>
                        </a:rPr>
                        <a:t>1</a:t>
                      </a:r>
                    </a:p>
                  </a:txBody>
                  <a:tcPr marL="64008" marR="64008" marT="18288" marB="18288" anchor="ctr">
                    <a:solidFill>
                      <a:srgbClr val="FFFFFF"/>
                    </a:solidFill>
                  </a:tcPr>
                </a:tc>
                <a:tc>
                  <a:txBody>
                    <a:bodyPr wrap="square"/>
                    <a:lstStyle/>
                    <a:p>
                      <a:pPr algn="r"/>
                      <a:r>
                        <a:rPr sz="950" b="0">
                          <a:solidFill>
                            <a:srgbClr val="333F4F"/>
                          </a:solidFill>
                          <a:latin typeface="Segoe UI"/>
                        </a:rPr>
                        <a:t>$4,560.79</a:t>
                      </a:r>
                    </a:p>
                  </a:txBody>
                  <a:tcPr marL="64008" marR="64008" marT="18288" marB="18288" anchor="ctr">
                    <a:solidFill>
                      <a:srgbClr val="FFFFFF"/>
                    </a:solidFill>
                  </a:tcPr>
                </a:tc>
                <a:tc>
                  <a:txBody>
                    <a:bodyPr wrap="square"/>
                    <a:lstStyle/>
                    <a:p>
                      <a:pPr algn="r"/>
                      <a:r>
                        <a:rPr sz="950" b="0">
                          <a:solidFill>
                            <a:srgbClr val="333F4F"/>
                          </a:solidFill>
                          <a:latin typeface="Segoe UI"/>
                        </a:rPr>
                        <a:t>$0.00</a:t>
                      </a:r>
                    </a:p>
                  </a:txBody>
                  <a:tcPr marL="64008" marR="64008" marT="18288" marB="18288" anchor="ctr">
                    <a:solidFill>
                      <a:srgbClr val="FFFFFF"/>
                    </a:solidFill>
                  </a:tcPr>
                </a:tc>
                <a:tc>
                  <a:txBody>
                    <a:bodyPr wrap="square"/>
                    <a:lstStyle/>
                    <a:p>
                      <a:pPr algn="r"/>
                      <a:r>
                        <a:rPr sz="950" b="0">
                          <a:solidFill>
                            <a:srgbClr val="333F4F"/>
                          </a:solidFill>
                          <a:latin typeface="Segoe UI"/>
                        </a:rPr>
                        <a:t>NULL</a:t>
                      </a:r>
                    </a:p>
                  </a:txBody>
                  <a:tcPr marL="64008" marR="64008" marT="18288" marB="18288" anchor="ctr">
                    <a:solidFill>
                      <a:srgbClr val="FFFFFF"/>
                    </a:solidFill>
                  </a:tcPr>
                </a:tc>
                <a:tc>
                  <a:txBody>
                    <a:bodyPr wrap="square"/>
                    <a:lstStyle/>
                    <a:p>
                      <a:pPr algn="r"/>
                      <a:r>
                        <a:rPr sz="950" b="0">
                          <a:solidFill>
                            <a:srgbClr val="333F4F"/>
                          </a:solidFill>
                          <a:latin typeface="Segoe UI"/>
                        </a:rPr>
                        <a:t>$4,560.79</a:t>
                      </a:r>
                    </a:p>
                  </a:txBody>
                  <a:tcPr marL="64008" marR="64008" marT="18288" marB="18288" anchor="ctr">
                    <a:solidFill>
                      <a:srgbClr val="FFFFFF"/>
                    </a:solidFill>
                  </a:tcPr>
                </a:tc>
                <a:tc>
                  <a:txBody>
                    <a:bodyPr wrap="square"/>
                    <a:lstStyle/>
                    <a:p>
                      <a:pPr algn="l"/>
                      <a:r>
                        <a:rPr sz="950" b="1">
                          <a:solidFill>
                            <a:srgbClr val="1B8253"/>
                          </a:solidFill>
                          <a:latin typeface="Segoe UI"/>
                        </a:rPr>
                        <a:t>YES — this document</a:t>
                      </a:r>
                    </a:p>
                  </a:txBody>
                  <a:tcPr marL="64008" marR="64008" marT="18288" marB="18288" anchor="ctr">
                    <a:solidFill>
                      <a:srgbClr val="FFFFFF"/>
                    </a:solidFill>
                  </a:tcPr>
                </a:tc>
              </a:tr>
              <a:tr h="384048">
                <a:tc>
                  <a:txBody>
                    <a:bodyPr wrap="square"/>
                    <a:lstStyle/>
                    <a:p>
                      <a:pPr algn="ctr"/>
                      <a:r>
                        <a:rPr sz="950" b="0">
                          <a:solidFill>
                            <a:srgbClr val="333F4F"/>
                          </a:solidFill>
                          <a:latin typeface="Segoe UI"/>
                        </a:rPr>
                        <a:t>2025-02</a:t>
                      </a:r>
                    </a:p>
                  </a:txBody>
                  <a:tcPr marL="64008" marR="64008" marT="18288" marB="18288" anchor="ctr">
                    <a:solidFill>
                      <a:srgbClr val="F4F7FA"/>
                    </a:solidFill>
                  </a:tcPr>
                </a:tc>
                <a:tc>
                  <a:txBody>
                    <a:bodyPr wrap="square"/>
                    <a:lstStyle/>
                    <a:p>
                      <a:pPr algn="l"/>
                      <a:r>
                        <a:rPr sz="950" b="0">
                          <a:solidFill>
                            <a:srgbClr val="333F4F"/>
                          </a:solidFill>
                          <a:latin typeface="Segoe UI"/>
                        </a:rPr>
                        <a:t>Riverbend Marketing Studio</a:t>
                      </a:r>
                    </a:p>
                  </a:txBody>
                  <a:tcPr marL="64008" marR="64008" marT="18288" marB="18288" anchor="ctr">
                    <a:solidFill>
                      <a:srgbClr val="F4F7FA"/>
                    </a:solidFill>
                  </a:tcPr>
                </a:tc>
                <a:tc>
                  <a:txBody>
                    <a:bodyPr wrap="square"/>
                    <a:lstStyle/>
                    <a:p>
                      <a:pPr algn="ctr"/>
                      <a:r>
                        <a:rPr sz="950" b="0">
                          <a:solidFill>
                            <a:srgbClr val="333F4F"/>
                          </a:solidFill>
                          <a:latin typeface="Segoe UI"/>
                        </a:rPr>
                        <a:t>USD</a:t>
                      </a:r>
                    </a:p>
                  </a:txBody>
                  <a:tcPr marL="64008" marR="64008" marT="18288" marB="18288" anchor="ctr">
                    <a:solidFill>
                      <a:srgbClr val="F4F7FA"/>
                    </a:solidFill>
                  </a:tcPr>
                </a:tc>
                <a:tc>
                  <a:txBody>
                    <a:bodyPr wrap="square"/>
                    <a:lstStyle/>
                    <a:p>
                      <a:pPr algn="l"/>
                      <a:r>
                        <a:rPr sz="950" b="0">
                          <a:solidFill>
                            <a:srgbClr val="333F4F"/>
                          </a:solidFill>
                          <a:latin typeface="Segoe UI"/>
                        </a:rPr>
                        <a:t>invoice</a:t>
                      </a:r>
                    </a:p>
                  </a:txBody>
                  <a:tcPr marL="64008" marR="64008" marT="18288" marB="18288" anchor="ctr">
                    <a:solidFill>
                      <a:srgbClr val="F4F7FA"/>
                    </a:solidFill>
                  </a:tcPr>
                </a:tc>
                <a:tc>
                  <a:txBody>
                    <a:bodyPr wrap="square"/>
                    <a:lstStyle/>
                    <a:p>
                      <a:pPr algn="ctr"/>
                      <a:r>
                        <a:rPr sz="950" b="0">
                          <a:solidFill>
                            <a:srgbClr val="333F4F"/>
                          </a:solidFill>
                          <a:latin typeface="Segoe UI"/>
                        </a:rPr>
                        <a:t>1</a:t>
                      </a:r>
                    </a:p>
                  </a:txBody>
                  <a:tcPr marL="64008" marR="64008" marT="18288" marB="18288" anchor="ctr">
                    <a:solidFill>
                      <a:srgbClr val="F4F7FA"/>
                    </a:solidFill>
                  </a:tcPr>
                </a:tc>
                <a:tc>
                  <a:txBody>
                    <a:bodyPr wrap="square"/>
                    <a:lstStyle/>
                    <a:p>
                      <a:pPr algn="r"/>
                      <a:r>
                        <a:rPr sz="950" b="0">
                          <a:solidFill>
                            <a:srgbClr val="333F4F"/>
                          </a:solidFill>
                          <a:latin typeface="Segoe UI"/>
                        </a:rPr>
                        <a:t>$2,750.00</a:t>
                      </a:r>
                    </a:p>
                  </a:txBody>
                  <a:tcPr marL="64008" marR="64008" marT="18288" marB="18288" anchor="ctr">
                    <a:solidFill>
                      <a:srgbClr val="F4F7FA"/>
                    </a:solidFill>
                  </a:tcPr>
                </a:tc>
                <a:tc>
                  <a:txBody>
                    <a:bodyPr wrap="square"/>
                    <a:lstStyle/>
                    <a:p>
                      <a:pPr algn="r"/>
                      <a:r>
                        <a:rPr sz="950" b="0">
                          <a:solidFill>
                            <a:srgbClr val="333F4F"/>
                          </a:solidFill>
                          <a:latin typeface="Segoe UI"/>
                        </a:rPr>
                        <a:t>$220.00</a:t>
                      </a:r>
                    </a:p>
                  </a:txBody>
                  <a:tcPr marL="64008" marR="64008" marT="18288" marB="18288" anchor="ctr">
                    <a:solidFill>
                      <a:srgbClr val="F4F7FA"/>
                    </a:solidFill>
                  </a:tcPr>
                </a:tc>
                <a:tc>
                  <a:txBody>
                    <a:bodyPr wrap="square"/>
                    <a:lstStyle/>
                    <a:p>
                      <a:pPr algn="r"/>
                      <a:r>
                        <a:rPr sz="950" b="0">
                          <a:solidFill>
                            <a:srgbClr val="333F4F"/>
                          </a:solidFill>
                          <a:latin typeface="Segoe UI"/>
                        </a:rPr>
                        <a:t>$45.00</a:t>
                      </a:r>
                    </a:p>
                  </a:txBody>
                  <a:tcPr marL="64008" marR="64008" marT="18288" marB="18288" anchor="ctr">
                    <a:solidFill>
                      <a:srgbClr val="F4F7FA"/>
                    </a:solidFill>
                  </a:tcPr>
                </a:tc>
                <a:tc>
                  <a:txBody>
                    <a:bodyPr wrap="square"/>
                    <a:lstStyle/>
                    <a:p>
                      <a:pPr algn="r"/>
                      <a:r>
                        <a:rPr sz="950" b="0">
                          <a:solidFill>
                            <a:srgbClr val="333F4F"/>
                          </a:solidFill>
                          <a:latin typeface="Segoe UI"/>
                        </a:rPr>
                        <a:t>$2,915.00</a:t>
                      </a:r>
                    </a:p>
                  </a:txBody>
                  <a:tcPr marL="64008" marR="64008" marT="18288" marB="18288" anchor="ctr">
                    <a:solidFill>
                      <a:srgbClr val="F4F7FA"/>
                    </a:solidFill>
                  </a:tcPr>
                </a:tc>
                <a:tc>
                  <a:txBody>
                    <a:bodyPr wrap="square"/>
                    <a:lstStyle/>
                    <a:p>
                      <a:pPr algn="l"/>
                      <a:r>
                        <a:rPr sz="950" b="1">
                          <a:solidFill>
                            <a:srgbClr val="748293"/>
                          </a:solidFill>
                          <a:latin typeface="Segoe UI"/>
                        </a:rPr>
                        <a:t>No — different invoice</a:t>
                      </a:r>
                    </a:p>
                  </a:txBody>
                  <a:tcPr marL="64008" marR="64008" marT="18288" marB="18288" anchor="ctr">
                    <a:solidFill>
                      <a:srgbClr val="F4F7FA"/>
                    </a:solidFill>
                  </a:tcPr>
                </a:tc>
              </a:tr>
            </a:tbl>
          </a:graphicData>
        </a:graphic>
      </p:graphicFrame>
      <p:sp>
        <p:nvSpPr>
          <p:cNvPr id="9" name="Rectangle 8"/>
          <p:cNvSpPr/>
          <p:nvPr/>
        </p:nvSpPr>
        <p:spPr>
          <a:xfrm>
            <a:off x="530352" y="3172968"/>
            <a:ext cx="11130991" cy="1417320"/>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337560"/>
            <a:ext cx="36576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Reading the aggregate</a:t>
            </a:r>
          </a:p>
        </p:txBody>
      </p:sp>
      <p:sp>
        <p:nvSpPr>
          <p:cNvPr id="11" name="TextBox 10"/>
          <p:cNvSpPr txBox="1"/>
          <p:nvPr/>
        </p:nvSpPr>
        <p:spPr>
          <a:xfrm>
            <a:off x="786384" y="3666744"/>
            <a:ext cx="10618927" cy="822960"/>
          </a:xfrm>
          <a:prstGeom prst="rect">
            <a:avLst/>
          </a:prstGeom>
          <a:noFill/>
        </p:spPr>
        <p:txBody>
          <a:bodyPr wrap="square" lIns="0" rIns="0" tIns="0" bIns="0" anchor="t">
            <a:spAutoFit/>
          </a:bodyPr>
          <a:lstStyle/>
          <a:p>
            <a:pPr algn="l">
              <a:lnSpc>
                <a:spcPct val="134000"/>
              </a:lnSpc>
            </a:pPr>
            <a:r>
              <a:rPr sz="950" b="0" i="0">
                <a:solidFill>
                  <a:srgbClr val="333F4F"/>
                </a:solidFill>
                <a:latin typeface="Segoe UI"/>
              </a:rPr>
              <a:t>Riverbend Marketing Studio has two monthly rows. The 2025-01 row is this invoice alone: document_count 1, subtotal $4,560.79, tax $0.00 and total_spend $4,560.79</a:t>
            </a:r>
          </a:p>
          <a:p>
            <a:pPr algn="l">
              <a:lnSpc>
                <a:spcPct val="134000"/>
              </a:lnSpc>
            </a:pPr>
            <a:r>
              <a:rPr sz="950" b="0" i="0">
                <a:solidFill>
                  <a:srgbClr val="333F4F"/>
                </a:solidFill>
                <a:latin typeface="Segoe UI"/>
              </a:rPr>
              <a:t>all match the header exactly. The 2025-02 row ($2,915.00) belongs to a different Riverbend invoice and is shown only to make clear which row this document drives.</a:t>
            </a:r>
          </a:p>
          <a:p>
            <a:pPr algn="l">
              <a:lnSpc>
                <a:spcPct val="134000"/>
              </a:lnSpc>
            </a:pPr>
            <a:r>
              <a:rPr sz="950" b="0" i="0">
                <a:solidFill>
                  <a:srgbClr val="333F4F"/>
                </a:solidFill>
                <a:latin typeface="Segoe UI"/>
              </a:rPr>
              <a:t>shipping_amount is null on the January row because SUM over a single null input returns null rather than zero.</a:t>
            </a:r>
          </a:p>
        </p:txBody>
      </p:sp>
      <p:sp>
        <p:nvSpPr>
          <p:cNvPr id="12" name="Rectangle 11"/>
          <p:cNvSpPr/>
          <p:nvPr/>
        </p:nvSpPr>
        <p:spPr>
          <a:xfrm>
            <a:off x="530352" y="4846320"/>
            <a:ext cx="11130991" cy="1325880"/>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5029200"/>
            <a:ext cx="22860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Grain check</a:t>
            </a:r>
          </a:p>
        </p:txBody>
      </p:sp>
      <p:sp>
        <p:nvSpPr>
          <p:cNvPr id="14" name="TextBox 13"/>
          <p:cNvSpPr txBox="1"/>
          <p:nvPr/>
        </p:nvSpPr>
        <p:spPr>
          <a:xfrm>
            <a:off x="786384" y="5358383"/>
            <a:ext cx="10618927" cy="777240"/>
          </a:xfrm>
          <a:prstGeom prst="rect">
            <a:avLst/>
          </a:prstGeom>
          <a:noFill/>
        </p:spPr>
        <p:txBody>
          <a:bodyPr wrap="square" lIns="0" rIns="0" tIns="0" bIns="0" anchor="t">
            <a:spAutoFit/>
          </a:bodyPr>
          <a:lstStyle/>
          <a:p>
            <a:pPr algn="l">
              <a:lnSpc>
                <a:spcPct val="134000"/>
              </a:lnSpc>
            </a:pPr>
            <a:r>
              <a:rPr sz="950" b="0" i="0">
                <a:solidFill>
                  <a:srgbClr val="333F4F"/>
                </a:solidFill>
                <a:latin typeface="Segoe UI"/>
              </a:rPr>
              <a:t>date_trunc('month', document_date) on 2025-01-17 gives 2025-01-01, which is why the invoice lands in January. Since gold_vendor_spend reads only gold_documents,</a:t>
            </a:r>
          </a:p>
          <a:p>
            <a:pPr algn="l">
              <a:lnSpc>
                <a:spcPct val="134000"/>
              </a:lnSpc>
            </a:pPr>
            <a:r>
              <a:rPr sz="950" b="0" i="0">
                <a:solidFill>
                  <a:srgbClr val="333F4F"/>
                </a:solidFill>
                <a:latin typeface="Segoe UI"/>
              </a:rPr>
              <a:t>a document that failed validation would silently vanish from vendor spend — worth remembering when reconciling these numbers against source systems.</a:t>
            </a:r>
          </a:p>
          <a:p>
            <a:pPr algn="l">
              <a:lnSpc>
                <a:spcPct val="134000"/>
              </a:lnSpc>
            </a:pPr>
            <a:r>
              <a:rPr sz="950" b="0" i="0">
                <a:solidFill>
                  <a:srgbClr val="333F4F"/>
                </a:solidFill>
                <a:latin typeface="Segoe UI"/>
              </a:rPr>
              <a:t>The grain here is month × vendor × currency × document_type, so this one invoice can never appear as a row of its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APPENDIX  ·  DOCUMENT → GOLD, FIELD BY FIELD</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Field-level traceability</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13</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56032"/>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Each business field followed from the printed PDF through to its final gold value.</a:t>
            </a:r>
          </a:p>
        </p:txBody>
      </p:sp>
      <p:graphicFrame>
        <p:nvGraphicFramePr>
          <p:cNvPr id="8" name="Table 7"/>
          <p:cNvGraphicFramePr>
            <a:graphicFrameLocks noGrp="1"/>
          </p:cNvGraphicFramePr>
          <p:nvPr/>
        </p:nvGraphicFramePr>
        <p:xfrm>
          <a:off x="530352" y="1673351"/>
          <a:ext cx="11130989" cy="4096506"/>
        </p:xfrm>
        <a:graphic>
          <a:graphicData uri="http://schemas.openxmlformats.org/drawingml/2006/table">
            <a:tbl>
              <a:tblPr firstRow="1">
                <a:tableStyleId>{5C22544A-7EE6-4342-B048-85BDC9FD1C3A}</a:tableStyleId>
              </a:tblPr>
              <a:tblGrid>
                <a:gridCol w="1374196"/>
                <a:gridCol w="2885812"/>
                <a:gridCol w="2152907"/>
                <a:gridCol w="2198714"/>
                <a:gridCol w="2015488"/>
                <a:gridCol w="503872"/>
              </a:tblGrid>
              <a:tr h="307238">
                <a:tc>
                  <a:txBody>
                    <a:bodyPr wrap="square"/>
                    <a:lstStyle/>
                    <a:p>
                      <a:pPr algn="l"/>
                      <a:r>
                        <a:rPr sz="950" b="1">
                          <a:solidFill>
                            <a:srgbClr val="FFFFFF"/>
                          </a:solidFill>
                          <a:latin typeface="Segoe UI"/>
                        </a:rPr>
                        <a:t>Field</a:t>
                      </a:r>
                    </a:p>
                  </a:txBody>
                  <a:tcPr marL="64008" marR="64008" marT="18288" marB="18288" anchor="ctr">
                    <a:solidFill>
                      <a:srgbClr val="0E1B2E"/>
                    </a:solidFill>
                  </a:tcPr>
                </a:tc>
                <a:tc>
                  <a:txBody>
                    <a:bodyPr wrap="square"/>
                    <a:lstStyle/>
                    <a:p>
                      <a:pPr algn="l"/>
                      <a:r>
                        <a:rPr sz="950" b="1">
                          <a:solidFill>
                            <a:srgbClr val="FFFFFF"/>
                          </a:solidFill>
                          <a:latin typeface="Segoe UI"/>
                        </a:rPr>
                        <a:t>On the PDF</a:t>
                      </a:r>
                    </a:p>
                  </a:txBody>
                  <a:tcPr marL="64008" marR="64008" marT="18288" marB="18288" anchor="ctr">
                    <a:solidFill>
                      <a:srgbClr val="0E1B2E"/>
                    </a:solidFill>
                  </a:tcPr>
                </a:tc>
                <a:tc>
                  <a:txBody>
                    <a:bodyPr wrap="square"/>
                    <a:lstStyle/>
                    <a:p>
                      <a:pPr algn="l"/>
                      <a:r>
                        <a:rPr sz="950" b="1">
                          <a:solidFill>
                            <a:srgbClr val="FFFFFF"/>
                          </a:solidFill>
                          <a:latin typeface="Segoe UI"/>
                        </a:rPr>
                        <a:t>ai_extract</a:t>
                      </a:r>
                    </a:p>
                  </a:txBody>
                  <a:tcPr marL="64008" marR="64008" marT="18288" marB="18288" anchor="ctr">
                    <a:solidFill>
                      <a:srgbClr val="0E1B2E"/>
                    </a:solidFill>
                  </a:tcPr>
                </a:tc>
                <a:tc>
                  <a:txBody>
                    <a:bodyPr wrap="square"/>
                    <a:lstStyle/>
                    <a:p>
                      <a:pPr algn="l"/>
                      <a:r>
                        <a:rPr sz="950" b="1">
                          <a:solidFill>
                            <a:srgbClr val="FFFFFF"/>
                          </a:solidFill>
                          <a:latin typeface="Segoe UI"/>
                        </a:rPr>
                        <a:t>silver_documents</a:t>
                      </a:r>
                    </a:p>
                  </a:txBody>
                  <a:tcPr marL="64008" marR="64008" marT="18288" marB="18288" anchor="ctr">
                    <a:solidFill>
                      <a:srgbClr val="0E1B2E"/>
                    </a:solidFill>
                  </a:tcPr>
                </a:tc>
                <a:tc>
                  <a:txBody>
                    <a:bodyPr wrap="square"/>
                    <a:lstStyle/>
                    <a:p>
                      <a:pPr algn="l"/>
                      <a:r>
                        <a:rPr sz="950" b="1">
                          <a:solidFill>
                            <a:srgbClr val="FFFFFF"/>
                          </a:solidFill>
                          <a:latin typeface="Segoe UI"/>
                        </a:rPr>
                        <a:t>gold_invoices</a:t>
                      </a:r>
                    </a:p>
                  </a:txBody>
                  <a:tcPr marL="64008" marR="64008" marT="18288" marB="18288" anchor="ctr">
                    <a:solidFill>
                      <a:srgbClr val="0E1B2E"/>
                    </a:solidFill>
                  </a:tcPr>
                </a:tc>
                <a:tc>
                  <a:txBody>
                    <a:bodyPr wrap="square"/>
                    <a:lstStyle/>
                    <a:p>
                      <a:pPr algn="l"/>
                      <a:r>
                        <a:rPr sz="950" b="1">
                          <a:solidFill>
                            <a:srgbClr val="FFFFFF"/>
                          </a:solidFill>
                          <a:latin typeface="Segoe UI"/>
                        </a:rPr>
                        <a:t>OK</a:t>
                      </a:r>
                    </a:p>
                  </a:txBody>
                  <a:tcPr marL="64008" marR="64008" marT="18288" marB="18288" anchor="ctr">
                    <a:solidFill>
                      <a:srgbClr val="0E1B2E"/>
                    </a:solidFill>
                  </a:tcPr>
                </a:tc>
              </a:tr>
              <a:tr h="270662">
                <a:tc>
                  <a:txBody>
                    <a:bodyPr wrap="square"/>
                    <a:lstStyle/>
                    <a:p>
                      <a:pPr algn="l"/>
                      <a:r>
                        <a:rPr sz="900" b="0">
                          <a:solidFill>
                            <a:srgbClr val="333F4F"/>
                          </a:solidFill>
                          <a:latin typeface="Segoe UI"/>
                        </a:rPr>
                        <a:t>Invoice number</a:t>
                      </a:r>
                    </a:p>
                  </a:txBody>
                  <a:tcPr marL="64008" marR="64008" marT="18288" marB="18288" anchor="ctr">
                    <a:solidFill>
                      <a:srgbClr val="FFFFFF"/>
                    </a:solidFill>
                  </a:tcPr>
                </a:tc>
                <a:tc>
                  <a:txBody>
                    <a:bodyPr wrap="square"/>
                    <a:lstStyle/>
                    <a:p>
                      <a:pPr algn="l"/>
                      <a:r>
                        <a:rPr sz="900" b="0">
                          <a:solidFill>
                            <a:srgbClr val="333F4F"/>
                          </a:solidFill>
                          <a:latin typeface="Segoe UI"/>
                        </a:rPr>
                        <a:t>INV-20250010</a:t>
                      </a:r>
                    </a:p>
                  </a:txBody>
                  <a:tcPr marL="64008" marR="64008" marT="18288" marB="18288" anchor="ctr">
                    <a:solidFill>
                      <a:srgbClr val="FFFFFF"/>
                    </a:solidFill>
                  </a:tcPr>
                </a:tc>
                <a:tc>
                  <a:txBody>
                    <a:bodyPr wrap="square"/>
                    <a:lstStyle/>
                    <a:p>
                      <a:pPr algn="l"/>
                      <a:r>
                        <a:rPr sz="900" b="0">
                          <a:solidFill>
                            <a:srgbClr val="333F4F"/>
                          </a:solidFill>
                          <a:latin typeface="Segoe UI"/>
                        </a:rPr>
                        <a:t>INV-20250010</a:t>
                      </a:r>
                    </a:p>
                  </a:txBody>
                  <a:tcPr marL="64008" marR="64008" marT="18288" marB="18288" anchor="ctr">
                    <a:solidFill>
                      <a:srgbClr val="FFFFFF"/>
                    </a:solidFill>
                  </a:tcPr>
                </a:tc>
                <a:tc>
                  <a:txBody>
                    <a:bodyPr wrap="square"/>
                    <a:lstStyle/>
                    <a:p>
                      <a:pPr algn="l"/>
                      <a:r>
                        <a:rPr sz="900" b="0">
                          <a:solidFill>
                            <a:srgbClr val="333F4F"/>
                          </a:solidFill>
                          <a:latin typeface="Segoe UI"/>
                        </a:rPr>
                        <a:t>INV-20250010</a:t>
                      </a:r>
                    </a:p>
                  </a:txBody>
                  <a:tcPr marL="64008" marR="64008" marT="18288" marB="18288" anchor="ctr">
                    <a:solidFill>
                      <a:srgbClr val="FFFFFF"/>
                    </a:solidFill>
                  </a:tcPr>
                </a:tc>
                <a:tc>
                  <a:txBody>
                    <a:bodyPr wrap="square"/>
                    <a:lstStyle/>
                    <a:p>
                      <a:pPr algn="l"/>
                      <a:r>
                        <a:rPr sz="900" b="0">
                          <a:solidFill>
                            <a:srgbClr val="333F4F"/>
                          </a:solidFill>
                          <a:latin typeface="Segoe UI"/>
                        </a:rPr>
                        <a:t>INV-20250010</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PO number</a:t>
                      </a:r>
                    </a:p>
                  </a:txBody>
                  <a:tcPr marL="64008" marR="64008" marT="18288" marB="18288" anchor="ctr">
                    <a:solidFill>
                      <a:srgbClr val="F4F7FA"/>
                    </a:solidFill>
                  </a:tcPr>
                </a:tc>
                <a:tc>
                  <a:txBody>
                    <a:bodyPr wrap="square"/>
                    <a:lstStyle/>
                    <a:p>
                      <a:pPr algn="l"/>
                      <a:r>
                        <a:rPr sz="900" b="0">
                          <a:solidFill>
                            <a:srgbClr val="333F4F"/>
                          </a:solidFill>
                          <a:latin typeface="Segoe UI"/>
                        </a:rPr>
                        <a:t>PO-13352</a:t>
                      </a:r>
                    </a:p>
                  </a:txBody>
                  <a:tcPr marL="64008" marR="64008" marT="18288" marB="18288" anchor="ctr">
                    <a:solidFill>
                      <a:srgbClr val="F4F7FA"/>
                    </a:solidFill>
                  </a:tcPr>
                </a:tc>
                <a:tc>
                  <a:txBody>
                    <a:bodyPr wrap="square"/>
                    <a:lstStyle/>
                    <a:p>
                      <a:pPr algn="l"/>
                      <a:r>
                        <a:rPr sz="900" b="0">
                          <a:solidFill>
                            <a:srgbClr val="333F4F"/>
                          </a:solidFill>
                          <a:latin typeface="Segoe UI"/>
                        </a:rPr>
                        <a:t>PO-13352</a:t>
                      </a:r>
                    </a:p>
                  </a:txBody>
                  <a:tcPr marL="64008" marR="64008" marT="18288" marB="18288" anchor="ctr">
                    <a:solidFill>
                      <a:srgbClr val="F4F7FA"/>
                    </a:solidFill>
                  </a:tcPr>
                </a:tc>
                <a:tc>
                  <a:txBody>
                    <a:bodyPr wrap="square"/>
                    <a:lstStyle/>
                    <a:p>
                      <a:pPr algn="l"/>
                      <a:r>
                        <a:rPr sz="900" b="0">
                          <a:solidFill>
                            <a:srgbClr val="333F4F"/>
                          </a:solidFill>
                          <a:latin typeface="Segoe UI"/>
                        </a:rPr>
                        <a:t>PO-13352</a:t>
                      </a:r>
                    </a:p>
                  </a:txBody>
                  <a:tcPr marL="64008" marR="64008" marT="18288" marB="18288" anchor="ctr">
                    <a:solidFill>
                      <a:srgbClr val="F4F7FA"/>
                    </a:solidFill>
                  </a:tcPr>
                </a:tc>
                <a:tc>
                  <a:txBody>
                    <a:bodyPr wrap="square"/>
                    <a:lstStyle/>
                    <a:p>
                      <a:pPr algn="l"/>
                      <a:r>
                        <a:rPr sz="900" b="0">
                          <a:solidFill>
                            <a:srgbClr val="333F4F"/>
                          </a:solidFill>
                          <a:latin typeface="Segoe UI"/>
                        </a:rPr>
                        <a:t>PO-13352</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Invoice date</a:t>
                      </a:r>
                    </a:p>
                  </a:txBody>
                  <a:tcPr marL="64008" marR="64008" marT="18288" marB="18288" anchor="ctr">
                    <a:solidFill>
                      <a:srgbClr val="FFFFFF"/>
                    </a:solidFill>
                  </a:tcPr>
                </a:tc>
                <a:tc>
                  <a:txBody>
                    <a:bodyPr wrap="square"/>
                    <a:lstStyle/>
                    <a:p>
                      <a:pPr algn="l"/>
                      <a:r>
                        <a:rPr sz="900" b="0">
                          <a:solidFill>
                            <a:srgbClr val="333F4F"/>
                          </a:solidFill>
                          <a:latin typeface="Segoe UI"/>
                        </a:rPr>
                        <a:t>2025-01-17</a:t>
                      </a:r>
                    </a:p>
                  </a:txBody>
                  <a:tcPr marL="64008" marR="64008" marT="18288" marB="18288" anchor="ctr">
                    <a:solidFill>
                      <a:srgbClr val="FFFFFF"/>
                    </a:solidFill>
                  </a:tcPr>
                </a:tc>
                <a:tc>
                  <a:txBody>
                    <a:bodyPr wrap="square"/>
                    <a:lstStyle/>
                    <a:p>
                      <a:pPr algn="l"/>
                      <a:r>
                        <a:rPr sz="900" b="0">
                          <a:solidFill>
                            <a:srgbClr val="333F4F"/>
                          </a:solidFill>
                          <a:latin typeface="Segoe UI"/>
                        </a:rPr>
                        <a:t>2025-01-17</a:t>
                      </a:r>
                    </a:p>
                  </a:txBody>
                  <a:tcPr marL="64008" marR="64008" marT="18288" marB="18288" anchor="ctr">
                    <a:solidFill>
                      <a:srgbClr val="FFFFFF"/>
                    </a:solidFill>
                  </a:tcPr>
                </a:tc>
                <a:tc>
                  <a:txBody>
                    <a:bodyPr wrap="square"/>
                    <a:lstStyle/>
                    <a:p>
                      <a:pPr algn="l"/>
                      <a:r>
                        <a:rPr sz="900" b="0">
                          <a:solidFill>
                            <a:srgbClr val="333F4F"/>
                          </a:solidFill>
                          <a:latin typeface="Segoe UI"/>
                        </a:rPr>
                        <a:t>2025-01-17 (DATE)</a:t>
                      </a:r>
                    </a:p>
                  </a:txBody>
                  <a:tcPr marL="64008" marR="64008" marT="18288" marB="18288" anchor="ctr">
                    <a:solidFill>
                      <a:srgbClr val="FFFFFF"/>
                    </a:solidFill>
                  </a:tcPr>
                </a:tc>
                <a:tc>
                  <a:txBody>
                    <a:bodyPr wrap="square"/>
                    <a:lstStyle/>
                    <a:p>
                      <a:pPr algn="l"/>
                      <a:r>
                        <a:rPr sz="900" b="0">
                          <a:solidFill>
                            <a:srgbClr val="333F4F"/>
                          </a:solidFill>
                          <a:latin typeface="Segoe UI"/>
                        </a:rPr>
                        <a:t>2025-01-17</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Due date</a:t>
                      </a:r>
                    </a:p>
                  </a:txBody>
                  <a:tcPr marL="64008" marR="64008" marT="18288" marB="18288" anchor="ctr">
                    <a:solidFill>
                      <a:srgbClr val="F4F7FA"/>
                    </a:solidFill>
                  </a:tcPr>
                </a:tc>
                <a:tc>
                  <a:txBody>
                    <a:bodyPr wrap="square"/>
                    <a:lstStyle/>
                    <a:p>
                      <a:pPr algn="l"/>
                      <a:r>
                        <a:rPr sz="900" b="0">
                          <a:solidFill>
                            <a:srgbClr val="333F4F"/>
                          </a:solidFill>
                          <a:latin typeface="Segoe UI"/>
                        </a:rPr>
                        <a:t>2025-01-17</a:t>
                      </a:r>
                    </a:p>
                  </a:txBody>
                  <a:tcPr marL="64008" marR="64008" marT="18288" marB="18288" anchor="ctr">
                    <a:solidFill>
                      <a:srgbClr val="F4F7FA"/>
                    </a:solidFill>
                  </a:tcPr>
                </a:tc>
                <a:tc>
                  <a:txBody>
                    <a:bodyPr wrap="square"/>
                    <a:lstStyle/>
                    <a:p>
                      <a:pPr algn="l"/>
                      <a:r>
                        <a:rPr sz="900" b="0">
                          <a:solidFill>
                            <a:srgbClr val="333F4F"/>
                          </a:solidFill>
                          <a:latin typeface="Segoe UI"/>
                        </a:rPr>
                        <a:t>2025-01-17</a:t>
                      </a:r>
                    </a:p>
                  </a:txBody>
                  <a:tcPr marL="64008" marR="64008" marT="18288" marB="18288" anchor="ctr">
                    <a:solidFill>
                      <a:srgbClr val="F4F7FA"/>
                    </a:solidFill>
                  </a:tcPr>
                </a:tc>
                <a:tc>
                  <a:txBody>
                    <a:bodyPr wrap="square"/>
                    <a:lstStyle/>
                    <a:p>
                      <a:pPr algn="l"/>
                      <a:r>
                        <a:rPr sz="900" b="0">
                          <a:solidFill>
                            <a:srgbClr val="333F4F"/>
                          </a:solidFill>
                          <a:latin typeface="Segoe UI"/>
                        </a:rPr>
                        <a:t>2025-01-17 (DATE)</a:t>
                      </a:r>
                    </a:p>
                  </a:txBody>
                  <a:tcPr marL="64008" marR="64008" marT="18288" marB="18288" anchor="ctr">
                    <a:solidFill>
                      <a:srgbClr val="F4F7FA"/>
                    </a:solidFill>
                  </a:tcPr>
                </a:tc>
                <a:tc>
                  <a:txBody>
                    <a:bodyPr wrap="square"/>
                    <a:lstStyle/>
                    <a:p>
                      <a:pPr algn="l"/>
                      <a:r>
                        <a:rPr sz="900" b="0">
                          <a:solidFill>
                            <a:srgbClr val="333F4F"/>
                          </a:solidFill>
                          <a:latin typeface="Segoe UI"/>
                        </a:rPr>
                        <a:t>2025-01-17</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Terms</a:t>
                      </a:r>
                    </a:p>
                  </a:txBody>
                  <a:tcPr marL="64008" marR="64008" marT="18288" marB="18288" anchor="ctr">
                    <a:solidFill>
                      <a:srgbClr val="FFFFFF"/>
                    </a:solidFill>
                  </a:tcPr>
                </a:tc>
                <a:tc>
                  <a:txBody>
                    <a:bodyPr wrap="square"/>
                    <a:lstStyle/>
                    <a:p>
                      <a:pPr algn="l"/>
                      <a:r>
                        <a:rPr sz="900" b="0">
                          <a:solidFill>
                            <a:srgbClr val="333F4F"/>
                          </a:solidFill>
                          <a:latin typeface="Segoe UI"/>
                        </a:rPr>
                        <a:t>Due on Receipt</a:t>
                      </a:r>
                    </a:p>
                  </a:txBody>
                  <a:tcPr marL="64008" marR="64008" marT="18288" marB="18288" anchor="ctr">
                    <a:solidFill>
                      <a:srgbClr val="FFFFFF"/>
                    </a:solidFill>
                  </a:tcPr>
                </a:tc>
                <a:tc>
                  <a:txBody>
                    <a:bodyPr wrap="square"/>
                    <a:lstStyle/>
                    <a:p>
                      <a:pPr algn="l"/>
                      <a:r>
                        <a:rPr sz="900" b="0">
                          <a:solidFill>
                            <a:srgbClr val="333F4F"/>
                          </a:solidFill>
                          <a:latin typeface="Segoe UI"/>
                        </a:rPr>
                        <a:t>Due on Receipt</a:t>
                      </a:r>
                    </a:p>
                  </a:txBody>
                  <a:tcPr marL="64008" marR="64008" marT="18288" marB="18288" anchor="ctr">
                    <a:solidFill>
                      <a:srgbClr val="FFFFFF"/>
                    </a:solidFill>
                  </a:tcPr>
                </a:tc>
                <a:tc>
                  <a:txBody>
                    <a:bodyPr wrap="square"/>
                    <a:lstStyle/>
                    <a:p>
                      <a:pPr algn="l"/>
                      <a:r>
                        <a:rPr sz="900" b="0">
                          <a:solidFill>
                            <a:srgbClr val="333F4F"/>
                          </a:solidFill>
                          <a:latin typeface="Segoe UI"/>
                        </a:rPr>
                        <a:t>Due on Receipt</a:t>
                      </a:r>
                    </a:p>
                  </a:txBody>
                  <a:tcPr marL="64008" marR="64008" marT="18288" marB="18288" anchor="ctr">
                    <a:solidFill>
                      <a:srgbClr val="FFFFFF"/>
                    </a:solidFill>
                  </a:tcPr>
                </a:tc>
                <a:tc>
                  <a:txBody>
                    <a:bodyPr wrap="square"/>
                    <a:lstStyle/>
                    <a:p>
                      <a:pPr algn="l"/>
                      <a:r>
                        <a:rPr sz="900" b="0">
                          <a:solidFill>
                            <a:srgbClr val="333F4F"/>
                          </a:solidFill>
                          <a:latin typeface="Segoe UI"/>
                        </a:rPr>
                        <a:t>Due on Receipt</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Currency</a:t>
                      </a:r>
                    </a:p>
                  </a:txBody>
                  <a:tcPr marL="64008" marR="64008" marT="18288" marB="18288" anchor="ctr">
                    <a:solidFill>
                      <a:srgbClr val="F4F7FA"/>
                    </a:solidFill>
                  </a:tcPr>
                </a:tc>
                <a:tc>
                  <a:txBody>
                    <a:bodyPr wrap="square"/>
                    <a:lstStyle/>
                    <a:p>
                      <a:pPr algn="l"/>
                      <a:r>
                        <a:rPr sz="900" b="0">
                          <a:solidFill>
                            <a:srgbClr val="333F4F"/>
                          </a:solidFill>
                          <a:latin typeface="Segoe UI"/>
                        </a:rPr>
                        <a:t>USD</a:t>
                      </a:r>
                    </a:p>
                  </a:txBody>
                  <a:tcPr marL="64008" marR="64008" marT="18288" marB="18288" anchor="ctr">
                    <a:solidFill>
                      <a:srgbClr val="F4F7FA"/>
                    </a:solidFill>
                  </a:tcPr>
                </a:tc>
                <a:tc>
                  <a:txBody>
                    <a:bodyPr wrap="square"/>
                    <a:lstStyle/>
                    <a:p>
                      <a:pPr algn="l"/>
                      <a:r>
                        <a:rPr sz="900" b="0">
                          <a:solidFill>
                            <a:srgbClr val="333F4F"/>
                          </a:solidFill>
                          <a:latin typeface="Segoe UI"/>
                        </a:rPr>
                        <a:t>USD</a:t>
                      </a:r>
                    </a:p>
                  </a:txBody>
                  <a:tcPr marL="64008" marR="64008" marT="18288" marB="18288" anchor="ctr">
                    <a:solidFill>
                      <a:srgbClr val="F4F7FA"/>
                    </a:solidFill>
                  </a:tcPr>
                </a:tc>
                <a:tc>
                  <a:txBody>
                    <a:bodyPr wrap="square"/>
                    <a:lstStyle/>
                    <a:p>
                      <a:pPr algn="l"/>
                      <a:r>
                        <a:rPr sz="900" b="0">
                          <a:solidFill>
                            <a:srgbClr val="333F4F"/>
                          </a:solidFill>
                          <a:latin typeface="Segoe UI"/>
                        </a:rPr>
                        <a:t>USD</a:t>
                      </a:r>
                    </a:p>
                  </a:txBody>
                  <a:tcPr marL="64008" marR="64008" marT="18288" marB="18288" anchor="ctr">
                    <a:solidFill>
                      <a:srgbClr val="F4F7FA"/>
                    </a:solidFill>
                  </a:tcPr>
                </a:tc>
                <a:tc>
                  <a:txBody>
                    <a:bodyPr wrap="square"/>
                    <a:lstStyle/>
                    <a:p>
                      <a:pPr algn="l"/>
                      <a:r>
                        <a:rPr sz="900" b="0">
                          <a:solidFill>
                            <a:srgbClr val="333F4F"/>
                          </a:solidFill>
                          <a:latin typeface="Segoe UI"/>
                        </a:rPr>
                        <a:t>USD</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Payment method</a:t>
                      </a:r>
                    </a:p>
                  </a:txBody>
                  <a:tcPr marL="64008" marR="64008" marT="18288" marB="18288" anchor="ctr">
                    <a:solidFill>
                      <a:srgbClr val="FFFFFF"/>
                    </a:solidFill>
                  </a:tcPr>
                </a:tc>
                <a:tc>
                  <a:txBody>
                    <a:bodyPr wrap="square"/>
                    <a:lstStyle/>
                    <a:p>
                      <a:pPr algn="l"/>
                      <a:r>
                        <a:rPr sz="900" b="0">
                          <a:solidFill>
                            <a:srgbClr val="333F4F"/>
                          </a:solidFill>
                          <a:latin typeface="Segoe UI"/>
                        </a:rPr>
                        <a:t>Wire Transfer</a:t>
                      </a:r>
                    </a:p>
                  </a:txBody>
                  <a:tcPr marL="64008" marR="64008" marT="18288" marB="18288" anchor="ctr">
                    <a:solidFill>
                      <a:srgbClr val="FFFFFF"/>
                    </a:solidFill>
                  </a:tcPr>
                </a:tc>
                <a:tc>
                  <a:txBody>
                    <a:bodyPr wrap="square"/>
                    <a:lstStyle/>
                    <a:p>
                      <a:pPr algn="l"/>
                      <a:r>
                        <a:rPr sz="900" b="0">
                          <a:solidFill>
                            <a:srgbClr val="333F4F"/>
                          </a:solidFill>
                          <a:latin typeface="Segoe UI"/>
                        </a:rPr>
                        <a:t>Wire Transfer</a:t>
                      </a:r>
                    </a:p>
                  </a:txBody>
                  <a:tcPr marL="64008" marR="64008" marT="18288" marB="18288" anchor="ctr">
                    <a:solidFill>
                      <a:srgbClr val="FFFFFF"/>
                    </a:solidFill>
                  </a:tcPr>
                </a:tc>
                <a:tc>
                  <a:txBody>
                    <a:bodyPr wrap="square"/>
                    <a:lstStyle/>
                    <a:p>
                      <a:pPr algn="l"/>
                      <a:r>
                        <a:rPr sz="900" b="0">
                          <a:solidFill>
                            <a:srgbClr val="333F4F"/>
                          </a:solidFill>
                          <a:latin typeface="Segoe UI"/>
                        </a:rPr>
                        <a:t>Wire Transfer</a:t>
                      </a:r>
                    </a:p>
                  </a:txBody>
                  <a:tcPr marL="64008" marR="64008" marT="18288" marB="18288" anchor="ctr">
                    <a:solidFill>
                      <a:srgbClr val="FFFFFF"/>
                    </a:solidFill>
                  </a:tcPr>
                </a:tc>
                <a:tc>
                  <a:txBody>
                    <a:bodyPr wrap="square"/>
                    <a:lstStyle/>
                    <a:p>
                      <a:pPr algn="l"/>
                      <a:r>
                        <a:rPr sz="900" b="0">
                          <a:solidFill>
                            <a:srgbClr val="333F4F"/>
                          </a:solidFill>
                          <a:latin typeface="Segoe UI"/>
                        </a:rPr>
                        <a:t>(not projected)</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Seller</a:t>
                      </a:r>
                    </a:p>
                  </a:txBody>
                  <a:tcPr marL="64008" marR="64008" marT="18288" marB="18288" anchor="ctr">
                    <a:solidFill>
                      <a:srgbClr val="F4F7FA"/>
                    </a:solidFill>
                  </a:tcPr>
                </a:tc>
                <a:tc>
                  <a:txBody>
                    <a:bodyPr wrap="square"/>
                    <a:lstStyle/>
                    <a:p>
                      <a:pPr algn="l"/>
                      <a:r>
                        <a:rPr sz="900" b="0">
                          <a:solidFill>
                            <a:srgbClr val="333F4F"/>
                          </a:solidFill>
                          <a:latin typeface="Segoe UI"/>
                        </a:rPr>
                        <a:t>Riverbend Marketing Studio</a:t>
                      </a:r>
                    </a:p>
                  </a:txBody>
                  <a:tcPr marL="64008" marR="64008" marT="18288" marB="18288" anchor="ctr">
                    <a:solidFill>
                      <a:srgbClr val="F4F7FA"/>
                    </a:solidFill>
                  </a:tcPr>
                </a:tc>
                <a:tc>
                  <a:txBody>
                    <a:bodyPr wrap="square"/>
                    <a:lstStyle/>
                    <a:p>
                      <a:pPr algn="l"/>
                      <a:r>
                        <a:rPr sz="900" b="0">
                          <a:solidFill>
                            <a:srgbClr val="333F4F"/>
                          </a:solidFill>
                          <a:latin typeface="Segoe UI"/>
                        </a:rPr>
                        <a:t>Riverbend Marketing Studio</a:t>
                      </a:r>
                    </a:p>
                  </a:txBody>
                  <a:tcPr marL="64008" marR="64008" marT="18288" marB="18288" anchor="ctr">
                    <a:solidFill>
                      <a:srgbClr val="F4F7FA"/>
                    </a:solidFill>
                  </a:tcPr>
                </a:tc>
                <a:tc>
                  <a:txBody>
                    <a:bodyPr wrap="square"/>
                    <a:lstStyle/>
                    <a:p>
                      <a:pPr algn="l"/>
                      <a:r>
                        <a:rPr sz="900" b="0">
                          <a:solidFill>
                            <a:srgbClr val="333F4F"/>
                          </a:solidFill>
                          <a:latin typeface="Segoe UI"/>
                        </a:rPr>
                        <a:t>Riverbend Marketing Studio</a:t>
                      </a:r>
                    </a:p>
                  </a:txBody>
                  <a:tcPr marL="64008" marR="64008" marT="18288" marB="18288" anchor="ctr">
                    <a:solidFill>
                      <a:srgbClr val="F4F7FA"/>
                    </a:solidFill>
                  </a:tcPr>
                </a:tc>
                <a:tc>
                  <a:txBody>
                    <a:bodyPr wrap="square"/>
                    <a:lstStyle/>
                    <a:p>
                      <a:pPr algn="l"/>
                      <a:r>
                        <a:rPr sz="900" b="0">
                          <a:solidFill>
                            <a:srgbClr val="333F4F"/>
                          </a:solidFill>
                          <a:latin typeface="Segoe UI"/>
                        </a:rPr>
                        <a:t>vendor_name (same)</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Buyer</a:t>
                      </a:r>
                    </a:p>
                  </a:txBody>
                  <a:tcPr marL="64008" marR="64008" marT="18288" marB="18288" anchor="ctr">
                    <a:solidFill>
                      <a:srgbClr val="FFFFFF"/>
                    </a:solidFill>
                  </a:tcPr>
                </a:tc>
                <a:tc>
                  <a:txBody>
                    <a:bodyPr wrap="square"/>
                    <a:lstStyle/>
                    <a:p>
                      <a:pPr algn="l"/>
                      <a:r>
                        <a:rPr sz="900" b="0">
                          <a:solidFill>
                            <a:srgbClr val="333F4F"/>
                          </a:solidFill>
                          <a:latin typeface="Segoe UI"/>
                        </a:rPr>
                        <a:t>Keystone Logistics Partners</a:t>
                      </a:r>
                    </a:p>
                  </a:txBody>
                  <a:tcPr marL="64008" marR="64008" marT="18288" marB="18288" anchor="ctr">
                    <a:solidFill>
                      <a:srgbClr val="FFFFFF"/>
                    </a:solidFill>
                  </a:tcPr>
                </a:tc>
                <a:tc>
                  <a:txBody>
                    <a:bodyPr wrap="square"/>
                    <a:lstStyle/>
                    <a:p>
                      <a:pPr algn="l"/>
                      <a:r>
                        <a:rPr sz="900" b="0">
                          <a:solidFill>
                            <a:srgbClr val="333F4F"/>
                          </a:solidFill>
                          <a:latin typeface="Segoe UI"/>
                        </a:rPr>
                        <a:t>Keystone Logistics Partners</a:t>
                      </a:r>
                    </a:p>
                  </a:txBody>
                  <a:tcPr marL="64008" marR="64008" marT="18288" marB="18288" anchor="ctr">
                    <a:solidFill>
                      <a:srgbClr val="FFFFFF"/>
                    </a:solidFill>
                  </a:tcPr>
                </a:tc>
                <a:tc>
                  <a:txBody>
                    <a:bodyPr wrap="square"/>
                    <a:lstStyle/>
                    <a:p>
                      <a:pPr algn="l"/>
                      <a:r>
                        <a:rPr sz="900" b="0">
                          <a:solidFill>
                            <a:srgbClr val="333F4F"/>
                          </a:solidFill>
                          <a:latin typeface="Segoe UI"/>
                        </a:rPr>
                        <a:t>Keystone Logistics Partners</a:t>
                      </a:r>
                    </a:p>
                  </a:txBody>
                  <a:tcPr marL="64008" marR="64008" marT="18288" marB="18288" anchor="ctr">
                    <a:solidFill>
                      <a:srgbClr val="FFFFFF"/>
                    </a:solidFill>
                  </a:tcPr>
                </a:tc>
                <a:tc>
                  <a:txBody>
                    <a:bodyPr wrap="square"/>
                    <a:lstStyle/>
                    <a:p>
                      <a:pPr algn="l"/>
                      <a:r>
                        <a:rPr sz="900" b="0">
                          <a:solidFill>
                            <a:srgbClr val="333F4F"/>
                          </a:solidFill>
                          <a:latin typeface="Segoe UI"/>
                        </a:rPr>
                        <a:t>customer_name (same)</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Bill to</a:t>
                      </a:r>
                    </a:p>
                  </a:txBody>
                  <a:tcPr marL="64008" marR="64008" marT="18288" marB="18288" anchor="ctr">
                    <a:solidFill>
                      <a:srgbClr val="F4F7FA"/>
                    </a:solidFill>
                  </a:tcPr>
                </a:tc>
                <a:tc>
                  <a:txBody>
                    <a:bodyPr wrap="square"/>
                    <a:lstStyle/>
                    <a:p>
                      <a:pPr algn="l"/>
                      <a:r>
                        <a:rPr sz="900" b="0">
                          <a:solidFill>
                            <a:srgbClr val="333F4F"/>
                          </a:solidFill>
                          <a:latin typeface="Segoe UI"/>
                        </a:rPr>
                        <a:t>Keystone…, 3400 River Rd, Harrisburg PA 17110</a:t>
                      </a:r>
                    </a:p>
                  </a:txBody>
                  <a:tcPr marL="64008" marR="64008" marT="18288" marB="18288" anchor="ctr">
                    <a:solidFill>
                      <a:srgbClr val="F4F7FA"/>
                    </a:solidFill>
                  </a:tcPr>
                </a:tc>
                <a:tc>
                  <a:txBody>
                    <a:bodyPr wrap="square"/>
                    <a:lstStyle/>
                    <a:p>
                      <a:pPr algn="l"/>
                      <a:r>
                        <a:rPr sz="900" b="0">
                          <a:solidFill>
                            <a:srgbClr val="333F4F"/>
                          </a:solidFill>
                          <a:latin typeface="Segoe UI"/>
                        </a:rPr>
                        <a:t>Keystone…, 3400 River Rd</a:t>
                      </a:r>
                    </a:p>
                  </a:txBody>
                  <a:tcPr marL="64008" marR="64008" marT="18288" marB="18288" anchor="ctr">
                    <a:solidFill>
                      <a:srgbClr val="F4F7FA"/>
                    </a:solidFill>
                  </a:tcPr>
                </a:tc>
                <a:tc>
                  <a:txBody>
                    <a:bodyPr wrap="square"/>
                    <a:lstStyle/>
                    <a:p>
                      <a:pPr algn="l"/>
                      <a:r>
                        <a:rPr sz="900" b="0">
                          <a:solidFill>
                            <a:srgbClr val="333F4F"/>
                          </a:solidFill>
                          <a:latin typeface="Segoe UI"/>
                        </a:rPr>
                        <a:t>Keystone…, 3400 River Rd</a:t>
                      </a:r>
                    </a:p>
                  </a:txBody>
                  <a:tcPr marL="64008" marR="64008" marT="18288" marB="18288" anchor="ctr">
                    <a:solidFill>
                      <a:srgbClr val="F4F7FA"/>
                    </a:solidFill>
                  </a:tcPr>
                </a:tc>
                <a:tc>
                  <a:txBody>
                    <a:bodyPr wrap="square"/>
                    <a:lstStyle/>
                    <a:p>
                      <a:pPr algn="l"/>
                      <a:r>
                        <a:rPr sz="900" b="0">
                          <a:solidFill>
                            <a:srgbClr val="333F4F"/>
                          </a:solidFill>
                          <a:latin typeface="Segoe UI"/>
                        </a:rPr>
                        <a:t>(not projected)</a:t>
                      </a:r>
                    </a:p>
                  </a:txBody>
                  <a:tcPr marL="64008" marR="64008" marT="18288" marB="18288" anchor="ctr">
                    <a:solidFill>
                      <a:srgbClr val="F4F7FA"/>
                    </a:solidFill>
                  </a:tcPr>
                </a:tc>
                <a:tc>
                  <a:txBody>
                    <a:bodyPr wrap="square"/>
                    <a:lstStyle/>
                    <a:p>
                      <a:pPr algn="ctr"/>
                      <a:r>
                        <a:rPr sz="900" b="1">
                          <a:solidFill>
                            <a:srgbClr val="B8382C"/>
                          </a:solidFill>
                          <a:latin typeface="Segoe UI"/>
                        </a:rPr>
                        <a:t>N</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Ship to</a:t>
                      </a:r>
                    </a:p>
                  </a:txBody>
                  <a:tcPr marL="64008" marR="64008" marT="18288" marB="18288" anchor="ctr">
                    <a:solidFill>
                      <a:srgbClr val="FFFFFF"/>
                    </a:solidFill>
                  </a:tcPr>
                </a:tc>
                <a:tc>
                  <a:txBody>
                    <a:bodyPr wrap="square"/>
                    <a:lstStyle/>
                    <a:p>
                      <a:pPr algn="l"/>
                      <a:r>
                        <a:rPr sz="900" b="0">
                          <a:solidFill>
                            <a:srgbClr val="333F4F"/>
                          </a:solidFill>
                          <a:latin typeface="Segoe UI"/>
                        </a:rPr>
                        <a:t>same as bill to</a:t>
                      </a:r>
                    </a:p>
                  </a:txBody>
                  <a:tcPr marL="64008" marR="64008" marT="18288" marB="18288" anchor="ctr">
                    <a:solidFill>
                      <a:srgbClr val="FFFFFF"/>
                    </a:solidFill>
                  </a:tcPr>
                </a:tc>
                <a:tc>
                  <a:txBody>
                    <a:bodyPr wrap="square"/>
                    <a:lstStyle/>
                    <a:p>
                      <a:pPr algn="l"/>
                      <a:r>
                        <a:rPr sz="900" b="0">
                          <a:solidFill>
                            <a:srgbClr val="333F4F"/>
                          </a:solidFill>
                          <a:latin typeface="Segoe UI"/>
                        </a:rPr>
                        <a:t>Harrisburg, PA 17110</a:t>
                      </a:r>
                    </a:p>
                  </a:txBody>
                  <a:tcPr marL="64008" marR="64008" marT="18288" marB="18288" anchor="ctr">
                    <a:solidFill>
                      <a:srgbClr val="FFFFFF"/>
                    </a:solidFill>
                  </a:tcPr>
                </a:tc>
                <a:tc>
                  <a:txBody>
                    <a:bodyPr wrap="square"/>
                    <a:lstStyle/>
                    <a:p>
                      <a:pPr algn="l"/>
                      <a:r>
                        <a:rPr sz="900" b="0">
                          <a:solidFill>
                            <a:srgbClr val="333F4F"/>
                          </a:solidFill>
                          <a:latin typeface="Segoe UI"/>
                        </a:rPr>
                        <a:t>Harrisburg, PA 17110</a:t>
                      </a:r>
                    </a:p>
                  </a:txBody>
                  <a:tcPr marL="64008" marR="64008" marT="18288" marB="18288" anchor="ctr">
                    <a:solidFill>
                      <a:srgbClr val="FFFFFF"/>
                    </a:solidFill>
                  </a:tcPr>
                </a:tc>
                <a:tc>
                  <a:txBody>
                    <a:bodyPr wrap="square"/>
                    <a:lstStyle/>
                    <a:p>
                      <a:pPr algn="l"/>
                      <a:r>
                        <a:rPr sz="900" b="0">
                          <a:solidFill>
                            <a:srgbClr val="333F4F"/>
                          </a:solidFill>
                          <a:latin typeface="Segoe UI"/>
                        </a:rPr>
                        <a:t>(not projected)</a:t>
                      </a:r>
                    </a:p>
                  </a:txBody>
                  <a:tcPr marL="64008" marR="64008" marT="18288" marB="18288" anchor="ctr">
                    <a:solidFill>
                      <a:srgbClr val="FFFFFF"/>
                    </a:solidFill>
                  </a:tcPr>
                </a:tc>
                <a:tc>
                  <a:txBody>
                    <a:bodyPr wrap="square"/>
                    <a:lstStyle/>
                    <a:p>
                      <a:pPr algn="ctr"/>
                      <a:r>
                        <a:rPr sz="900" b="1">
                          <a:solidFill>
                            <a:srgbClr val="B8382C"/>
                          </a:solidFill>
                          <a:latin typeface="Segoe UI"/>
                        </a:rPr>
                        <a:t>N</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Subtotal</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r h="270662">
                <a:tc>
                  <a:txBody>
                    <a:bodyPr wrap="square"/>
                    <a:lstStyle/>
                    <a:p>
                      <a:pPr algn="l"/>
                      <a:r>
                        <a:rPr sz="900" b="0">
                          <a:solidFill>
                            <a:srgbClr val="333F4F"/>
                          </a:solidFill>
                          <a:latin typeface="Segoe UI"/>
                        </a:rPr>
                        <a:t>Tax</a:t>
                      </a:r>
                    </a:p>
                  </a:txBody>
                  <a:tcPr marL="64008" marR="64008" marT="18288" marB="18288" anchor="ctr">
                    <a:solidFill>
                      <a:srgbClr val="FFFFFF"/>
                    </a:solidFill>
                  </a:tcPr>
                </a:tc>
                <a:tc>
                  <a:txBody>
                    <a:bodyPr wrap="square"/>
                    <a:lstStyle/>
                    <a:p>
                      <a:pPr algn="l"/>
                      <a:r>
                        <a:rPr sz="900" b="0">
                          <a:solidFill>
                            <a:srgbClr val="333F4F"/>
                          </a:solidFill>
                          <a:latin typeface="Segoe UI"/>
                        </a:rPr>
                        <a:t>$0.00</a:t>
                      </a:r>
                    </a:p>
                  </a:txBody>
                  <a:tcPr marL="64008" marR="64008" marT="18288" marB="18288" anchor="ctr">
                    <a:solidFill>
                      <a:srgbClr val="FFFFFF"/>
                    </a:solidFill>
                  </a:tcPr>
                </a:tc>
                <a:tc>
                  <a:txBody>
                    <a:bodyPr wrap="square"/>
                    <a:lstStyle/>
                    <a:p>
                      <a:pPr algn="l"/>
                      <a:r>
                        <a:rPr sz="900" b="0">
                          <a:solidFill>
                            <a:srgbClr val="333F4F"/>
                          </a:solidFill>
                          <a:latin typeface="Segoe UI"/>
                        </a:rPr>
                        <a:t>0</a:t>
                      </a:r>
                    </a:p>
                  </a:txBody>
                  <a:tcPr marL="64008" marR="64008" marT="18288" marB="18288" anchor="ctr">
                    <a:solidFill>
                      <a:srgbClr val="FFFFFF"/>
                    </a:solidFill>
                  </a:tcPr>
                </a:tc>
                <a:tc>
                  <a:txBody>
                    <a:bodyPr wrap="square"/>
                    <a:lstStyle/>
                    <a:p>
                      <a:pPr algn="l"/>
                      <a:r>
                        <a:rPr sz="900" b="0">
                          <a:solidFill>
                            <a:srgbClr val="333F4F"/>
                          </a:solidFill>
                          <a:latin typeface="Segoe UI"/>
                        </a:rPr>
                        <a:t>0.00</a:t>
                      </a:r>
                    </a:p>
                  </a:txBody>
                  <a:tcPr marL="64008" marR="64008" marT="18288" marB="18288" anchor="ctr">
                    <a:solidFill>
                      <a:srgbClr val="FFFFFF"/>
                    </a:solidFill>
                  </a:tcPr>
                </a:tc>
                <a:tc>
                  <a:txBody>
                    <a:bodyPr wrap="square"/>
                    <a:lstStyle/>
                    <a:p>
                      <a:pPr algn="l"/>
                      <a:r>
                        <a:rPr sz="900" b="0">
                          <a:solidFill>
                            <a:srgbClr val="333F4F"/>
                          </a:solidFill>
                          <a:latin typeface="Segoe UI"/>
                        </a:rPr>
                        <a:t>0.00</a:t>
                      </a:r>
                    </a:p>
                  </a:txBody>
                  <a:tcPr marL="64008" marR="64008" marT="18288" marB="18288" anchor="ctr">
                    <a:solidFill>
                      <a:srgbClr val="FFFFFF"/>
                    </a:solidFill>
                  </a:tcPr>
                </a:tc>
                <a:tc>
                  <a:txBody>
                    <a:bodyPr wrap="square"/>
                    <a:lstStyle/>
                    <a:p>
                      <a:pPr algn="ctr"/>
                      <a:r>
                        <a:rPr sz="900" b="1">
                          <a:solidFill>
                            <a:srgbClr val="1B8253"/>
                          </a:solidFill>
                          <a:latin typeface="Segoe UI"/>
                        </a:rPr>
                        <a:t>Y</a:t>
                      </a:r>
                    </a:p>
                  </a:txBody>
                  <a:tcPr marL="64008" marR="64008" marT="18288" marB="18288" anchor="ctr">
                    <a:solidFill>
                      <a:srgbClr val="FFFFFF"/>
                    </a:solidFill>
                  </a:tcPr>
                </a:tc>
              </a:tr>
              <a:tr h="270662">
                <a:tc>
                  <a:txBody>
                    <a:bodyPr wrap="square"/>
                    <a:lstStyle/>
                    <a:p>
                      <a:pPr algn="l"/>
                      <a:r>
                        <a:rPr sz="900" b="0">
                          <a:solidFill>
                            <a:srgbClr val="333F4F"/>
                          </a:solidFill>
                          <a:latin typeface="Segoe UI"/>
                        </a:rPr>
                        <a:t>Total</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l"/>
                      <a:r>
                        <a:rPr sz="900" b="0">
                          <a:solidFill>
                            <a:srgbClr val="333F4F"/>
                          </a:solidFill>
                          <a:latin typeface="Segoe UI"/>
                        </a:rPr>
                        <a:t>4560.79</a:t>
                      </a:r>
                    </a:p>
                  </a:txBody>
                  <a:tcPr marL="64008" marR="64008" marT="18288" marB="18288" anchor="ctr">
                    <a:solidFill>
                      <a:srgbClr val="F4F7FA"/>
                    </a:solidFill>
                  </a:tcPr>
                </a:tc>
                <a:tc>
                  <a:txBody>
                    <a:bodyPr wrap="square"/>
                    <a:lstStyle/>
                    <a:p>
                      <a:pPr algn="ctr"/>
                      <a:r>
                        <a:rPr sz="900" b="1">
                          <a:solidFill>
                            <a:srgbClr val="1B8253"/>
                          </a:solidFill>
                          <a:latin typeface="Segoe UI"/>
                        </a:rPr>
                        <a:t>Y</a:t>
                      </a:r>
                    </a:p>
                  </a:txBody>
                  <a:tcPr marL="64008" marR="64008" marT="18288" marB="18288" anchor="ctr">
                    <a:solidFill>
                      <a:srgbClr val="F4F7FA"/>
                    </a:solidFill>
                  </a:tcPr>
                </a:tc>
              </a:tr>
            </a:tbl>
          </a:graphicData>
        </a:graphic>
      </p:graphicFrame>
      <p:sp>
        <p:nvSpPr>
          <p:cNvPr id="9" name="TextBox 8"/>
          <p:cNvSpPr txBox="1"/>
          <p:nvPr/>
        </p:nvSpPr>
        <p:spPr>
          <a:xfrm>
            <a:off x="530352" y="5788152"/>
            <a:ext cx="11130991" cy="274320"/>
          </a:xfrm>
          <a:prstGeom prst="rect">
            <a:avLst/>
          </a:prstGeom>
          <a:noFill/>
        </p:spPr>
        <p:txBody>
          <a:bodyPr wrap="square" lIns="0" rIns="0" tIns="0" bIns="0" anchor="t">
            <a:spAutoFit/>
          </a:bodyPr>
          <a:lstStyle/>
          <a:p>
            <a:pPr algn="l">
              <a:lnSpc>
                <a:spcPct val="100000"/>
              </a:lnSpc>
            </a:pPr>
            <a:r>
              <a:rPr sz="950" b="0" i="1">
                <a:solidFill>
                  <a:srgbClr val="748293"/>
                </a:solidFill>
                <a:latin typeface="Segoe UI"/>
              </a:rPr>
              <a:t>12 of 14 fields are faithful end to end. The two address fields are the single defect, and both trace back to the parse-stage table split.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CONCLUSION</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Findings and recommendations</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14</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Rectangle 6"/>
          <p:cNvSpPr/>
          <p:nvPr/>
        </p:nvSpPr>
        <p:spPr>
          <a:xfrm>
            <a:off x="530352" y="1380744"/>
            <a:ext cx="11130991" cy="1335024"/>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380744"/>
            <a:ext cx="45720" cy="1335024"/>
          </a:xfrm>
          <a:prstGeom prst="rect">
            <a:avLst/>
          </a:prstGeom>
          <a:solidFill>
            <a:srgbClr val="B83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49808" y="1563624"/>
            <a:ext cx="292608" cy="292608"/>
          </a:xfrm>
          <a:prstGeom prst="roundRect">
            <a:avLst>
              <a:gd name="adj" fmla="val 16000"/>
            </a:avLst>
          </a:prstGeom>
          <a:solidFill>
            <a:srgbClr val="B838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FFFFFF"/>
                </a:solidFill>
                <a:latin typeface="Segoe UI"/>
              </a:rPr>
              <a:t>1</a:t>
            </a:r>
          </a:p>
        </p:txBody>
      </p:sp>
      <p:sp>
        <p:nvSpPr>
          <p:cNvPr id="10" name="TextBox 9"/>
          <p:cNvSpPr txBox="1"/>
          <p:nvPr/>
        </p:nvSpPr>
        <p:spPr>
          <a:xfrm>
            <a:off x="1170431" y="1545336"/>
            <a:ext cx="10216591" cy="237744"/>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Bill To / Ship To are mis-split at parse time</a:t>
            </a:r>
          </a:p>
        </p:txBody>
      </p:sp>
      <p:sp>
        <p:nvSpPr>
          <p:cNvPr id="11" name="TextBox 10"/>
          <p:cNvSpPr txBox="1"/>
          <p:nvPr/>
        </p:nvSpPr>
        <p:spPr>
          <a:xfrm>
            <a:off x="1170431" y="1837943"/>
            <a:ext cx="10216591" cy="420624"/>
          </a:xfrm>
          <a:prstGeom prst="rect">
            <a:avLst/>
          </a:prstGeom>
          <a:noFill/>
        </p:spPr>
        <p:txBody>
          <a:bodyPr wrap="square" lIns="0" rIns="0" tIns="0" bIns="0" anchor="t">
            <a:spAutoFit/>
          </a:bodyPr>
          <a:lstStyle/>
          <a:p>
            <a:pPr algn="l">
              <a:lnSpc>
                <a:spcPct val="125000"/>
              </a:lnSpc>
            </a:pPr>
            <a:r>
              <a:rPr sz="900" b="0" i="0">
                <a:solidFill>
                  <a:srgbClr val="333F4F"/>
                </a:solidFill>
                <a:latin typeface="Segoe UI"/>
              </a:rPr>
              <a:t>ai_parse_document emitted the address table with the wrong cell boundary (confidence 0.8974, the page's lowest), so "Harrisburg, PA 17110" landed in Ship To while Bill To lost its city, state and ZIP. ai_extract then faithfully reproduced the bad split.</a:t>
            </a:r>
          </a:p>
        </p:txBody>
      </p:sp>
      <p:sp>
        <p:nvSpPr>
          <p:cNvPr id="12" name="TextBox 11"/>
          <p:cNvSpPr txBox="1"/>
          <p:nvPr/>
        </p:nvSpPr>
        <p:spPr>
          <a:xfrm>
            <a:off x="1170431" y="2295144"/>
            <a:ext cx="10216591" cy="365760"/>
          </a:xfrm>
          <a:prstGeom prst="rect">
            <a:avLst/>
          </a:prstGeom>
          <a:noFill/>
        </p:spPr>
        <p:txBody>
          <a:bodyPr wrap="square" lIns="0" rIns="0" tIns="0" bIns="0" anchor="t">
            <a:spAutoFit/>
          </a:bodyPr>
          <a:lstStyle/>
          <a:p>
            <a:pPr algn="l">
              <a:lnSpc>
                <a:spcPct val="125000"/>
              </a:lnSpc>
            </a:pPr>
            <a:r>
              <a:rPr sz="900" b="0" i="1">
                <a:solidFill>
                  <a:srgbClr val="748293"/>
                </a:solidFill>
                <a:latin typeface="Segoe UI"/>
              </a:rPr>
              <a:t>Recommendation:  Consider validating that ship_to_address parses as a full address, or treat a Ship To that is shorter than its Bill To as suspect. Re-running with descriptionElementTypes enabled may also improve table segmentation.</a:t>
            </a:r>
          </a:p>
        </p:txBody>
      </p:sp>
      <p:sp>
        <p:nvSpPr>
          <p:cNvPr id="13" name="Rectangle 12"/>
          <p:cNvSpPr/>
          <p:nvPr/>
        </p:nvSpPr>
        <p:spPr>
          <a:xfrm>
            <a:off x="530352" y="2816352"/>
            <a:ext cx="11130991" cy="1335024"/>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 y="2816352"/>
            <a:ext cx="45720" cy="1335024"/>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9808" y="2999232"/>
            <a:ext cx="292608" cy="292608"/>
          </a:xfrm>
          <a:prstGeom prst="roundRect">
            <a:avLst>
              <a:gd name="adj" fmla="val 16000"/>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FFFFFF"/>
                </a:solidFill>
                <a:latin typeface="Segoe UI"/>
              </a:rPr>
              <a:t>2</a:t>
            </a:r>
          </a:p>
        </p:txBody>
      </p:sp>
      <p:sp>
        <p:nvSpPr>
          <p:cNvPr id="16" name="TextBox 15"/>
          <p:cNvSpPr txBox="1"/>
          <p:nvPr/>
        </p:nvSpPr>
        <p:spPr>
          <a:xfrm>
            <a:off x="1170431" y="2980944"/>
            <a:ext cx="10216591" cy="237744"/>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The referenced purchase order is not in the lakehouse</a:t>
            </a:r>
          </a:p>
        </p:txBody>
      </p:sp>
      <p:sp>
        <p:nvSpPr>
          <p:cNvPr id="17" name="TextBox 16"/>
          <p:cNvSpPr txBox="1"/>
          <p:nvPr/>
        </p:nvSpPr>
        <p:spPr>
          <a:xfrm>
            <a:off x="1170431" y="3273552"/>
            <a:ext cx="10216591" cy="420624"/>
          </a:xfrm>
          <a:prstGeom prst="rect">
            <a:avLst/>
          </a:prstGeom>
          <a:noFill/>
        </p:spPr>
        <p:txBody>
          <a:bodyPr wrap="square" lIns="0" rIns="0" tIns="0" bIns="0" anchor="t">
            <a:spAutoFit/>
          </a:bodyPr>
          <a:lstStyle/>
          <a:p>
            <a:pPr algn="l">
              <a:lnSpc>
                <a:spcPct val="125000"/>
              </a:lnSpc>
            </a:pPr>
            <a:r>
              <a:rPr sz="900" b="0" i="0">
                <a:solidFill>
                  <a:srgbClr val="333F4F"/>
                </a:solidFill>
                <a:latin typeface="Segoe UI"/>
              </a:rPr>
              <a:t>Reconciliation returns PO_NOT_FOUND: the invoice cites PO-13352 but gold_purchase_orders holds no such number, so no three-way match is possible for this invoice.</a:t>
            </a:r>
          </a:p>
        </p:txBody>
      </p:sp>
      <p:sp>
        <p:nvSpPr>
          <p:cNvPr id="18" name="TextBox 17"/>
          <p:cNvSpPr txBox="1"/>
          <p:nvPr/>
        </p:nvSpPr>
        <p:spPr>
          <a:xfrm>
            <a:off x="1170431" y="3730752"/>
            <a:ext cx="10216591" cy="365760"/>
          </a:xfrm>
          <a:prstGeom prst="rect">
            <a:avLst/>
          </a:prstGeom>
          <a:noFill/>
        </p:spPr>
        <p:txBody>
          <a:bodyPr wrap="square" lIns="0" rIns="0" tIns="0" bIns="0" anchor="t">
            <a:spAutoFit/>
          </a:bodyPr>
          <a:lstStyle/>
          <a:p>
            <a:pPr algn="l">
              <a:lnSpc>
                <a:spcPct val="125000"/>
              </a:lnSpc>
            </a:pPr>
            <a:r>
              <a:rPr sz="900" b="0" i="1">
                <a:solidFill>
                  <a:srgbClr val="748293"/>
                </a:solidFill>
                <a:latin typeface="Segoe UI"/>
              </a:rPr>
              <a:t>Recommendation:  This is a coverage gap in the source data, not a code defect. If PO matching matters, track the PO_NOT_FOUND rate as a pipeline health metric rather than inspecting invoices one at a time.</a:t>
            </a:r>
          </a:p>
        </p:txBody>
      </p:sp>
      <p:sp>
        <p:nvSpPr>
          <p:cNvPr id="19" name="Rectangle 18"/>
          <p:cNvSpPr/>
          <p:nvPr/>
        </p:nvSpPr>
        <p:spPr>
          <a:xfrm>
            <a:off x="530352" y="4251960"/>
            <a:ext cx="11130991" cy="1335024"/>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0352" y="4251960"/>
            <a:ext cx="45720" cy="1335024"/>
          </a:xfrm>
          <a:prstGeom prst="rect">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9808" y="4434840"/>
            <a:ext cx="292608" cy="292608"/>
          </a:xfrm>
          <a:prstGeom prst="roundRect">
            <a:avLst>
              <a:gd name="adj" fmla="val 16000"/>
            </a:avLst>
          </a:prstGeom>
          <a:solidFill>
            <a:srgbClr val="C67C0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rgbClr val="FFFFFF"/>
                </a:solidFill>
                <a:latin typeface="Segoe UI"/>
              </a:rPr>
              <a:t>3</a:t>
            </a:r>
          </a:p>
        </p:txBody>
      </p:sp>
      <p:sp>
        <p:nvSpPr>
          <p:cNvPr id="22" name="TextBox 21"/>
          <p:cNvSpPr txBox="1"/>
          <p:nvPr/>
        </p:nvSpPr>
        <p:spPr>
          <a:xfrm>
            <a:off x="1170431" y="4416552"/>
            <a:ext cx="10216591" cy="237744"/>
          </a:xfrm>
          <a:prstGeom prst="rect">
            <a:avLst/>
          </a:prstGeom>
          <a:noFill/>
        </p:spPr>
        <p:txBody>
          <a:bodyPr wrap="square" lIns="0" rIns="0" tIns="0" bIns="0" anchor="t">
            <a:spAutoFit/>
          </a:bodyPr>
          <a:lstStyle/>
          <a:p>
            <a:pPr algn="l">
              <a:lnSpc>
                <a:spcPct val="100000"/>
              </a:lnSpc>
            </a:pPr>
            <a:r>
              <a:rPr sz="1250" b="1" i="0">
                <a:solidFill>
                  <a:srgbClr val="0E1B2E"/>
                </a:solidFill>
                <a:latin typeface="Segoe UI"/>
              </a:rPr>
              <a:t>The local sample file no longer matches the ingested one</a:t>
            </a:r>
          </a:p>
        </p:txBody>
      </p:sp>
      <p:sp>
        <p:nvSpPr>
          <p:cNvPr id="23" name="TextBox 22"/>
          <p:cNvSpPr txBox="1"/>
          <p:nvPr/>
        </p:nvSpPr>
        <p:spPr>
          <a:xfrm>
            <a:off x="1170431" y="4709160"/>
            <a:ext cx="10216591" cy="420624"/>
          </a:xfrm>
          <a:prstGeom prst="rect">
            <a:avLst/>
          </a:prstGeom>
          <a:noFill/>
        </p:spPr>
        <p:txBody>
          <a:bodyPr wrap="square" lIns="0" rIns="0" tIns="0" bIns="0" anchor="t">
            <a:spAutoFit/>
          </a:bodyPr>
          <a:lstStyle/>
          <a:p>
            <a:pPr algn="l">
              <a:lnSpc>
                <a:spcPct val="125000"/>
              </a:lnSpc>
            </a:pPr>
            <a:r>
              <a:rPr sz="900" b="0" i="0">
                <a:solidFill>
                  <a:srgbClr val="333F4F"/>
                </a:solidFill>
                <a:latin typeface="Segoe UI"/>
              </a:rPr>
              <a:t>sample_data/invoice_10119.pdf is 3,215 bytes with SHA-256 7fae6805…, while the volume copy is 3,141 bytes with SHA-256 82cab592… — the value that became document_id. The invoice content is the same; the file was evidently regenerated after upload.</a:t>
            </a:r>
          </a:p>
        </p:txBody>
      </p:sp>
      <p:sp>
        <p:nvSpPr>
          <p:cNvPr id="24" name="TextBox 23"/>
          <p:cNvSpPr txBox="1"/>
          <p:nvPr/>
        </p:nvSpPr>
        <p:spPr>
          <a:xfrm>
            <a:off x="1170431" y="5166360"/>
            <a:ext cx="10216591" cy="365760"/>
          </a:xfrm>
          <a:prstGeom prst="rect">
            <a:avLst/>
          </a:prstGeom>
          <a:noFill/>
        </p:spPr>
        <p:txBody>
          <a:bodyPr wrap="square" lIns="0" rIns="0" tIns="0" bIns="0" anchor="t">
            <a:spAutoFit/>
          </a:bodyPr>
          <a:lstStyle/>
          <a:p>
            <a:pPr algn="l">
              <a:lnSpc>
                <a:spcPct val="125000"/>
              </a:lnSpc>
            </a:pPr>
            <a:r>
              <a:rPr sz="900" b="0" i="1">
                <a:solidFill>
                  <a:srgbClr val="748293"/>
                </a:solidFill>
                <a:latin typeface="Segoe UI"/>
              </a:rPr>
              <a:t>Recommendation:  Because document_id is a content hash, re-uploading the local copy would create a second row for the same invoice rather than updating the existing one. Re-sync the local sample or drop it from the repo to avoid an accidental duplicate.</a:t>
            </a:r>
          </a:p>
        </p:txBody>
      </p:sp>
      <p:sp>
        <p:nvSpPr>
          <p:cNvPr id="25" name="Rectangle 24"/>
          <p:cNvSpPr/>
          <p:nvPr/>
        </p:nvSpPr>
        <p:spPr>
          <a:xfrm>
            <a:off x="530352" y="5724144"/>
            <a:ext cx="11130991" cy="512064"/>
          </a:xfrm>
          <a:prstGeom prst="rect">
            <a:avLst/>
          </a:prstGeom>
          <a:solidFill>
            <a:srgbClr val="ECF7F1"/>
          </a:solidFill>
          <a:ln w="9525">
            <a:solidFill>
              <a:srgbClr val="BCE2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5870448"/>
            <a:ext cx="10673791" cy="274320"/>
          </a:xfrm>
          <a:prstGeom prst="rect">
            <a:avLst/>
          </a:prstGeom>
          <a:noFill/>
        </p:spPr>
        <p:txBody>
          <a:bodyPr wrap="square" lIns="0" rIns="0" tIns="0" bIns="0" anchor="t">
            <a:spAutoFit/>
          </a:bodyPr>
          <a:lstStyle/>
          <a:p>
            <a:pPr algn="l">
              <a:lnSpc>
                <a:spcPct val="100000"/>
              </a:lnSpc>
            </a:pPr>
            <a:r>
              <a:rPr sz="1050" b="1" i="0">
                <a:solidFill>
                  <a:srgbClr val="1B8253"/>
                </a:solidFill>
                <a:latin typeface="Segoe UI"/>
              </a:rPr>
              <a:t>Overall:  the pipeline handled this document correctly. It classified, validated and reconciled as intended, reaching all 10 tables it should and none of the 2 it should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84048"/>
            <a:ext cx="11130991" cy="201168"/>
          </a:xfrm>
          <a:prstGeom prst="rect">
            <a:avLst/>
          </a:prstGeom>
          <a:noFill/>
        </p:spPr>
        <p:txBody>
          <a:bodyPr wrap="square" lIns="0" rIns="0" tIns="0" bIns="0" anchor="t">
            <a:spAutoFit/>
          </a:bodyPr>
          <a:lstStyle/>
          <a:p>
            <a:pPr algn="l">
              <a:lnSpc>
                <a:spcPct val="100000"/>
              </a:lnSpc>
            </a:pPr>
            <a:r>
              <a:rPr sz="950" b="1" i="0">
                <a:solidFill>
                  <a:srgbClr val="E0522B"/>
                </a:solidFill>
                <a:latin typeface="Segoe UI"/>
              </a:rPr>
              <a:t>APPENDIX  ·  METHOD</a:t>
            </a:r>
          </a:p>
        </p:txBody>
      </p:sp>
      <p:sp>
        <p:nvSpPr>
          <p:cNvPr id="3" name="TextBox 2"/>
          <p:cNvSpPr txBox="1"/>
          <p:nvPr/>
        </p:nvSpPr>
        <p:spPr>
          <a:xfrm>
            <a:off x="530352" y="603504"/>
            <a:ext cx="11130991" cy="384048"/>
          </a:xfrm>
          <a:prstGeom prst="rect">
            <a:avLst/>
          </a:prstGeom>
          <a:noFill/>
        </p:spPr>
        <p:txBody>
          <a:bodyPr wrap="square" lIns="0" rIns="0" tIns="0" bIns="0" anchor="t">
            <a:spAutoFit/>
          </a:bodyPr>
          <a:lstStyle/>
          <a:p>
            <a:pPr algn="l">
              <a:lnSpc>
                <a:spcPct val="100000"/>
              </a:lnSpc>
            </a:pPr>
            <a:r>
              <a:rPr sz="2300" b="1" i="0">
                <a:solidFill>
                  <a:srgbClr val="0E1B2E"/>
                </a:solidFill>
                <a:latin typeface="Segoe UI"/>
              </a:rPr>
              <a:t>How this report was produced</a:t>
            </a:r>
          </a:p>
        </p:txBody>
      </p:sp>
      <p:sp>
        <p:nvSpPr>
          <p:cNvPr id="4" name="Rectangle 3"/>
          <p:cNvSpPr/>
          <p:nvPr/>
        </p:nvSpPr>
        <p:spPr>
          <a:xfrm>
            <a:off x="530352" y="1088136"/>
            <a:ext cx="1051560" cy="32004"/>
          </a:xfrm>
          <a:prstGeom prst="rect">
            <a:avLst/>
          </a:prstGeom>
          <a:solidFill>
            <a:srgbClr val="E05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4143" y="6473952"/>
            <a:ext cx="457200" cy="182880"/>
          </a:xfrm>
          <a:prstGeom prst="rect">
            <a:avLst/>
          </a:prstGeom>
          <a:noFill/>
        </p:spPr>
        <p:txBody>
          <a:bodyPr wrap="square" lIns="0" rIns="0" tIns="0" bIns="0" anchor="t">
            <a:spAutoFit/>
          </a:bodyPr>
          <a:lstStyle/>
          <a:p>
            <a:pPr algn="r">
              <a:lnSpc>
                <a:spcPct val="100000"/>
              </a:lnSpc>
            </a:pPr>
            <a:r>
              <a:rPr sz="900" b="0" i="0">
                <a:solidFill>
                  <a:srgbClr val="748293"/>
                </a:solidFill>
                <a:latin typeface="Segoe UI"/>
              </a:rPr>
              <a:t>15</a:t>
            </a:r>
          </a:p>
        </p:txBody>
      </p:sp>
      <p:sp>
        <p:nvSpPr>
          <p:cNvPr id="6" name="TextBox 5"/>
          <p:cNvSpPr txBox="1"/>
          <p:nvPr/>
        </p:nvSpPr>
        <p:spPr>
          <a:xfrm>
            <a:off x="530352" y="6473952"/>
            <a:ext cx="6400800" cy="182880"/>
          </a:xfrm>
          <a:prstGeom prst="rect">
            <a:avLst/>
          </a:prstGeom>
          <a:noFill/>
        </p:spPr>
        <p:txBody>
          <a:bodyPr wrap="square" lIns="0" rIns="0" tIns="0" bIns="0" anchor="t">
            <a:spAutoFit/>
          </a:bodyPr>
          <a:lstStyle/>
          <a:p>
            <a:pPr algn="l">
              <a:lnSpc>
                <a:spcPct val="100000"/>
              </a:lnSpc>
            </a:pPr>
            <a:r>
              <a:rPr sz="900" b="0" i="0">
                <a:solidFill>
                  <a:srgbClr val="748293"/>
                </a:solidFill>
                <a:latin typeface="Segoe UI"/>
              </a:rPr>
              <a:t>idp_test_dev.idp_test_project  ·  invoice_10119.pdf</a:t>
            </a:r>
          </a:p>
        </p:txBody>
      </p:sp>
      <p:sp>
        <p:nvSpPr>
          <p:cNvPr id="7" name="TextBox 6"/>
          <p:cNvSpPr txBox="1"/>
          <p:nvPr/>
        </p:nvSpPr>
        <p:spPr>
          <a:xfrm>
            <a:off x="530352" y="1289304"/>
            <a:ext cx="11130991" cy="256032"/>
          </a:xfrm>
          <a:prstGeom prst="rect">
            <a:avLst/>
          </a:prstGeom>
          <a:noFill/>
        </p:spPr>
        <p:txBody>
          <a:bodyPr wrap="square" lIns="0" rIns="0" tIns="0" bIns="0" anchor="t">
            <a:spAutoFit/>
          </a:bodyPr>
          <a:lstStyle/>
          <a:p>
            <a:pPr algn="l">
              <a:lnSpc>
                <a:spcPct val="100000"/>
              </a:lnSpc>
            </a:pPr>
            <a:r>
              <a:rPr sz="1100" b="0" i="0">
                <a:solidFill>
                  <a:srgbClr val="333F4F"/>
                </a:solidFill>
                <a:latin typeface="Segoe UI"/>
              </a:rPr>
              <a:t>Every figure in this deck came from a live query against the workspace; nothing is transcribed by hand.</a:t>
            </a:r>
          </a:p>
        </p:txBody>
      </p:sp>
      <p:sp>
        <p:nvSpPr>
          <p:cNvPr id="8" name="Rectangle 7"/>
          <p:cNvSpPr/>
          <p:nvPr/>
        </p:nvSpPr>
        <p:spPr>
          <a:xfrm>
            <a:off x="530352" y="1673351"/>
            <a:ext cx="6233355" cy="2472537"/>
          </a:xfrm>
          <a:prstGeom prst="rect">
            <a:avLst/>
          </a:prstGeom>
          <a:solidFill>
            <a:srgbClr val="FFFFFF"/>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92224"/>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Workspace</a:t>
            </a:r>
          </a:p>
        </p:txBody>
      </p:sp>
      <p:sp>
        <p:nvSpPr>
          <p:cNvPr id="10" name="TextBox 9"/>
          <p:cNvSpPr txBox="1"/>
          <p:nvPr/>
        </p:nvSpPr>
        <p:spPr>
          <a:xfrm>
            <a:off x="3148361" y="1792224"/>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dbc-6166fe71-87d7.cloud.databricks.com</a:t>
            </a:r>
          </a:p>
        </p:txBody>
      </p:sp>
      <p:sp>
        <p:nvSpPr>
          <p:cNvPr id="11" name="Rectangle 10"/>
          <p:cNvSpPr/>
          <p:nvPr/>
        </p:nvSpPr>
        <p:spPr>
          <a:xfrm>
            <a:off x="621792" y="2037283"/>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83003"/>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Target / catalog</a:t>
            </a:r>
          </a:p>
        </p:txBody>
      </p:sp>
      <p:sp>
        <p:nvSpPr>
          <p:cNvPr id="13" name="TextBox 12"/>
          <p:cNvSpPr txBox="1"/>
          <p:nvPr/>
        </p:nvSpPr>
        <p:spPr>
          <a:xfrm>
            <a:off x="3148361" y="2083003"/>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dev  →  idp_test_dev.idp_test_project</a:t>
            </a:r>
          </a:p>
        </p:txBody>
      </p:sp>
      <p:sp>
        <p:nvSpPr>
          <p:cNvPr id="14" name="Rectangle 13"/>
          <p:cNvSpPr/>
          <p:nvPr/>
        </p:nvSpPr>
        <p:spPr>
          <a:xfrm>
            <a:off x="621792" y="2328062"/>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373782"/>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Compute</a:t>
            </a:r>
          </a:p>
        </p:txBody>
      </p:sp>
      <p:sp>
        <p:nvSpPr>
          <p:cNvPr id="16" name="TextBox 15"/>
          <p:cNvSpPr txBox="1"/>
          <p:nvPr/>
        </p:nvSpPr>
        <p:spPr>
          <a:xfrm>
            <a:off x="3148361" y="2373782"/>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Serverless Starter Warehouse (2X-Small)</a:t>
            </a:r>
          </a:p>
        </p:txBody>
      </p:sp>
      <p:sp>
        <p:nvSpPr>
          <p:cNvPr id="17" name="Rectangle 16"/>
          <p:cNvSpPr/>
          <p:nvPr/>
        </p:nvSpPr>
        <p:spPr>
          <a:xfrm>
            <a:off x="621792" y="2618841"/>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664561"/>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Access path</a:t>
            </a:r>
          </a:p>
        </p:txBody>
      </p:sp>
      <p:sp>
        <p:nvSpPr>
          <p:cNvPr id="19" name="TextBox 18"/>
          <p:cNvSpPr txBox="1"/>
          <p:nvPr/>
        </p:nvSpPr>
        <p:spPr>
          <a:xfrm>
            <a:off x="3148361" y="2664561"/>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SQL Statement Execution API 2.0</a:t>
            </a:r>
          </a:p>
        </p:txBody>
      </p:sp>
      <p:sp>
        <p:nvSpPr>
          <p:cNvPr id="20" name="Rectangle 19"/>
          <p:cNvSpPr/>
          <p:nvPr/>
        </p:nvSpPr>
        <p:spPr>
          <a:xfrm>
            <a:off x="621792" y="2909620"/>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955340"/>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Auth</a:t>
            </a:r>
          </a:p>
        </p:txBody>
      </p:sp>
      <p:sp>
        <p:nvSpPr>
          <p:cNvPr id="22" name="TextBox 21"/>
          <p:cNvSpPr txBox="1"/>
          <p:nvPr/>
        </p:nvSpPr>
        <p:spPr>
          <a:xfrm>
            <a:off x="3148361" y="2955340"/>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OAuth U2M bearer token via Databricks CLI v1.15.0</a:t>
            </a:r>
          </a:p>
        </p:txBody>
      </p:sp>
      <p:sp>
        <p:nvSpPr>
          <p:cNvPr id="23" name="Rectangle 22"/>
          <p:cNvSpPr/>
          <p:nvPr/>
        </p:nvSpPr>
        <p:spPr>
          <a:xfrm>
            <a:off x="621792" y="3200400"/>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246120"/>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Source PDF</a:t>
            </a:r>
          </a:p>
        </p:txBody>
      </p:sp>
      <p:sp>
        <p:nvSpPr>
          <p:cNvPr id="25" name="TextBox 24"/>
          <p:cNvSpPr txBox="1"/>
          <p:nvPr/>
        </p:nvSpPr>
        <p:spPr>
          <a:xfrm>
            <a:off x="3148361" y="3246120"/>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Downloaded from the volume, SHA-256 verified</a:t>
            </a:r>
          </a:p>
        </p:txBody>
      </p:sp>
      <p:sp>
        <p:nvSpPr>
          <p:cNvPr id="26" name="Rectangle 25"/>
          <p:cNvSpPr/>
          <p:nvPr/>
        </p:nvSpPr>
        <p:spPr>
          <a:xfrm>
            <a:off x="621792" y="3491179"/>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536899"/>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Tables queried</a:t>
            </a:r>
          </a:p>
        </p:txBody>
      </p:sp>
      <p:sp>
        <p:nvSpPr>
          <p:cNvPr id="28" name="TextBox 27"/>
          <p:cNvSpPr txBox="1"/>
          <p:nvPr/>
        </p:nvSpPr>
        <p:spPr>
          <a:xfrm>
            <a:off x="3148361" y="3536899"/>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12 (all non-internal tables in the schema)</a:t>
            </a:r>
          </a:p>
        </p:txBody>
      </p:sp>
      <p:sp>
        <p:nvSpPr>
          <p:cNvPr id="29" name="Rectangle 28"/>
          <p:cNvSpPr/>
          <p:nvPr/>
        </p:nvSpPr>
        <p:spPr>
          <a:xfrm>
            <a:off x="621792" y="3781958"/>
            <a:ext cx="6050475" cy="7315"/>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3827678"/>
            <a:ext cx="2435129" cy="235915"/>
          </a:xfrm>
          <a:prstGeom prst="rect">
            <a:avLst/>
          </a:prstGeom>
          <a:noFill/>
        </p:spPr>
        <p:txBody>
          <a:bodyPr wrap="square" lIns="0" rIns="0" tIns="0" bIns="0" anchor="t">
            <a:spAutoFit/>
          </a:bodyPr>
          <a:lstStyle/>
          <a:p>
            <a:pPr algn="l">
              <a:lnSpc>
                <a:spcPct val="100000"/>
              </a:lnSpc>
            </a:pPr>
            <a:r>
              <a:rPr sz="1050" b="0" i="0">
                <a:solidFill>
                  <a:srgbClr val="748293"/>
                </a:solidFill>
                <a:latin typeface="Segoe UI"/>
              </a:rPr>
              <a:t>Filter</a:t>
            </a:r>
          </a:p>
        </p:txBody>
      </p:sp>
      <p:sp>
        <p:nvSpPr>
          <p:cNvPr id="31" name="TextBox 30"/>
          <p:cNvSpPr txBox="1"/>
          <p:nvPr/>
        </p:nvSpPr>
        <p:spPr>
          <a:xfrm>
            <a:off x="3148361" y="3827678"/>
            <a:ext cx="3469041" cy="235915"/>
          </a:xfrm>
          <a:prstGeom prst="rect">
            <a:avLst/>
          </a:prstGeom>
          <a:noFill/>
        </p:spPr>
        <p:txBody>
          <a:bodyPr wrap="square" lIns="0" rIns="0" tIns="0" bIns="0" anchor="t">
            <a:spAutoFit/>
          </a:bodyPr>
          <a:lstStyle/>
          <a:p>
            <a:pPr algn="l">
              <a:lnSpc>
                <a:spcPct val="100000"/>
              </a:lnSpc>
            </a:pPr>
            <a:r>
              <a:rPr sz="1050" b="1" i="0">
                <a:solidFill>
                  <a:srgbClr val="1C2533"/>
                </a:solidFill>
                <a:latin typeface="Segoe UI"/>
              </a:rPr>
              <a:t>document_id = '82cab592043beee3a078eb…'</a:t>
            </a:r>
          </a:p>
        </p:txBody>
      </p:sp>
      <p:sp>
        <p:nvSpPr>
          <p:cNvPr id="32" name="TextBox 31"/>
          <p:cNvSpPr txBox="1"/>
          <p:nvPr/>
        </p:nvSpPr>
        <p:spPr>
          <a:xfrm>
            <a:off x="7129467" y="1673351"/>
            <a:ext cx="4531876"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Representative query</a:t>
            </a:r>
          </a:p>
        </p:txBody>
      </p:sp>
      <p:sp>
        <p:nvSpPr>
          <p:cNvPr id="33" name="Rectangle 32"/>
          <p:cNvSpPr/>
          <p:nvPr/>
        </p:nvSpPr>
        <p:spPr>
          <a:xfrm>
            <a:off x="7129467" y="2002536"/>
            <a:ext cx="4531876" cy="1755648"/>
          </a:xfrm>
          <a:prstGeom prst="rect">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2347" y="2185415"/>
            <a:ext cx="4166116" cy="1417320"/>
          </a:xfrm>
          <a:prstGeom prst="rect">
            <a:avLst/>
          </a:prstGeom>
          <a:noFill/>
        </p:spPr>
        <p:txBody>
          <a:bodyPr wrap="square" lIns="0" rIns="0" tIns="0" bIns="0" anchor="t">
            <a:spAutoFit/>
          </a:bodyPr>
          <a:lstStyle/>
          <a:p>
            <a:pPr algn="l">
              <a:lnSpc>
                <a:spcPct val="140000"/>
              </a:lnSpc>
            </a:pPr>
            <a:r>
              <a:rPr sz="1000" b="0" i="0">
                <a:solidFill>
                  <a:srgbClr val="C9DCF0"/>
                </a:solidFill>
                <a:latin typeface="Consolas"/>
              </a:rPr>
              <a:t>SELECT *</a:t>
            </a:r>
          </a:p>
          <a:p>
            <a:pPr algn="l">
              <a:lnSpc>
                <a:spcPct val="140000"/>
              </a:lnSpc>
            </a:pPr>
            <a:r>
              <a:rPr sz="1000" b="0" i="0">
                <a:solidFill>
                  <a:srgbClr val="C9DCF0"/>
                </a:solidFill>
                <a:latin typeface="Consolas"/>
              </a:rPr>
              <a:t>FROM idp_test_dev.idp_test_project</a:t>
            </a:r>
          </a:p>
          <a:p>
            <a:pPr algn="l">
              <a:lnSpc>
                <a:spcPct val="140000"/>
              </a:lnSpc>
            </a:pPr>
            <a:r>
              <a:rPr sz="1000" b="0" i="0">
                <a:solidFill>
                  <a:srgbClr val="C9DCF0"/>
                </a:solidFill>
                <a:latin typeface="Consolas"/>
              </a:rPr>
              <a:t>     .silver_documents</a:t>
            </a:r>
          </a:p>
          <a:p>
            <a:pPr algn="l">
              <a:lnSpc>
                <a:spcPct val="140000"/>
              </a:lnSpc>
            </a:pPr>
            <a:r>
              <a:rPr sz="1000" b="0" i="0">
                <a:solidFill>
                  <a:srgbClr val="C9DCF0"/>
                </a:solidFill>
                <a:latin typeface="Consolas"/>
              </a:rPr>
              <a:t>WHERE document_id =</a:t>
            </a:r>
          </a:p>
          <a:p>
            <a:pPr algn="l">
              <a:lnSpc>
                <a:spcPct val="140000"/>
              </a:lnSpc>
            </a:pPr>
            <a:r>
              <a:rPr sz="1000" b="0" i="0">
                <a:solidFill>
                  <a:srgbClr val="C9DCF0"/>
                </a:solidFill>
                <a:latin typeface="Consolas"/>
              </a:rPr>
              <a:t>  '82cab592043beee3a078eb35e…';</a:t>
            </a:r>
          </a:p>
        </p:txBody>
      </p:sp>
      <p:sp>
        <p:nvSpPr>
          <p:cNvPr id="35" name="TextBox 34"/>
          <p:cNvSpPr txBox="1"/>
          <p:nvPr/>
        </p:nvSpPr>
        <p:spPr>
          <a:xfrm>
            <a:off x="7129467" y="3959352"/>
            <a:ext cx="4531876"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Excluded from scope</a:t>
            </a:r>
          </a:p>
        </p:txBody>
      </p:sp>
      <p:sp>
        <p:nvSpPr>
          <p:cNvPr id="36" name="TextBox 35"/>
          <p:cNvSpPr txBox="1"/>
          <p:nvPr/>
        </p:nvSpPr>
        <p:spPr>
          <a:xfrm>
            <a:off x="7129467" y="4270248"/>
            <a:ext cx="4531876" cy="822960"/>
          </a:xfrm>
          <a:prstGeom prst="rect">
            <a:avLst/>
          </a:prstGeom>
          <a:noFill/>
        </p:spPr>
        <p:txBody>
          <a:bodyPr wrap="square" lIns="0" rIns="0" tIns="0" bIns="0" anchor="t">
            <a:spAutoFit/>
          </a:bodyPr>
          <a:lstStyle/>
          <a:p>
            <a:pPr algn="l">
              <a:lnSpc>
                <a:spcPct val="134000"/>
              </a:lnSpc>
            </a:pPr>
            <a:r>
              <a:rPr sz="950" b="0" i="0">
                <a:solidFill>
                  <a:srgbClr val="333F4F"/>
                </a:solidFill>
                <a:latin typeface="Segoe UI"/>
              </a:rPr>
              <a:t>12 internal __materialization_mat_* tables and the</a:t>
            </a:r>
          </a:p>
          <a:p>
            <a:pPr algn="l">
              <a:lnSpc>
                <a:spcPct val="134000"/>
              </a:lnSpc>
            </a:pPr>
            <a:r>
              <a:rPr sz="950" b="0" i="0">
                <a:solidFill>
                  <a:srgbClr val="333F4F"/>
                </a:solidFill>
                <a:latin typeface="Segoe UI"/>
              </a:rPr>
              <a:t>pipeline event_log table. These are Lakeflow</a:t>
            </a:r>
          </a:p>
          <a:p>
            <a:pPr algn="l">
              <a:lnSpc>
                <a:spcPct val="134000"/>
              </a:lnSpc>
            </a:pPr>
            <a:r>
              <a:rPr sz="950" b="0" i="0">
                <a:solidFill>
                  <a:srgbClr val="333F4F"/>
                </a:solidFill>
                <a:latin typeface="Segoe UI"/>
              </a:rPr>
              <a:t>implementation details rather than published</a:t>
            </a:r>
          </a:p>
          <a:p>
            <a:pPr algn="l">
              <a:lnSpc>
                <a:spcPct val="134000"/>
              </a:lnSpc>
            </a:pPr>
            <a:r>
              <a:rPr sz="950" b="0" i="0">
                <a:solidFill>
                  <a:srgbClr val="333F4F"/>
                </a:solidFill>
                <a:latin typeface="Segoe UI"/>
              </a:rPr>
              <a:t>outputs of the medallion model.</a:t>
            </a:r>
          </a:p>
        </p:txBody>
      </p:sp>
      <p:sp>
        <p:nvSpPr>
          <p:cNvPr id="37" name="Rectangle 36"/>
          <p:cNvSpPr/>
          <p:nvPr/>
        </p:nvSpPr>
        <p:spPr>
          <a:xfrm>
            <a:off x="530352" y="4800600"/>
            <a:ext cx="6233355" cy="1371600"/>
          </a:xfrm>
          <a:prstGeom prst="rect">
            <a:avLst/>
          </a:prstGeom>
          <a:solidFill>
            <a:srgbClr val="F4F7FA"/>
          </a:solidFill>
          <a:ln w="9525">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4983480"/>
            <a:ext cx="3657600" cy="219456"/>
          </a:xfrm>
          <a:prstGeom prst="rect">
            <a:avLst/>
          </a:prstGeom>
          <a:noFill/>
        </p:spPr>
        <p:txBody>
          <a:bodyPr wrap="square" lIns="0" rIns="0" tIns="0" bIns="0" anchor="t">
            <a:spAutoFit/>
          </a:bodyPr>
          <a:lstStyle/>
          <a:p>
            <a:pPr algn="l">
              <a:lnSpc>
                <a:spcPct val="100000"/>
              </a:lnSpc>
            </a:pPr>
            <a:r>
              <a:rPr sz="1150" b="1" i="0">
                <a:solidFill>
                  <a:srgbClr val="0E1B2E"/>
                </a:solidFill>
                <a:latin typeface="Segoe UI"/>
              </a:rPr>
              <a:t>Reproducing this</a:t>
            </a:r>
          </a:p>
        </p:txBody>
      </p:sp>
      <p:sp>
        <p:nvSpPr>
          <p:cNvPr id="39" name="TextBox 38"/>
          <p:cNvSpPr txBox="1"/>
          <p:nvPr/>
        </p:nvSpPr>
        <p:spPr>
          <a:xfrm>
            <a:off x="768096" y="5312664"/>
            <a:ext cx="5757867" cy="822960"/>
          </a:xfrm>
          <a:prstGeom prst="rect">
            <a:avLst/>
          </a:prstGeom>
          <a:noFill/>
        </p:spPr>
        <p:txBody>
          <a:bodyPr wrap="square" lIns="0" rIns="0" tIns="0" bIns="0" anchor="t">
            <a:spAutoFit/>
          </a:bodyPr>
          <a:lstStyle/>
          <a:p>
            <a:pPr algn="l">
              <a:lnSpc>
                <a:spcPct val="134000"/>
              </a:lnSpc>
            </a:pPr>
            <a:r>
              <a:rPr sz="950" b="0" i="0">
                <a:solidFill>
                  <a:srgbClr val="333F4F"/>
                </a:solidFill>
                <a:latin typeface="Segoe UI"/>
              </a:rPr>
              <a:t>The same numbers can be pulled in VS Code: open the Databricks</a:t>
            </a:r>
          </a:p>
          <a:p>
            <a:pPr algn="l">
              <a:lnSpc>
                <a:spcPct val="134000"/>
              </a:lnSpc>
            </a:pPr>
            <a:r>
              <a:rPr sz="950" b="0" i="0">
                <a:solidFill>
                  <a:srgbClr val="333F4F"/>
                </a:solidFill>
                <a:latin typeface="Segoe UI"/>
              </a:rPr>
              <a:t>extension's Catalog Explorer, attach the Serverless Starter Warehouse,</a:t>
            </a:r>
          </a:p>
          <a:p>
            <a:pPr algn="l">
              <a:lnSpc>
                <a:spcPct val="134000"/>
              </a:lnSpc>
            </a:pPr>
            <a:r>
              <a:rPr sz="950" b="0" i="0">
                <a:solidFill>
                  <a:srgbClr val="333F4F"/>
                </a:solidFill>
                <a:latin typeface="Segoe UI"/>
              </a:rPr>
              <a:t>and run the query above against any of the 12 tables. The document_id</a:t>
            </a:r>
          </a:p>
          <a:p>
            <a:pPr algn="l">
              <a:lnSpc>
                <a:spcPct val="134000"/>
              </a:lnSpc>
            </a:pPr>
            <a:r>
              <a:rPr sz="950" b="0" i="0">
                <a:solidFill>
                  <a:srgbClr val="333F4F"/>
                </a:solidFill>
                <a:latin typeface="Segoe UI"/>
              </a:rPr>
              <a:t>is the single join key that links every stage of the pipeline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